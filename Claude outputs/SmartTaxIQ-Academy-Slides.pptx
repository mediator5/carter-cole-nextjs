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Ten weeks, nine modules, one exam in December. Passing that exam is what puts you in front of a client in January — not attendance, not finishing the modules. Set that expectation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calendar. Flag week 6 as the honest checkpoint — it is the last moment to decide whether someone will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skim this slide. It is the reason for every gate in the programme, and trainees take the rest more seriously once they understand the firm carries their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Chase this on the Wednesday, not the Friday. It is the one item that can quietly block someone from working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cover ninety per cent of what Circular 230 will ever ask of a seasonal preparer. Rule three catches people out — clients do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reporting line out loud and mean it. People hide small breaches out of embarrassment, and small breaches are the recoverable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trainees memorise line numbers. This spine is what makes everything in weeks 3 to 9 land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four real-shaped W-2s and have them explain each Box 1 to Box 3 gap. That exercise does more than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moment trainees see that the job is advisory, not clerical.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date, every single time. Clients answer the question they think you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recite the three tests aloud. All three, not two out of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Certainty is not evidence. The client is not lying — they are answering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whose whole year was unemployment has no EITC. Better that conversation happens at your desk than in an IRS letter eight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R-A-R-J. Ask for them cold at the start of every session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to $8,231 is life-changing money for these clients. It is also why the IRS looks hard at this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nights before you ask about income. Income is the easier number to get, which is exactly why people reach for it first and get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three is judgement, not paperwork. Spend the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standard note format and make them write three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self-employment tax comes back as an adjustment, but the shock is real. Better they hear it from you in February than from a bill in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Role-play this. The client is polite, plausible and persistent, and the answer still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Detroit has a large veteran population. This slide is worth real money to those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Detroit has a large tipped and hourly workforce. Screening for this on every intake is free money for the client and a genuine differentiator for the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trigger to look for is W-2 boxes 18 to 20. But absence of withholding proves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money, every year, missed constantly. Make the question reflexive.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each trainee run the seven questions on a partner before they leave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first-season preparer should not be composing that sentence for the first time with a client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cover the escalation list: IRS notices, identity theft, unfiled prior years, business entities, and anything they are unsure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who need the retake pass it. Say so — the gate should read as a standard, not a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The escalation culture is what keeps a first-season preparer from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84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777240"/>
            <a:ext cx="2377440" cy="310896"/>
          </a:xfrm>
          <a:prstGeom prst="rect">
            <a:avLst/>
          </a:prstGeom>
        </p:spPr>
      </p:pic>
      <p:sp>
        <p:nvSpPr>
          <p:cNvPr id="3" name="Text 0"/>
          <p:cNvSpPr txBox="1"/>
          <p:nvPr/>
        </p:nvSpPr>
        <p:spPr>
          <a:xfrm>
            <a:off x="685800" y="1828800"/>
            <a:ext cx="8412480" cy="91440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Preparer Academy</a:t>
            </a:r>
            <a:endParaRPr lang="en-US" sz="5200" dirty="0"/>
          </a:p>
        </p:txBody>
      </p:sp>
      <p:sp>
        <p:nvSpPr>
          <p:cNvPr id="4" name="Text 1"/>
          <p:cNvSpPr txBox="1"/>
          <p:nvPr/>
        </p:nvSpPr>
        <p:spPr>
          <a:xfrm>
            <a:off x="685800" y="2788920"/>
            <a:ext cx="8412480" cy="457200"/>
          </a:xfrm>
          <a:prstGeom prst="rect">
            <a:avLst/>
          </a:prstGeom>
          <a:noFill/>
          <a:ln/>
        </p:spPr>
        <p:txBody>
          <a:bodyPr wrap="square" lIns="0" tIns="0" rIns="0" bIns="0" rtlCol="0" anchor="ctr"/>
          <a:lstStyle/>
          <a:p>
            <a:pPr indent="0" marL="0">
              <a:buNone/>
            </a:pPr>
            <a:r>
              <a:rPr lang="en-US" sz="2100" dirty="0">
                <a:solidFill>
                  <a:srgbClr val="D8B038"/>
                </a:solidFill>
                <a:latin typeface="Calibri" pitchFamily="34" charset="0"/>
                <a:ea typeface="Calibri" pitchFamily="34" charset="-122"/>
                <a:cs typeface="Calibri" pitchFamily="34" charset="-120"/>
              </a:rPr>
              <a:t>Nine modules · Ten weeks · Tax year 2026</a:t>
            </a:r>
            <a:endParaRPr lang="en-US" sz="2100" dirty="0"/>
          </a:p>
        </p:txBody>
      </p:sp>
      <p:sp>
        <p:nvSpPr>
          <p:cNvPr id="5" name="Text 2"/>
          <p:cNvSpPr txBox="1"/>
          <p:nvPr/>
        </p:nvSpPr>
        <p:spPr>
          <a:xfrm>
            <a:off x="685800" y="3429000"/>
            <a:ext cx="7863840" cy="822960"/>
          </a:xfrm>
          <a:prstGeom prst="rect">
            <a:avLst/>
          </a:prstGeom>
          <a:noFill/>
          <a:ln/>
        </p:spPr>
        <p:txBody>
          <a:bodyPr wrap="square" lIns="0" tIns="0" rIns="0" bIns="0" rtlCol="0" anchor="t"/>
          <a:lstStyle/>
          <a:p>
            <a:pPr indent="0" marL="0">
              <a:lnSpc>
                <a:spcPct val="130000"/>
              </a:lnSpc>
              <a:buNone/>
            </a:pPr>
            <a:r>
              <a:rPr lang="en-US" sz="1450" dirty="0">
                <a:solidFill>
                  <a:srgbClr val="AAB6CE"/>
                </a:solidFill>
                <a:latin typeface="Calibri" pitchFamily="34" charset="0"/>
                <a:ea typeface="Calibri" pitchFamily="34" charset="-122"/>
                <a:cs typeface="Calibri" pitchFamily="34" charset="-120"/>
              </a:rPr>
              <a:t>Seasonal tax preparer training for the 2027 filing season.</a:t>
            </a:r>
            <a:endParaRPr lang="en-US" sz="1450" dirty="0"/>
          </a:p>
          <a:p>
            <a:pPr indent="0" marL="0">
              <a:lnSpc>
                <a:spcPct val="130000"/>
              </a:lnSpc>
              <a:buNone/>
            </a:pPr>
            <a:r>
              <a:rPr lang="en-US" sz="1450" dirty="0">
                <a:solidFill>
                  <a:srgbClr val="AAB6CE"/>
                </a:solidFill>
                <a:latin typeface="Calibri" pitchFamily="34" charset="0"/>
                <a:ea typeface="Calibri" pitchFamily="34" charset="-122"/>
                <a:cs typeface="Calibri" pitchFamily="34" charset="-120"/>
              </a:rPr>
              <a:t>Carter Cole &amp; Associates LLC, DBA Smart Tax IQ · Detroit, Michigan</a:t>
            </a:r>
            <a:endParaRPr lang="en-US" sz="1450" dirty="0"/>
          </a:p>
        </p:txBody>
      </p:sp>
      <p:sp>
        <p:nvSpPr>
          <p:cNvPr id="6" name="Text 3"/>
          <p:cNvSpPr txBox="1"/>
          <p:nvPr/>
        </p:nvSpPr>
        <p:spPr>
          <a:xfrm>
            <a:off x="685800" y="5806440"/>
            <a:ext cx="10820095" cy="274320"/>
          </a:xfrm>
          <a:prstGeom prst="rect">
            <a:avLst/>
          </a:prstGeom>
          <a:noFill/>
          <a:ln/>
        </p:spPr>
        <p:txBody>
          <a:bodyPr wrap="square" lIns="0" tIns="0" rIns="0" bIns="0" rtlCol="0" anchor="ctr"/>
          <a:lstStyle/>
          <a:p>
            <a:pPr indent="0" marL="0">
              <a:buNone/>
            </a:pPr>
            <a:r>
              <a:rPr lang="en-US" sz="1200" b="1" spc="100" kern="0" dirty="0">
                <a:solidFill>
                  <a:srgbClr val="8798B8"/>
                </a:solidFill>
                <a:latin typeface="Calibri" pitchFamily="34" charset="0"/>
                <a:ea typeface="Calibri" pitchFamily="34" charset="-122"/>
                <a:cs typeface="Calibri" pitchFamily="34" charset="-120"/>
              </a:rPr>
              <a:t>Training opens 1 October 2026 · Final exam 14–18 December</a:t>
            </a:r>
            <a:endParaRPr lang="en-US" sz="1200" dirty="0"/>
          </a:p>
        </p:txBody>
      </p:sp>
      <p:pic>
        <p:nvPicPr>
          <p:cNvPr id="7" name="Image 1" descr="preencoded.png">    </p:cNvPr>
          <p:cNvPicPr>
            <a:picLocks noChangeAspect="1"/>
          </p:cNvPicPr>
          <p:nvPr/>
        </p:nvPicPr>
        <p:blipFill>
          <a:blip r:embed="rId2"/>
          <a:stretch>
            <a:fillRect/>
          </a:stretch>
        </p:blipFill>
        <p:spPr>
          <a:xfrm>
            <a:off x="8778240" y="1371600"/>
            <a:ext cx="2724912" cy="3657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ten weeks</a:t>
            </a:r>
            <a:endParaRPr lang="en-US" sz="3000" dirty="0"/>
          </a:p>
        </p:txBody>
      </p:sp>
      <p:sp>
        <p:nvSpPr>
          <p:cNvPr id="3" name="Text 1"/>
          <p:cNvSpPr txBox="1"/>
          <p:nvPr/>
        </p:nvSpPr>
        <p:spPr>
          <a:xfrm>
            <a:off x="685800" y="1188720"/>
            <a:ext cx="12252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Week</a:t>
            </a:r>
            <a:endParaRPr lang="en-US" sz="1150" dirty="0"/>
          </a:p>
        </p:txBody>
      </p:sp>
      <p:sp>
        <p:nvSpPr>
          <p:cNvPr id="4" name="Text 2"/>
          <p:cNvSpPr txBox="1"/>
          <p:nvPr/>
        </p:nvSpPr>
        <p:spPr>
          <a:xfrm>
            <a:off x="2203704" y="1188720"/>
            <a:ext cx="728776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Module</a:t>
            </a:r>
            <a:endParaRPr lang="en-US" sz="1150" dirty="0"/>
          </a:p>
        </p:txBody>
      </p:sp>
      <p:sp>
        <p:nvSpPr>
          <p:cNvPr id="5" name="Text 3"/>
          <p:cNvSpPr txBox="1"/>
          <p:nvPr/>
        </p:nvSpPr>
        <p:spPr>
          <a:xfrm>
            <a:off x="9637776" y="1188720"/>
            <a:ext cx="18653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Gate</a:t>
            </a:r>
            <a:endParaRPr lang="en-US" sz="1150" dirty="0"/>
          </a:p>
        </p:txBody>
      </p:sp>
      <p:sp>
        <p:nvSpPr>
          <p:cNvPr id="6" name="Shape 4"/>
          <p:cNvSpPr/>
          <p:nvPr/>
        </p:nvSpPr>
        <p:spPr>
          <a:xfrm>
            <a:off x="685800" y="1481328"/>
            <a:ext cx="10817352" cy="20117"/>
          </a:xfrm>
          <a:prstGeom prst="rect">
            <a:avLst/>
          </a:prstGeom>
          <a:solidFill>
            <a:srgbClr val="081840"/>
          </a:solidFill>
          <a:ln/>
        </p:spPr>
      </p:sp>
      <p:sp>
        <p:nvSpPr>
          <p:cNvPr id="7" name="Shape 5"/>
          <p:cNvSpPr/>
          <p:nvPr/>
        </p:nvSpPr>
        <p:spPr>
          <a:xfrm>
            <a:off x="685800" y="1554480"/>
            <a:ext cx="10817352" cy="365760"/>
          </a:xfrm>
          <a:prstGeom prst="rect">
            <a:avLst/>
          </a:prstGeom>
          <a:solidFill>
            <a:srgbClr val="F2F5FA"/>
          </a:solidFill>
          <a:ln/>
        </p:spPr>
      </p:sp>
      <p:sp>
        <p:nvSpPr>
          <p:cNvPr id="8" name="Text 6"/>
          <p:cNvSpPr txBox="1"/>
          <p:nvPr/>
        </p:nvSpPr>
        <p:spPr>
          <a:xfrm>
            <a:off x="685800" y="155448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1</a:t>
            </a:r>
            <a:endParaRPr lang="en-US" sz="1350" dirty="0"/>
          </a:p>
        </p:txBody>
      </p:sp>
      <p:sp>
        <p:nvSpPr>
          <p:cNvPr id="9" name="Text 7"/>
          <p:cNvSpPr txBox="1"/>
          <p:nvPr/>
        </p:nvSpPr>
        <p:spPr>
          <a:xfrm>
            <a:off x="2203704" y="155448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M0 Credentials, ethics &amp; data security  ·  M1 begins</a:t>
            </a:r>
            <a:endParaRPr lang="en-US" sz="1350" dirty="0"/>
          </a:p>
        </p:txBody>
      </p:sp>
      <p:sp>
        <p:nvSpPr>
          <p:cNvPr id="10" name="Text 8"/>
          <p:cNvSpPr txBox="1"/>
          <p:nvPr/>
        </p:nvSpPr>
        <p:spPr>
          <a:xfrm>
            <a:off x="9637776" y="155448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PTIN evidenced</a:t>
            </a:r>
            <a:endParaRPr lang="en-US" sz="1350" dirty="0"/>
          </a:p>
        </p:txBody>
      </p:sp>
      <p:sp>
        <p:nvSpPr>
          <p:cNvPr id="11" name="Text 9"/>
          <p:cNvSpPr txBox="1"/>
          <p:nvPr/>
        </p:nvSpPr>
        <p:spPr>
          <a:xfrm>
            <a:off x="685800" y="192024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2</a:t>
            </a:r>
            <a:endParaRPr lang="en-US" sz="1350" dirty="0"/>
          </a:p>
        </p:txBody>
      </p:sp>
      <p:sp>
        <p:nvSpPr>
          <p:cNvPr id="12" name="Text 10"/>
          <p:cNvSpPr txBox="1"/>
          <p:nvPr/>
        </p:nvSpPr>
        <p:spPr>
          <a:xfrm>
            <a:off x="2203704" y="192024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M1 The 1040, end to end</a:t>
            </a:r>
            <a:endParaRPr lang="en-US" sz="1350" dirty="0"/>
          </a:p>
        </p:txBody>
      </p:sp>
      <p:sp>
        <p:nvSpPr>
          <p:cNvPr id="13" name="Text 11"/>
          <p:cNvSpPr txBox="1"/>
          <p:nvPr/>
        </p:nvSpPr>
        <p:spPr>
          <a:xfrm>
            <a:off x="9637776" y="192024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M1 check</a:t>
            </a:r>
            <a:endParaRPr lang="en-US" sz="1350" dirty="0"/>
          </a:p>
        </p:txBody>
      </p:sp>
      <p:sp>
        <p:nvSpPr>
          <p:cNvPr id="14" name="Shape 12"/>
          <p:cNvSpPr/>
          <p:nvPr/>
        </p:nvSpPr>
        <p:spPr>
          <a:xfrm>
            <a:off x="685800" y="2286000"/>
            <a:ext cx="10817352" cy="365760"/>
          </a:xfrm>
          <a:prstGeom prst="rect">
            <a:avLst/>
          </a:prstGeom>
          <a:solidFill>
            <a:srgbClr val="F2F5FA"/>
          </a:solidFill>
          <a:ln/>
        </p:spPr>
      </p:sp>
      <p:sp>
        <p:nvSpPr>
          <p:cNvPr id="15" name="Text 13"/>
          <p:cNvSpPr txBox="1"/>
          <p:nvPr/>
        </p:nvSpPr>
        <p:spPr>
          <a:xfrm>
            <a:off x="685800" y="228600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3</a:t>
            </a:r>
            <a:endParaRPr lang="en-US" sz="1350" dirty="0"/>
          </a:p>
        </p:txBody>
      </p:sp>
      <p:sp>
        <p:nvSpPr>
          <p:cNvPr id="16" name="Text 14"/>
          <p:cNvSpPr txBox="1"/>
          <p:nvPr/>
        </p:nvSpPr>
        <p:spPr>
          <a:xfrm>
            <a:off x="2203704" y="228600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M2 Filing status</a:t>
            </a:r>
            <a:endParaRPr lang="en-US" sz="1350" dirty="0"/>
          </a:p>
        </p:txBody>
      </p:sp>
      <p:sp>
        <p:nvSpPr>
          <p:cNvPr id="17" name="Text 15"/>
          <p:cNvSpPr txBox="1"/>
          <p:nvPr/>
        </p:nvSpPr>
        <p:spPr>
          <a:xfrm>
            <a:off x="9637776" y="228600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M2 check</a:t>
            </a:r>
            <a:endParaRPr lang="en-US" sz="1350" dirty="0"/>
          </a:p>
        </p:txBody>
      </p:sp>
      <p:sp>
        <p:nvSpPr>
          <p:cNvPr id="18" name="Text 16"/>
          <p:cNvSpPr txBox="1"/>
          <p:nvPr/>
        </p:nvSpPr>
        <p:spPr>
          <a:xfrm>
            <a:off x="685800" y="265176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4–5</a:t>
            </a:r>
            <a:endParaRPr lang="en-US" sz="1350" dirty="0"/>
          </a:p>
        </p:txBody>
      </p:sp>
      <p:sp>
        <p:nvSpPr>
          <p:cNvPr id="19" name="Text 17"/>
          <p:cNvSpPr txBox="1"/>
          <p:nvPr/>
        </p:nvSpPr>
        <p:spPr>
          <a:xfrm>
            <a:off x="2203704" y="265176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M3 The Earned Income Tax Credit</a:t>
            </a:r>
            <a:endParaRPr lang="en-US" sz="1350" dirty="0"/>
          </a:p>
        </p:txBody>
      </p:sp>
      <p:sp>
        <p:nvSpPr>
          <p:cNvPr id="20" name="Text 18"/>
          <p:cNvSpPr txBox="1"/>
          <p:nvPr/>
        </p:nvSpPr>
        <p:spPr>
          <a:xfrm>
            <a:off x="9637776" y="265176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M3 check</a:t>
            </a:r>
            <a:endParaRPr lang="en-US" sz="1350" dirty="0"/>
          </a:p>
        </p:txBody>
      </p:sp>
      <p:sp>
        <p:nvSpPr>
          <p:cNvPr id="21" name="Shape 19"/>
          <p:cNvSpPr/>
          <p:nvPr/>
        </p:nvSpPr>
        <p:spPr>
          <a:xfrm>
            <a:off x="685800" y="3017520"/>
            <a:ext cx="10817352" cy="365760"/>
          </a:xfrm>
          <a:prstGeom prst="rect">
            <a:avLst/>
          </a:prstGeom>
          <a:solidFill>
            <a:srgbClr val="F2F5FA"/>
          </a:solidFill>
          <a:ln/>
        </p:spPr>
      </p:sp>
      <p:sp>
        <p:nvSpPr>
          <p:cNvPr id="22" name="Text 20"/>
          <p:cNvSpPr txBox="1"/>
          <p:nvPr/>
        </p:nvSpPr>
        <p:spPr>
          <a:xfrm>
            <a:off x="685800" y="301752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6</a:t>
            </a:r>
            <a:endParaRPr lang="en-US" sz="1350" dirty="0"/>
          </a:p>
        </p:txBody>
      </p:sp>
      <p:sp>
        <p:nvSpPr>
          <p:cNvPr id="23" name="Text 21"/>
          <p:cNvSpPr txBox="1"/>
          <p:nvPr/>
        </p:nvSpPr>
        <p:spPr>
          <a:xfrm>
            <a:off x="2203704" y="301752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M4 Side hustles and Schedule C</a:t>
            </a:r>
            <a:endParaRPr lang="en-US" sz="1350" dirty="0"/>
          </a:p>
        </p:txBody>
      </p:sp>
      <p:sp>
        <p:nvSpPr>
          <p:cNvPr id="24" name="Text 22"/>
          <p:cNvSpPr txBox="1"/>
          <p:nvPr/>
        </p:nvSpPr>
        <p:spPr>
          <a:xfrm>
            <a:off x="9637776" y="301752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Mid-point review</a:t>
            </a:r>
            <a:endParaRPr lang="en-US" sz="1350" dirty="0"/>
          </a:p>
        </p:txBody>
      </p:sp>
      <p:sp>
        <p:nvSpPr>
          <p:cNvPr id="25" name="Text 23"/>
          <p:cNvSpPr txBox="1"/>
          <p:nvPr/>
        </p:nvSpPr>
        <p:spPr>
          <a:xfrm>
            <a:off x="685800" y="338328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7</a:t>
            </a:r>
            <a:endParaRPr lang="en-US" sz="1350" dirty="0"/>
          </a:p>
        </p:txBody>
      </p:sp>
      <p:sp>
        <p:nvSpPr>
          <p:cNvPr id="26" name="Text 24"/>
          <p:cNvSpPr txBox="1"/>
          <p:nvPr/>
        </p:nvSpPr>
        <p:spPr>
          <a:xfrm>
            <a:off x="2203704" y="338328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M5 Special situations &amp; the new deductions</a:t>
            </a:r>
            <a:endParaRPr lang="en-US" sz="1350" dirty="0"/>
          </a:p>
        </p:txBody>
      </p:sp>
      <p:sp>
        <p:nvSpPr>
          <p:cNvPr id="27" name="Text 25"/>
          <p:cNvSpPr txBox="1"/>
          <p:nvPr/>
        </p:nvSpPr>
        <p:spPr>
          <a:xfrm>
            <a:off x="9637776" y="338328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M5 check</a:t>
            </a:r>
            <a:endParaRPr lang="en-US" sz="1350" dirty="0"/>
          </a:p>
        </p:txBody>
      </p:sp>
      <p:sp>
        <p:nvSpPr>
          <p:cNvPr id="28" name="Shape 26"/>
          <p:cNvSpPr/>
          <p:nvPr/>
        </p:nvSpPr>
        <p:spPr>
          <a:xfrm>
            <a:off x="685800" y="3749040"/>
            <a:ext cx="10817352" cy="365760"/>
          </a:xfrm>
          <a:prstGeom prst="rect">
            <a:avLst/>
          </a:prstGeom>
          <a:solidFill>
            <a:srgbClr val="F2F5FA"/>
          </a:solidFill>
          <a:ln/>
        </p:spPr>
      </p:sp>
      <p:sp>
        <p:nvSpPr>
          <p:cNvPr id="29" name="Text 27"/>
          <p:cNvSpPr txBox="1"/>
          <p:nvPr/>
        </p:nvSpPr>
        <p:spPr>
          <a:xfrm>
            <a:off x="685800" y="374904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8</a:t>
            </a:r>
            <a:endParaRPr lang="en-US" sz="1350" dirty="0"/>
          </a:p>
        </p:txBody>
      </p:sp>
      <p:sp>
        <p:nvSpPr>
          <p:cNvPr id="30" name="Text 28"/>
          <p:cNvSpPr txBox="1"/>
          <p:nvPr/>
        </p:nvSpPr>
        <p:spPr>
          <a:xfrm>
            <a:off x="2203704" y="374904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M6 Michigan &amp; Detroit returns</a:t>
            </a:r>
            <a:endParaRPr lang="en-US" sz="1350" dirty="0"/>
          </a:p>
        </p:txBody>
      </p:sp>
      <p:sp>
        <p:nvSpPr>
          <p:cNvPr id="31" name="Text 29"/>
          <p:cNvSpPr txBox="1"/>
          <p:nvPr/>
        </p:nvSpPr>
        <p:spPr>
          <a:xfrm>
            <a:off x="9637776" y="374904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M6 check</a:t>
            </a:r>
            <a:endParaRPr lang="en-US" sz="1350" dirty="0"/>
          </a:p>
        </p:txBody>
      </p:sp>
      <p:sp>
        <p:nvSpPr>
          <p:cNvPr id="32" name="Text 30"/>
          <p:cNvSpPr txBox="1"/>
          <p:nvPr/>
        </p:nvSpPr>
        <p:spPr>
          <a:xfrm>
            <a:off x="685800" y="411480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9</a:t>
            </a:r>
            <a:endParaRPr lang="en-US" sz="1350" dirty="0"/>
          </a:p>
        </p:txBody>
      </p:sp>
      <p:sp>
        <p:nvSpPr>
          <p:cNvPr id="33" name="Text 31"/>
          <p:cNvSpPr txBox="1"/>
          <p:nvPr/>
        </p:nvSpPr>
        <p:spPr>
          <a:xfrm>
            <a:off x="2203704" y="411480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M7 The software and the client</a:t>
            </a:r>
            <a:endParaRPr lang="en-US" sz="1350" dirty="0"/>
          </a:p>
        </p:txBody>
      </p:sp>
      <p:sp>
        <p:nvSpPr>
          <p:cNvPr id="34" name="Text 32"/>
          <p:cNvSpPr txBox="1"/>
          <p:nvPr/>
        </p:nvSpPr>
        <p:spPr>
          <a:xfrm>
            <a:off x="9637776" y="411480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M7 check</a:t>
            </a:r>
            <a:endParaRPr lang="en-US" sz="1350" dirty="0"/>
          </a:p>
        </p:txBody>
      </p:sp>
      <p:sp>
        <p:nvSpPr>
          <p:cNvPr id="35" name="Shape 33"/>
          <p:cNvSpPr/>
          <p:nvPr/>
        </p:nvSpPr>
        <p:spPr>
          <a:xfrm>
            <a:off x="685800" y="4480560"/>
            <a:ext cx="10817352" cy="365760"/>
          </a:xfrm>
          <a:prstGeom prst="rect">
            <a:avLst/>
          </a:prstGeom>
          <a:solidFill>
            <a:srgbClr val="F2F5FA"/>
          </a:solidFill>
          <a:ln/>
        </p:spPr>
      </p:sp>
      <p:sp>
        <p:nvSpPr>
          <p:cNvPr id="36" name="Text 34"/>
          <p:cNvSpPr txBox="1"/>
          <p:nvPr/>
        </p:nvSpPr>
        <p:spPr>
          <a:xfrm>
            <a:off x="685800" y="4480560"/>
            <a:ext cx="1225296" cy="365760"/>
          </a:xfrm>
          <a:prstGeom prst="rect">
            <a:avLst/>
          </a:prstGeom>
          <a:noFill/>
          <a:ln/>
        </p:spPr>
        <p:txBody>
          <a:bodyPr wrap="square" lIns="0" tIns="0" rIns="0" bIns="0" rtlCol="0" anchor="ctr"/>
          <a:lstStyle/>
          <a:p>
            <a:pPr indent="0" marL="0">
              <a:buNone/>
            </a:pPr>
            <a:r>
              <a:rPr lang="en-US" sz="1350" b="1" dirty="0">
                <a:solidFill>
                  <a:srgbClr val="2B3448"/>
                </a:solidFill>
                <a:latin typeface="Calibri" pitchFamily="34" charset="0"/>
                <a:ea typeface="Calibri" pitchFamily="34" charset="-122"/>
                <a:cs typeface="Calibri" pitchFamily="34" charset="-120"/>
              </a:rPr>
              <a:t>10</a:t>
            </a:r>
            <a:endParaRPr lang="en-US" sz="1350" dirty="0"/>
          </a:p>
        </p:txBody>
      </p:sp>
      <p:sp>
        <p:nvSpPr>
          <p:cNvPr id="37" name="Text 35"/>
          <p:cNvSpPr txBox="1"/>
          <p:nvPr/>
        </p:nvSpPr>
        <p:spPr>
          <a:xfrm>
            <a:off x="2203704" y="4480560"/>
            <a:ext cx="7141464"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M8 Practice lab</a:t>
            </a:r>
            <a:endParaRPr lang="en-US" sz="1350" dirty="0"/>
          </a:p>
        </p:txBody>
      </p:sp>
      <p:sp>
        <p:nvSpPr>
          <p:cNvPr id="38" name="Text 36"/>
          <p:cNvSpPr txBox="1"/>
          <p:nvPr/>
        </p:nvSpPr>
        <p:spPr>
          <a:xfrm>
            <a:off x="9637776" y="4480560"/>
            <a:ext cx="1719072" cy="365760"/>
          </a:xfrm>
          <a:prstGeom prst="rect">
            <a:avLst/>
          </a:prstGeom>
          <a:noFill/>
          <a:ln/>
        </p:spPr>
        <p:txBody>
          <a:bodyPr wrap="square" lIns="0" tIns="0" rIns="0" bIns="0" rtlCol="0" anchor="ctr"/>
          <a:lstStyle/>
          <a:p>
            <a:pPr indent="0" marL="0">
              <a:buNone/>
            </a:pPr>
            <a:r>
              <a:rPr lang="en-US" sz="1350" dirty="0">
                <a:solidFill>
                  <a:srgbClr val="2B3448"/>
                </a:solidFill>
                <a:latin typeface="Calibri" pitchFamily="34" charset="0"/>
                <a:ea typeface="Calibri" pitchFamily="34" charset="-122"/>
                <a:cs typeface="Calibri" pitchFamily="34" charset="-120"/>
              </a:rPr>
              <a:t>—</a:t>
            </a:r>
            <a:endParaRPr lang="en-US" sz="1350" dirty="0"/>
          </a:p>
        </p:txBody>
      </p:sp>
      <p:sp>
        <p:nvSpPr>
          <p:cNvPr id="39" name="Text 37"/>
          <p:cNvSpPr txBox="1"/>
          <p:nvPr/>
        </p:nvSpPr>
        <p:spPr>
          <a:xfrm>
            <a:off x="685800" y="4846320"/>
            <a:ext cx="1225296" cy="365760"/>
          </a:xfrm>
          <a:prstGeom prst="rect">
            <a:avLst/>
          </a:prstGeom>
          <a:noFill/>
          <a:ln/>
        </p:spPr>
        <p:txBody>
          <a:bodyPr wrap="square" lIns="0" tIns="0" rIns="0" bIns="0" rtlCol="0" anchor="ctr"/>
          <a:lstStyle/>
          <a:p>
            <a:pPr indent="0" marL="0">
              <a:buNone/>
            </a:pPr>
            <a:r>
              <a:rPr lang="en-US" sz="1350" b="1" dirty="0">
                <a:solidFill>
                  <a:srgbClr val="081840"/>
                </a:solidFill>
                <a:latin typeface="Calibri" pitchFamily="34" charset="0"/>
                <a:ea typeface="Calibri" pitchFamily="34" charset="-122"/>
                <a:cs typeface="Calibri" pitchFamily="34" charset="-120"/>
              </a:rPr>
              <a:t>14–18 Dec</a:t>
            </a:r>
            <a:endParaRPr lang="en-US" sz="1350" dirty="0"/>
          </a:p>
        </p:txBody>
      </p:sp>
      <p:sp>
        <p:nvSpPr>
          <p:cNvPr id="40" name="Text 38"/>
          <p:cNvSpPr txBox="1"/>
          <p:nvPr/>
        </p:nvSpPr>
        <p:spPr>
          <a:xfrm>
            <a:off x="2203704" y="4846320"/>
            <a:ext cx="7141464" cy="365760"/>
          </a:xfrm>
          <a:prstGeom prst="rect">
            <a:avLst/>
          </a:prstGeom>
          <a:noFill/>
          <a:ln/>
        </p:spPr>
        <p:txBody>
          <a:bodyPr wrap="square" lIns="0" tIns="0" rIns="0" bIns="0" rtlCol="0" anchor="ctr"/>
          <a:lstStyle/>
          <a:p>
            <a:pPr indent="0" marL="0">
              <a:buNone/>
            </a:pPr>
            <a:r>
              <a:rPr lang="en-US" sz="1350" b="1" dirty="0">
                <a:solidFill>
                  <a:srgbClr val="081840"/>
                </a:solidFill>
                <a:latin typeface="Calibri" pitchFamily="34" charset="0"/>
                <a:ea typeface="Calibri" pitchFamily="34" charset="-122"/>
                <a:cs typeface="Calibri" pitchFamily="34" charset="-120"/>
              </a:rPr>
              <a:t>Final exam window</a:t>
            </a:r>
            <a:endParaRPr lang="en-US" sz="1350" dirty="0"/>
          </a:p>
        </p:txBody>
      </p:sp>
      <p:sp>
        <p:nvSpPr>
          <p:cNvPr id="41" name="Text 39"/>
          <p:cNvSpPr txBox="1"/>
          <p:nvPr/>
        </p:nvSpPr>
        <p:spPr>
          <a:xfrm>
            <a:off x="9637776" y="4846320"/>
            <a:ext cx="1719072" cy="365760"/>
          </a:xfrm>
          <a:prstGeom prst="rect">
            <a:avLst/>
          </a:prstGeom>
          <a:noFill/>
          <a:ln/>
        </p:spPr>
        <p:txBody>
          <a:bodyPr wrap="square" lIns="0" tIns="0" rIns="0" bIns="0" rtlCol="0" anchor="ctr"/>
          <a:lstStyle/>
          <a:p>
            <a:pPr indent="0" marL="0">
              <a:buNone/>
            </a:pPr>
            <a:r>
              <a:rPr lang="en-US" sz="1350" b="1" dirty="0">
                <a:solidFill>
                  <a:srgbClr val="081840"/>
                </a:solidFill>
                <a:latin typeface="Calibri" pitchFamily="34" charset="0"/>
                <a:ea typeface="Calibri" pitchFamily="34" charset="-122"/>
                <a:cs typeface="Calibri" pitchFamily="34" charset="-120"/>
              </a:rPr>
              <a:t>Pass / no seat</a:t>
            </a:r>
            <a:endParaRPr lang="en-US" sz="1350" dirty="0"/>
          </a:p>
        </p:txBody>
      </p:sp>
      <p:sp>
        <p:nvSpPr>
          <p:cNvPr id="42" name="Shape 40"/>
          <p:cNvSpPr/>
          <p:nvPr/>
        </p:nvSpPr>
        <p:spPr>
          <a:xfrm>
            <a:off x="685800" y="5440680"/>
            <a:ext cx="10820095" cy="1125982"/>
          </a:xfrm>
          <a:prstGeom prst="roundRect">
            <a:avLst>
              <a:gd name="adj" fmla="val 9745"/>
            </a:avLst>
          </a:prstGeom>
          <a:solidFill>
            <a:srgbClr val="FAF2D6"/>
          </a:solidFill>
          <a:ln/>
        </p:spPr>
      </p:sp>
      <p:sp>
        <p:nvSpPr>
          <p:cNvPr id="43" name="Text 41"/>
          <p:cNvSpPr txBox="1"/>
          <p:nvPr/>
        </p:nvSpPr>
        <p:spPr>
          <a:xfrm>
            <a:off x="960120" y="558698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EVERY MODULE PASSES AT 70%</a:t>
            </a:r>
            <a:endParaRPr lang="en-US" sz="1100" dirty="0"/>
          </a:p>
        </p:txBody>
      </p:sp>
      <p:sp>
        <p:nvSpPr>
          <p:cNvPr id="44" name="Text 42"/>
          <p:cNvSpPr txBox="1"/>
          <p:nvPr/>
        </p:nvSpPr>
        <p:spPr>
          <a:xfrm>
            <a:off x="960120" y="584301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Retakes are allowed on the module checks. The final exam is different — filing status and EITC must each score 80%, because that is where the penalties live.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840"/>
        </a:solidFill>
      </p:bgPr>
    </p:bg>
    <p:spTree>
      <p:nvGrpSpPr>
        <p:cNvPr id="1" name=""/>
        <p:cNvGrpSpPr/>
        <p:nvPr/>
      </p:nvGrpSpPr>
      <p:grpSpPr>
        <a:xfrm>
          <a:off x="0" y="0"/>
          <a:ext cx="0" cy="0"/>
          <a:chOff x="0" y="0"/>
          <a:chExt cx="0" cy="0"/>
        </a:xfrm>
      </p:grpSpPr>
      <p:sp>
        <p:nvSpPr>
          <p:cNvPr id="2" name="Text 0"/>
          <p:cNvSpPr txBox="1"/>
          <p:nvPr/>
        </p:nvSpPr>
        <p:spPr>
          <a:xfrm>
            <a:off x="685800" y="731520"/>
            <a:ext cx="7772400" cy="64008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Why the standard is the standard</a:t>
            </a:r>
            <a:endParaRPr lang="en-US" sz="3200" dirty="0"/>
          </a:p>
        </p:txBody>
      </p:sp>
      <p:sp>
        <p:nvSpPr>
          <p:cNvPr id="3" name="Text 1"/>
          <p:cNvSpPr txBox="1"/>
          <p:nvPr/>
        </p:nvSpPr>
        <p:spPr>
          <a:xfrm>
            <a:off x="685800" y="1783080"/>
            <a:ext cx="5120640" cy="1371600"/>
          </a:xfrm>
          <a:prstGeom prst="rect">
            <a:avLst/>
          </a:prstGeom>
          <a:noFill/>
          <a:ln/>
        </p:spPr>
        <p:txBody>
          <a:bodyPr wrap="square" lIns="0" tIns="0" rIns="0" bIns="0" rtlCol="0" anchor="ctr"/>
          <a:lstStyle/>
          <a:p>
            <a:pPr indent="0" marL="0">
              <a:buNone/>
            </a:pPr>
            <a:r>
              <a:rPr lang="en-US" sz="8800" b="1" dirty="0">
                <a:solidFill>
                  <a:srgbClr val="D8B038"/>
                </a:solidFill>
                <a:latin typeface="Arial" pitchFamily="34" charset="0"/>
                <a:ea typeface="Arial" pitchFamily="34" charset="-122"/>
                <a:cs typeface="Arial" pitchFamily="34" charset="-120"/>
              </a:rPr>
              <a:t>$2,600</a:t>
            </a:r>
            <a:endParaRPr lang="en-US" sz="8800" dirty="0"/>
          </a:p>
        </p:txBody>
      </p:sp>
      <p:sp>
        <p:nvSpPr>
          <p:cNvPr id="4" name="Text 2"/>
          <p:cNvSpPr txBox="1"/>
          <p:nvPr/>
        </p:nvSpPr>
        <p:spPr>
          <a:xfrm>
            <a:off x="685800" y="3154680"/>
            <a:ext cx="5120640" cy="1645920"/>
          </a:xfrm>
          <a:prstGeom prst="rect">
            <a:avLst/>
          </a:prstGeom>
          <a:noFill/>
          <a:ln/>
        </p:spPr>
        <p:txBody>
          <a:bodyPr wrap="square" lIns="0" tIns="0" rIns="0" bIns="0" rtlCol="0" anchor="t"/>
          <a:lstStyle/>
          <a:p>
            <a:pPr indent="0" marL="0">
              <a:lnSpc>
                <a:spcPct val="130000"/>
              </a:lnSpc>
              <a:buNone/>
            </a:pPr>
            <a:r>
              <a:rPr lang="en-US" sz="1550" dirty="0">
                <a:solidFill>
                  <a:srgbClr val="C3CEE6"/>
                </a:solidFill>
                <a:latin typeface="Calibri" pitchFamily="34" charset="0"/>
                <a:ea typeface="Calibri" pitchFamily="34" charset="-122"/>
                <a:cs typeface="Calibri" pitchFamily="34" charset="-120"/>
              </a:rPr>
              <a:t>The due-diligence penalty on ONE return that gets EITC, the Child Tax Credit, the American Opportunity Credit and Head of Household wrong. $650 for each failure, on returns filed in 2026.</a:t>
            </a:r>
            <a:endParaRPr lang="en-US" sz="1550" dirty="0"/>
          </a:p>
        </p:txBody>
      </p:sp>
      <p:sp>
        <p:nvSpPr>
          <p:cNvPr id="5" name="Shape 3"/>
          <p:cNvSpPr/>
          <p:nvPr/>
        </p:nvSpPr>
        <p:spPr>
          <a:xfrm>
            <a:off x="6309360" y="1783080"/>
            <a:ext cx="5193792" cy="3291840"/>
          </a:xfrm>
          <a:prstGeom prst="roundRect">
            <a:avLst>
              <a:gd name="adj" fmla="val 3333"/>
            </a:avLst>
          </a:prstGeom>
          <a:solidFill>
            <a:srgbClr val="132763"/>
          </a:solidFill>
          <a:ln/>
        </p:spPr>
      </p:sp>
      <p:sp>
        <p:nvSpPr>
          <p:cNvPr id="6" name="Text 4"/>
          <p:cNvSpPr txBox="1"/>
          <p:nvPr/>
        </p:nvSpPr>
        <p:spPr>
          <a:xfrm>
            <a:off x="6629400" y="2103120"/>
            <a:ext cx="4572000" cy="320040"/>
          </a:xfrm>
          <a:prstGeom prst="rect">
            <a:avLst/>
          </a:prstGeom>
          <a:noFill/>
          <a:ln/>
        </p:spPr>
        <p:txBody>
          <a:bodyPr wrap="square" lIns="0" tIns="0" rIns="0" bIns="0" rtlCol="0" anchor="ctr"/>
          <a:lstStyle/>
          <a:p>
            <a:pPr indent="0" marL="0">
              <a:buNone/>
            </a:pPr>
            <a:r>
              <a:rPr lang="en-US" sz="1800" b="1" dirty="0">
                <a:solidFill>
                  <a:srgbClr val="D8B038"/>
                </a:solidFill>
                <a:latin typeface="Arial" pitchFamily="34" charset="0"/>
                <a:ea typeface="Arial" pitchFamily="34" charset="-122"/>
                <a:cs typeface="Arial" pitchFamily="34" charset="-120"/>
              </a:rPr>
              <a:t>It does not stop with you</a:t>
            </a:r>
            <a:endParaRPr lang="en-US" sz="1800" dirty="0"/>
          </a:p>
        </p:txBody>
      </p:sp>
      <p:sp>
        <p:nvSpPr>
          <p:cNvPr id="7" name="Text 5"/>
          <p:cNvSpPr txBox="1"/>
          <p:nvPr/>
        </p:nvSpPr>
        <p:spPr>
          <a:xfrm>
            <a:off x="6629400" y="2606040"/>
            <a:ext cx="4572000" cy="21031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C3CEE6"/>
                </a:solidFill>
                <a:latin typeface="Calibri" pitchFamily="34" charset="0"/>
                <a:ea typeface="Calibri" pitchFamily="34" charset="-122"/>
                <a:cs typeface="Calibri" pitchFamily="34" charset="-120"/>
              </a:rPr>
              <a:t>The IRS can assess the firm for your failures</a:t>
            </a:r>
            <a:endParaRPr lang="en-US" sz="1500" dirty="0"/>
          </a:p>
          <a:p>
            <a:pPr marL="342900" indent="-342900">
              <a:spcAft>
                <a:spcPts val="1200"/>
              </a:spcAft>
              <a:buSzPct val="100000"/>
              <a:buChar char="•"/>
            </a:pPr>
            <a:r>
              <a:rPr lang="en-US" sz="1500" dirty="0">
                <a:solidFill>
                  <a:srgbClr val="C3CEE6"/>
                </a:solidFill>
                <a:latin typeface="Calibri" pitchFamily="34" charset="0"/>
                <a:ea typeface="Calibri" pitchFamily="34" charset="-122"/>
                <a:cs typeface="Calibri" pitchFamily="34" charset="-120"/>
              </a:rPr>
              <a:t>The firm can be suspended from e-filing altogether</a:t>
            </a:r>
            <a:endParaRPr lang="en-US" sz="1500" dirty="0"/>
          </a:p>
          <a:p>
            <a:pPr marL="342900" indent="-342900">
              <a:spcAft>
                <a:spcPts val="1200"/>
              </a:spcAft>
              <a:buSzPct val="100000"/>
              <a:buChar char="•"/>
            </a:pPr>
            <a:r>
              <a:rPr lang="en-US" sz="1500" dirty="0">
                <a:solidFill>
                  <a:srgbClr val="C3CEE6"/>
                </a:solidFill>
                <a:latin typeface="Calibri" pitchFamily="34" charset="0"/>
                <a:ea typeface="Calibri" pitchFamily="34" charset="-122"/>
                <a:cs typeface="Calibri" pitchFamily="34" charset="-120"/>
              </a:rPr>
              <a:t>One careless preparer can end everyone's season</a:t>
            </a:r>
            <a:endParaRPr lang="en-US" sz="1500" dirty="0"/>
          </a:p>
        </p:txBody>
      </p:sp>
      <p:sp>
        <p:nvSpPr>
          <p:cNvPr id="8" name="Text 6"/>
          <p:cNvSpPr txBox="1"/>
          <p:nvPr/>
        </p:nvSpPr>
        <p:spPr>
          <a:xfrm>
            <a:off x="685800" y="5440680"/>
            <a:ext cx="10820095" cy="457200"/>
          </a:xfrm>
          <a:prstGeom prst="rect">
            <a:avLst/>
          </a:prstGeom>
          <a:noFill/>
          <a:ln/>
        </p:spPr>
        <p:txBody>
          <a:bodyPr wrap="square" lIns="0" tIns="0" rIns="0" bIns="0" rtlCol="0" anchor="ctr"/>
          <a:lstStyle/>
          <a:p>
            <a:pPr indent="0" marL="0">
              <a:buNone/>
            </a:pPr>
            <a:r>
              <a:rPr lang="en-US" sz="1600" i="1" dirty="0">
                <a:solidFill>
                  <a:srgbClr val="D8B038"/>
                </a:solidFill>
                <a:latin typeface="Calibri" pitchFamily="34" charset="0"/>
                <a:ea typeface="Calibri" pitchFamily="34" charset="-122"/>
                <a:cs typeface="Calibri" pitchFamily="34" charset="-120"/>
              </a:rPr>
              <a:t>The December gate is not about doubting you. It is that the stakes are genuinely this high.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0</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0</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Getting Licensed</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Before you learn a single line of a tax return: the right to be paid for this, and what happens when it goes wrong.</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1 · GATE WEEK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GETTING LICENSED</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Your PTIN — do this first</a:t>
            </a:r>
            <a:endParaRPr lang="en-US" sz="3000" dirty="0"/>
          </a:p>
        </p:txBody>
      </p:sp>
      <p:sp>
        <p:nvSpPr>
          <p:cNvPr id="4" name="Text 2"/>
          <p:cNvSpPr txBox="1"/>
          <p:nvPr/>
        </p:nvSpPr>
        <p:spPr>
          <a:xfrm>
            <a:off x="685800" y="1572768"/>
            <a:ext cx="6766560" cy="822960"/>
          </a:xfrm>
          <a:prstGeom prst="rect">
            <a:avLst/>
          </a:prstGeom>
          <a:noFill/>
          <a:ln/>
        </p:spPr>
        <p:txBody>
          <a:bodyPr wrap="square" lIns="0" tIns="0" rIns="0" bIns="0" rtlCol="0" anchor="t"/>
          <a:lstStyle/>
          <a:p>
            <a:pPr indent="0" marL="0">
              <a:lnSpc>
                <a:spcPct val="125000"/>
              </a:lnSpc>
              <a:buNone/>
            </a:pPr>
            <a:r>
              <a:rPr lang="en-US" sz="1600" dirty="0">
                <a:solidFill>
                  <a:srgbClr val="2B3448"/>
                </a:solidFill>
                <a:latin typeface="Calibri" pitchFamily="34" charset="0"/>
                <a:ea typeface="Calibri" pitchFamily="34" charset="-122"/>
                <a:cs typeface="Calibri" pitchFamily="34" charset="-120"/>
              </a:rPr>
              <a:t>A Preparer Tax Identification Number is issued by the IRS to YOU, personally. Anyone who prepares, or helps prepare, a federal return for money must have one.</a:t>
            </a:r>
            <a:endParaRPr lang="en-US" sz="1600" dirty="0"/>
          </a:p>
        </p:txBody>
      </p:sp>
      <p:sp>
        <p:nvSpPr>
          <p:cNvPr id="5" name="Shape 3"/>
          <p:cNvSpPr/>
          <p:nvPr/>
        </p:nvSpPr>
        <p:spPr>
          <a:xfrm>
            <a:off x="685800" y="2825496"/>
            <a:ext cx="402336" cy="402336"/>
          </a:xfrm>
          <a:prstGeom prst="ellipse">
            <a:avLst/>
          </a:prstGeom>
          <a:solidFill>
            <a:srgbClr val="D8B038"/>
          </a:solidFill>
          <a:ln/>
        </p:spPr>
      </p:sp>
      <p:sp>
        <p:nvSpPr>
          <p:cNvPr id="6" name="Text 4"/>
          <p:cNvSpPr txBox="1"/>
          <p:nvPr/>
        </p:nvSpPr>
        <p:spPr>
          <a:xfrm>
            <a:off x="685800" y="282549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89304" y="2788920"/>
            <a:ext cx="616305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$18.75, about 15 minutes online</a:t>
            </a:r>
            <a:endParaRPr lang="en-US" sz="1650" dirty="0"/>
          </a:p>
        </p:txBody>
      </p:sp>
      <p:sp>
        <p:nvSpPr>
          <p:cNvPr id="8" name="Text 6"/>
          <p:cNvSpPr txBox="1"/>
          <p:nvPr/>
        </p:nvSpPr>
        <p:spPr>
          <a:xfrm>
            <a:off x="1289304" y="3090672"/>
            <a:ext cx="616305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IRS Tax Professional portal. Do not use the paper Form W-12 — it takes six weeks.</a:t>
            </a:r>
            <a:endParaRPr lang="en-US" sz="1350" dirty="0"/>
          </a:p>
        </p:txBody>
      </p:sp>
      <p:sp>
        <p:nvSpPr>
          <p:cNvPr id="9" name="Shape 7"/>
          <p:cNvSpPr/>
          <p:nvPr/>
        </p:nvSpPr>
        <p:spPr>
          <a:xfrm>
            <a:off x="685800" y="3694176"/>
            <a:ext cx="402336" cy="402336"/>
          </a:xfrm>
          <a:prstGeom prst="ellipse">
            <a:avLst/>
          </a:prstGeom>
          <a:solidFill>
            <a:srgbClr val="D8B038"/>
          </a:solidFill>
          <a:ln/>
        </p:spPr>
      </p:sp>
      <p:sp>
        <p:nvSpPr>
          <p:cNvPr id="10" name="Text 8"/>
          <p:cNvSpPr txBox="1"/>
          <p:nvPr/>
        </p:nvSpPr>
        <p:spPr>
          <a:xfrm>
            <a:off x="685800" y="369417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289304" y="3657600"/>
            <a:ext cx="616305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You need a 2027 PTIN</a:t>
            </a:r>
            <a:endParaRPr lang="en-US" sz="1650" dirty="0"/>
          </a:p>
        </p:txBody>
      </p:sp>
      <p:sp>
        <p:nvSpPr>
          <p:cNvPr id="12" name="Text 10"/>
          <p:cNvSpPr txBox="1"/>
          <p:nvPr/>
        </p:nvSpPr>
        <p:spPr>
          <a:xfrm>
            <a:off x="1289304" y="3959352"/>
            <a:ext cx="616305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PTINs run by calendar year. You are preparing returns in January 2027.</a:t>
            </a:r>
            <a:endParaRPr lang="en-US" sz="1350" dirty="0"/>
          </a:p>
        </p:txBody>
      </p:sp>
      <p:sp>
        <p:nvSpPr>
          <p:cNvPr id="13" name="Shape 11"/>
          <p:cNvSpPr/>
          <p:nvPr/>
        </p:nvSpPr>
        <p:spPr>
          <a:xfrm>
            <a:off x="685800" y="4562856"/>
            <a:ext cx="402336" cy="402336"/>
          </a:xfrm>
          <a:prstGeom prst="ellipse">
            <a:avLst/>
          </a:prstGeom>
          <a:solidFill>
            <a:srgbClr val="D8B038"/>
          </a:solidFill>
          <a:ln/>
        </p:spPr>
      </p:sp>
      <p:sp>
        <p:nvSpPr>
          <p:cNvPr id="14" name="Text 12"/>
          <p:cNvSpPr txBox="1"/>
          <p:nvPr/>
        </p:nvSpPr>
        <p:spPr>
          <a:xfrm>
            <a:off x="685800" y="456285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289304" y="4526280"/>
            <a:ext cx="616305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Send your confirmation by Friday</a:t>
            </a:r>
            <a:endParaRPr lang="en-US" sz="1650" dirty="0"/>
          </a:p>
        </p:txBody>
      </p:sp>
      <p:sp>
        <p:nvSpPr>
          <p:cNvPr id="16" name="Text 14"/>
          <p:cNvSpPr txBox="1"/>
          <p:nvPr/>
        </p:nvSpPr>
        <p:spPr>
          <a:xfrm>
            <a:off x="1289304" y="4828032"/>
            <a:ext cx="616305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Week 1 assignment. This is a hard gate — no PTIN, no client work.</a:t>
            </a:r>
            <a:endParaRPr lang="en-US" sz="1350" dirty="0"/>
          </a:p>
        </p:txBody>
      </p:sp>
      <p:sp>
        <p:nvSpPr>
          <p:cNvPr id="17" name="Shape 15"/>
          <p:cNvSpPr/>
          <p:nvPr/>
        </p:nvSpPr>
        <p:spPr>
          <a:xfrm>
            <a:off x="7863840" y="1572768"/>
            <a:ext cx="3639312" cy="3840480"/>
          </a:xfrm>
          <a:prstGeom prst="roundRect">
            <a:avLst>
              <a:gd name="adj" fmla="val 3015"/>
            </a:avLst>
          </a:prstGeom>
          <a:solidFill>
            <a:srgbClr val="FAF2D6"/>
          </a:solidFill>
          <a:ln/>
        </p:spPr>
      </p:sp>
      <p:sp>
        <p:nvSpPr>
          <p:cNvPr id="18" name="Text 16"/>
          <p:cNvSpPr txBox="1"/>
          <p:nvPr/>
        </p:nvSpPr>
        <p:spPr>
          <a:xfrm>
            <a:off x="8183880" y="2011680"/>
            <a:ext cx="3017520" cy="914400"/>
          </a:xfrm>
          <a:prstGeom prst="rect">
            <a:avLst/>
          </a:prstGeom>
          <a:noFill/>
          <a:ln/>
        </p:spPr>
        <p:txBody>
          <a:bodyPr wrap="square" lIns="0" tIns="0" rIns="0" bIns="0" rtlCol="0" anchor="t"/>
          <a:lstStyle/>
          <a:p>
            <a:pPr indent="0" marL="0">
              <a:lnSpc>
                <a:spcPct val="110000"/>
              </a:lnSpc>
              <a:buNone/>
            </a:pPr>
            <a:r>
              <a:rPr lang="en-US" sz="2400" b="1" dirty="0">
                <a:solidFill>
                  <a:srgbClr val="081840"/>
                </a:solidFill>
                <a:latin typeface="Arial" pitchFamily="34" charset="0"/>
                <a:ea typeface="Arial" pitchFamily="34" charset="-122"/>
                <a:cs typeface="Arial" pitchFamily="34" charset="-120"/>
              </a:rPr>
              <a:t>Per person,</a:t>
            </a:r>
            <a:endParaRPr lang="en-US" sz="2400" dirty="0"/>
          </a:p>
          <a:p>
            <a:pPr indent="0" marL="0">
              <a:lnSpc>
                <a:spcPct val="110000"/>
              </a:lnSpc>
              <a:buNone/>
            </a:pPr>
            <a:r>
              <a:rPr lang="en-US" sz="2400" b="1" dirty="0">
                <a:solidFill>
                  <a:srgbClr val="081840"/>
                </a:solidFill>
                <a:latin typeface="Arial" pitchFamily="34" charset="0"/>
                <a:ea typeface="Arial" pitchFamily="34" charset="-122"/>
                <a:cs typeface="Arial" pitchFamily="34" charset="-120"/>
              </a:rPr>
              <a:t>not per firm</a:t>
            </a:r>
            <a:endParaRPr lang="en-US" sz="2400" dirty="0"/>
          </a:p>
        </p:txBody>
      </p:sp>
      <p:sp>
        <p:nvSpPr>
          <p:cNvPr id="19" name="Text 17"/>
          <p:cNvSpPr txBox="1"/>
          <p:nvPr/>
        </p:nvSpPr>
        <p:spPr>
          <a:xfrm>
            <a:off x="8183880" y="3200400"/>
            <a:ext cx="3017520" cy="1828800"/>
          </a:xfrm>
          <a:prstGeom prst="rect">
            <a:avLst/>
          </a:prstGeom>
          <a:noFill/>
          <a:ln/>
        </p:spPr>
        <p:txBody>
          <a:bodyPr wrap="square" lIns="0" tIns="0" rIns="0" bIns="0" rtlCol="0" anchor="t"/>
          <a:lstStyle/>
          <a:p>
            <a:pPr indent="0" marL="0">
              <a:lnSpc>
                <a:spcPct val="125000"/>
              </a:lnSpc>
              <a:buNone/>
            </a:pPr>
            <a:r>
              <a:rPr lang="en-US" sz="1400" dirty="0">
                <a:solidFill>
                  <a:srgbClr val="2B3448"/>
                </a:solidFill>
                <a:latin typeface="Calibri" pitchFamily="34" charset="0"/>
                <a:ea typeface="Calibri" pitchFamily="34" charset="-122"/>
                <a:cs typeface="Calibri" pitchFamily="34" charset="-120"/>
              </a:rPr>
              <a:t>All five hires register separately. Your PTIN goes on every return you touch, and it stays with you if you ever work somewhere else.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GETTING LICENSED</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Circular 230 — five rules to live by</a:t>
            </a:r>
            <a:endParaRPr lang="en-US" sz="3000" dirty="0"/>
          </a:p>
        </p:txBody>
      </p:sp>
      <p:sp>
        <p:nvSpPr>
          <p:cNvPr id="4" name="Shape 2"/>
          <p:cNvSpPr/>
          <p:nvPr/>
        </p:nvSpPr>
        <p:spPr>
          <a:xfrm>
            <a:off x="685800" y="1636776"/>
            <a:ext cx="402336" cy="402336"/>
          </a:xfrm>
          <a:prstGeom prst="ellipse">
            <a:avLst/>
          </a:prstGeom>
          <a:solidFill>
            <a:srgbClr val="D8B038"/>
          </a:solidFill>
          <a:ln/>
        </p:spPr>
      </p:sp>
      <p:sp>
        <p:nvSpPr>
          <p:cNvPr id="5" name="Text 3"/>
          <p:cNvSpPr txBox="1"/>
          <p:nvPr/>
        </p:nvSpPr>
        <p:spPr>
          <a:xfrm>
            <a:off x="685800" y="163677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600200"/>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Due diligence is constant</a:t>
            </a:r>
            <a:endParaRPr lang="en-US" sz="1650" dirty="0"/>
          </a:p>
        </p:txBody>
      </p:sp>
      <p:sp>
        <p:nvSpPr>
          <p:cNvPr id="7" name="Text 5"/>
          <p:cNvSpPr txBox="1"/>
          <p:nvPr/>
        </p:nvSpPr>
        <p:spPr>
          <a:xfrm>
            <a:off x="1289304" y="1901952"/>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Not a form you fill in at the end. The questions you ask all the way through.</a:t>
            </a:r>
            <a:endParaRPr lang="en-US" sz="1350" dirty="0"/>
          </a:p>
        </p:txBody>
      </p:sp>
      <p:sp>
        <p:nvSpPr>
          <p:cNvPr id="8" name="Shape 6"/>
          <p:cNvSpPr/>
          <p:nvPr/>
        </p:nvSpPr>
        <p:spPr>
          <a:xfrm>
            <a:off x="685800" y="2496312"/>
            <a:ext cx="402336" cy="402336"/>
          </a:xfrm>
          <a:prstGeom prst="ellipse">
            <a:avLst/>
          </a:prstGeom>
          <a:solidFill>
            <a:srgbClr val="D8B038"/>
          </a:solidFill>
          <a:ln/>
        </p:spPr>
      </p:sp>
      <p:sp>
        <p:nvSpPr>
          <p:cNvPr id="9" name="Text 7"/>
          <p:cNvSpPr txBox="1"/>
          <p:nvPr/>
        </p:nvSpPr>
        <p:spPr>
          <a:xfrm>
            <a:off x="685800" y="249631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289304" y="2459736"/>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You cannot sign a return you know is wrong</a:t>
            </a:r>
            <a:endParaRPr lang="en-US" sz="1650" dirty="0"/>
          </a:p>
        </p:txBody>
      </p:sp>
      <p:sp>
        <p:nvSpPr>
          <p:cNvPr id="11" name="Text 9"/>
          <p:cNvSpPr txBox="1"/>
          <p:nvPr/>
        </p:nvSpPr>
        <p:spPr>
          <a:xfrm>
            <a:off x="1289304" y="2761488"/>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Not "probably fine". Not "the client insisted".</a:t>
            </a:r>
            <a:endParaRPr lang="en-US" sz="1350" dirty="0"/>
          </a:p>
        </p:txBody>
      </p:sp>
      <p:sp>
        <p:nvSpPr>
          <p:cNvPr id="12" name="Shape 10"/>
          <p:cNvSpPr/>
          <p:nvPr/>
        </p:nvSpPr>
        <p:spPr>
          <a:xfrm>
            <a:off x="685800" y="3355848"/>
            <a:ext cx="402336" cy="402336"/>
          </a:xfrm>
          <a:prstGeom prst="ellipse">
            <a:avLst/>
          </a:prstGeom>
          <a:solidFill>
            <a:srgbClr val="D8B038"/>
          </a:solidFill>
          <a:ln/>
        </p:spPr>
      </p:sp>
      <p:sp>
        <p:nvSpPr>
          <p:cNvPr id="13" name="Text 11"/>
          <p:cNvSpPr txBox="1"/>
          <p:nvPr/>
        </p:nvSpPr>
        <p:spPr>
          <a:xfrm>
            <a:off x="685800" y="3355848"/>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289304" y="3319272"/>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Your fee is never a share of the refund</a:t>
            </a:r>
            <a:endParaRPr lang="en-US" sz="1650" dirty="0"/>
          </a:p>
        </p:txBody>
      </p:sp>
      <p:sp>
        <p:nvSpPr>
          <p:cNvPr id="15" name="Text 13"/>
          <p:cNvSpPr txBox="1"/>
          <p:nvPr/>
        </p:nvSpPr>
        <p:spPr>
          <a:xfrm>
            <a:off x="1289304" y="3621024"/>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If a client offers you a cut, the answer is no.</a:t>
            </a:r>
            <a:endParaRPr lang="en-US" sz="1350" dirty="0"/>
          </a:p>
        </p:txBody>
      </p:sp>
      <p:sp>
        <p:nvSpPr>
          <p:cNvPr id="16" name="Shape 14"/>
          <p:cNvSpPr/>
          <p:nvPr/>
        </p:nvSpPr>
        <p:spPr>
          <a:xfrm>
            <a:off x="685800" y="4215384"/>
            <a:ext cx="402336" cy="402336"/>
          </a:xfrm>
          <a:prstGeom prst="ellipse">
            <a:avLst/>
          </a:prstGeom>
          <a:solidFill>
            <a:srgbClr val="D8B038"/>
          </a:solidFill>
          <a:ln/>
        </p:spPr>
      </p:sp>
      <p:sp>
        <p:nvSpPr>
          <p:cNvPr id="17" name="Text 15"/>
          <p:cNvSpPr txBox="1"/>
          <p:nvPr/>
        </p:nvSpPr>
        <p:spPr>
          <a:xfrm>
            <a:off x="685800" y="4215384"/>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4</a:t>
            </a:r>
            <a:endParaRPr lang="en-US" sz="1500" dirty="0"/>
          </a:p>
        </p:txBody>
      </p:sp>
      <p:sp>
        <p:nvSpPr>
          <p:cNvPr id="18" name="Text 16"/>
          <p:cNvSpPr txBox="1"/>
          <p:nvPr/>
        </p:nvSpPr>
        <p:spPr>
          <a:xfrm>
            <a:off x="1289304" y="4178808"/>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Keep your records — three years</a:t>
            </a:r>
            <a:endParaRPr lang="en-US" sz="1650" dirty="0"/>
          </a:p>
        </p:txBody>
      </p:sp>
      <p:sp>
        <p:nvSpPr>
          <p:cNvPr id="19" name="Text 17"/>
          <p:cNvSpPr txBox="1"/>
          <p:nvPr/>
        </p:nvSpPr>
        <p:spPr>
          <a:xfrm>
            <a:off x="1289304" y="4480560"/>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We will show you where and how.</a:t>
            </a:r>
            <a:endParaRPr lang="en-US" sz="1350" dirty="0"/>
          </a:p>
        </p:txBody>
      </p:sp>
      <p:sp>
        <p:nvSpPr>
          <p:cNvPr id="20" name="Shape 18"/>
          <p:cNvSpPr/>
          <p:nvPr/>
        </p:nvSpPr>
        <p:spPr>
          <a:xfrm>
            <a:off x="685800" y="5074920"/>
            <a:ext cx="402336" cy="402336"/>
          </a:xfrm>
          <a:prstGeom prst="ellipse">
            <a:avLst/>
          </a:prstGeom>
          <a:solidFill>
            <a:srgbClr val="D8B038"/>
          </a:solidFill>
          <a:ln/>
        </p:spPr>
      </p:sp>
      <p:sp>
        <p:nvSpPr>
          <p:cNvPr id="21" name="Text 19"/>
          <p:cNvSpPr txBox="1"/>
          <p:nvPr/>
        </p:nvSpPr>
        <p:spPr>
          <a:xfrm>
            <a:off x="685800" y="5074920"/>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5</a:t>
            </a:r>
            <a:endParaRPr lang="en-US" sz="1500" dirty="0"/>
          </a:p>
        </p:txBody>
      </p:sp>
      <p:sp>
        <p:nvSpPr>
          <p:cNvPr id="22" name="Text 20"/>
          <p:cNvSpPr txBox="1"/>
          <p:nvPr/>
        </p:nvSpPr>
        <p:spPr>
          <a:xfrm>
            <a:off x="1289304" y="5038344"/>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Do not overstate what you are</a:t>
            </a:r>
            <a:endParaRPr lang="en-US" sz="1650" dirty="0"/>
          </a:p>
        </p:txBody>
      </p:sp>
      <p:sp>
        <p:nvSpPr>
          <p:cNvPr id="23" name="Text 21"/>
          <p:cNvSpPr txBox="1"/>
          <p:nvPr/>
        </p:nvSpPr>
        <p:spPr>
          <a:xfrm>
            <a:off x="1289304" y="5340096"/>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You are a tax preparer, not an Enrolled Agent or a CPA. You cannot represent someone in an audit.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0 · GETTING LICENSED</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Client information</a:t>
            </a:r>
            <a:endParaRPr lang="en-US" sz="3000" dirty="0"/>
          </a:p>
        </p:txBody>
      </p:sp>
      <p:sp>
        <p:nvSpPr>
          <p:cNvPr id="4" name="Text 2"/>
          <p:cNvSpPr txBox="1"/>
          <p:nvPr/>
        </p:nvSpPr>
        <p:spPr>
          <a:xfrm>
            <a:off x="685800" y="1645920"/>
            <a:ext cx="6858000" cy="274320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Never on personal email, personal cloud storage, or an unlocked phone</a:t>
            </a:r>
            <a:endParaRPr lang="en-US" sz="1550" dirty="0"/>
          </a:p>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Working from home? Only on the device the firm has approved — and lock it when you step away</a:t>
            </a:r>
            <a:endParaRPr lang="en-US" sz="1550" dirty="0"/>
          </a:p>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Never discuss a client's return where anyone can overhear, including family</a:t>
            </a:r>
            <a:endParaRPr lang="en-US" sz="1550" dirty="0"/>
          </a:p>
          <a:p>
            <a:pPr marL="342900" indent="-342900">
              <a:spcAft>
                <a:spcPts val="900"/>
              </a:spcAft>
              <a:buSzPct val="100000"/>
              <a:buChar char="•"/>
            </a:pPr>
            <a:r>
              <a:rPr lang="en-US" sz="1550" dirty="0">
                <a:solidFill>
                  <a:srgbClr val="2B3448"/>
                </a:solidFill>
                <a:latin typeface="Calibri" pitchFamily="34" charset="0"/>
                <a:ea typeface="Calibri" pitchFamily="34" charset="-122"/>
                <a:cs typeface="Calibri" pitchFamily="34" charset="-120"/>
              </a:rPr>
              <a:t>You will read and sign the firm's written security plan before you see a real client file</a:t>
            </a:r>
            <a:endParaRPr lang="en-US" sz="1550" dirty="0"/>
          </a:p>
        </p:txBody>
      </p:sp>
      <p:sp>
        <p:nvSpPr>
          <p:cNvPr id="5" name="Shape 3"/>
          <p:cNvSpPr/>
          <p:nvPr/>
        </p:nvSpPr>
        <p:spPr>
          <a:xfrm>
            <a:off x="685800" y="4480560"/>
            <a:ext cx="6858000" cy="1350645"/>
          </a:xfrm>
          <a:prstGeom prst="roundRect">
            <a:avLst>
              <a:gd name="adj" fmla="val 8124"/>
            </a:avLst>
          </a:prstGeom>
          <a:solidFill>
            <a:srgbClr val="FBEEEA"/>
          </a:solidFill>
          <a:ln/>
        </p:spPr>
      </p:sp>
      <p:sp>
        <p:nvSpPr>
          <p:cNvPr id="6" name="Text 4"/>
          <p:cNvSpPr txBox="1"/>
          <p:nvPr/>
        </p:nvSpPr>
        <p:spPr>
          <a:xfrm>
            <a:off x="960120" y="4626864"/>
            <a:ext cx="6309360"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IF SOMETHING GOES WRONG</a:t>
            </a:r>
            <a:endParaRPr lang="en-US" sz="1100" dirty="0"/>
          </a:p>
        </p:txBody>
      </p:sp>
      <p:sp>
        <p:nvSpPr>
          <p:cNvPr id="7" name="Text 5"/>
          <p:cNvSpPr txBox="1"/>
          <p:nvPr/>
        </p:nvSpPr>
        <p:spPr>
          <a:xfrm>
            <a:off x="960120" y="4882896"/>
            <a:ext cx="6309360" cy="710565"/>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Lost a device, or sent a file to the wrong person? Tell your trainer within the hour. You will not be in trouble for reporting it fast. You will be for hiding it.</a:t>
            </a:r>
            <a:endParaRPr lang="en-US" sz="1450" dirty="0"/>
          </a:p>
        </p:txBody>
      </p:sp>
      <p:pic>
        <p:nvPicPr>
          <p:cNvPr id="8" name="Image 0" descr="preencoded.png">    </p:cNvPr>
          <p:cNvPicPr>
            <a:picLocks noChangeAspect="1"/>
          </p:cNvPicPr>
          <p:nvPr/>
        </p:nvPicPr>
        <p:blipFill>
          <a:blip r:embed="rId1"/>
          <a:stretch>
            <a:fillRect/>
          </a:stretch>
        </p:blipFill>
        <p:spPr>
          <a:xfrm>
            <a:off x="7863840" y="1645920"/>
            <a:ext cx="3639312" cy="4023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1</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1</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1040, End to End</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Every return you will ever prepare is this one form. Learn its shape and everything afterwards has somewhere to sit.</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WEEKS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1 · THE 1040</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A tax return is a story in five movements</a:t>
            </a:r>
            <a:endParaRPr lang="en-US" sz="3000" dirty="0"/>
          </a:p>
        </p:txBody>
      </p:sp>
      <p:sp>
        <p:nvSpPr>
          <p:cNvPr id="4" name="Shape 2"/>
          <p:cNvSpPr/>
          <p:nvPr/>
        </p:nvSpPr>
        <p:spPr>
          <a:xfrm>
            <a:off x="685800"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5" name="Shape 3"/>
          <p:cNvSpPr/>
          <p:nvPr/>
        </p:nvSpPr>
        <p:spPr>
          <a:xfrm>
            <a:off x="941832" y="2057400"/>
            <a:ext cx="384048" cy="384048"/>
          </a:xfrm>
          <a:prstGeom prst="ellipse">
            <a:avLst/>
          </a:prstGeom>
          <a:solidFill>
            <a:srgbClr val="D8B038"/>
          </a:solidFill>
          <a:ln/>
        </p:spPr>
      </p:sp>
      <p:sp>
        <p:nvSpPr>
          <p:cNvPr id="6" name="Text 4"/>
          <p:cNvSpPr txBox="1"/>
          <p:nvPr/>
        </p:nvSpPr>
        <p:spPr>
          <a:xfrm>
            <a:off x="941832"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41832"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Who you are</a:t>
            </a:r>
            <a:endParaRPr lang="en-US" sz="1600" dirty="0"/>
          </a:p>
        </p:txBody>
      </p:sp>
      <p:sp>
        <p:nvSpPr>
          <p:cNvPr id="8" name="Text 6"/>
          <p:cNvSpPr txBox="1"/>
          <p:nvPr/>
        </p:nvSpPr>
        <p:spPr>
          <a:xfrm>
            <a:off x="941832"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Name, SSN, filing status, who else is in the household</a:t>
            </a:r>
            <a:endParaRPr lang="en-US" sz="1300" dirty="0"/>
          </a:p>
        </p:txBody>
      </p:sp>
      <p:sp>
        <p:nvSpPr>
          <p:cNvPr id="9" name="Shape 7"/>
          <p:cNvSpPr/>
          <p:nvPr/>
        </p:nvSpPr>
        <p:spPr>
          <a:xfrm>
            <a:off x="2922971"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10" name="Shape 8"/>
          <p:cNvSpPr/>
          <p:nvPr/>
        </p:nvSpPr>
        <p:spPr>
          <a:xfrm>
            <a:off x="3179003" y="2057400"/>
            <a:ext cx="384048" cy="384048"/>
          </a:xfrm>
          <a:prstGeom prst="ellipse">
            <a:avLst/>
          </a:prstGeom>
          <a:solidFill>
            <a:srgbClr val="D8B038"/>
          </a:solidFill>
          <a:ln/>
        </p:spPr>
      </p:sp>
      <p:sp>
        <p:nvSpPr>
          <p:cNvPr id="11" name="Text 9"/>
          <p:cNvSpPr txBox="1"/>
          <p:nvPr/>
        </p:nvSpPr>
        <p:spPr>
          <a:xfrm>
            <a:off x="3179003"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3179003"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 came in</a:t>
            </a:r>
            <a:endParaRPr lang="en-US" sz="1600" dirty="0"/>
          </a:p>
        </p:txBody>
      </p:sp>
      <p:sp>
        <p:nvSpPr>
          <p:cNvPr id="13" name="Text 11"/>
          <p:cNvSpPr txBox="1"/>
          <p:nvPr/>
        </p:nvSpPr>
        <p:spPr>
          <a:xfrm>
            <a:off x="3179003"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Wages, self-employment, everything else</a:t>
            </a:r>
            <a:endParaRPr lang="en-US" sz="1300" dirty="0"/>
          </a:p>
        </p:txBody>
      </p:sp>
      <p:sp>
        <p:nvSpPr>
          <p:cNvPr id="14" name="Shape 12"/>
          <p:cNvSpPr/>
          <p:nvPr/>
        </p:nvSpPr>
        <p:spPr>
          <a:xfrm>
            <a:off x="5160142"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15" name="Shape 13"/>
          <p:cNvSpPr/>
          <p:nvPr/>
        </p:nvSpPr>
        <p:spPr>
          <a:xfrm>
            <a:off x="5416174" y="2057400"/>
            <a:ext cx="384048" cy="384048"/>
          </a:xfrm>
          <a:prstGeom prst="ellipse">
            <a:avLst/>
          </a:prstGeom>
          <a:solidFill>
            <a:srgbClr val="D8B038"/>
          </a:solidFill>
          <a:ln/>
        </p:spPr>
      </p:sp>
      <p:sp>
        <p:nvSpPr>
          <p:cNvPr id="16" name="Text 14"/>
          <p:cNvSpPr txBox="1"/>
          <p:nvPr/>
        </p:nvSpPr>
        <p:spPr>
          <a:xfrm>
            <a:off x="5416174"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5416174"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 comes off</a:t>
            </a:r>
            <a:endParaRPr lang="en-US" sz="1600" dirty="0"/>
          </a:p>
        </p:txBody>
      </p:sp>
      <p:sp>
        <p:nvSpPr>
          <p:cNvPr id="18" name="Text 16"/>
          <p:cNvSpPr txBox="1"/>
          <p:nvPr/>
        </p:nvSpPr>
        <p:spPr>
          <a:xfrm>
            <a:off x="5416174"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Adjustments, then the standard deduction</a:t>
            </a:r>
            <a:endParaRPr lang="en-US" sz="1300" dirty="0"/>
          </a:p>
        </p:txBody>
      </p:sp>
      <p:sp>
        <p:nvSpPr>
          <p:cNvPr id="19" name="Shape 17"/>
          <p:cNvSpPr/>
          <p:nvPr/>
        </p:nvSpPr>
        <p:spPr>
          <a:xfrm>
            <a:off x="7397313" y="1783080"/>
            <a:ext cx="1871411" cy="2743200"/>
          </a:xfrm>
          <a:prstGeom prst="roundRect">
            <a:avLst>
              <a:gd name="adj" fmla="val 5863"/>
            </a:avLst>
          </a:prstGeom>
          <a:solidFill>
            <a:srgbClr val="F2F5FA"/>
          </a:solidFill>
          <a:ln/>
          <a:effectLst>
            <a:outerShdw sx="100000" sy="100000" kx="0" ky="0" algn="bl" rotWithShape="0" blurRad="177800" dist="50800" dir="5400000">
              <a:srgbClr val="081840">
                <a:alpha val="10000"/>
              </a:srgbClr>
            </a:outerShdw>
          </a:effectLst>
        </p:spPr>
      </p:sp>
      <p:sp>
        <p:nvSpPr>
          <p:cNvPr id="20" name="Shape 18"/>
          <p:cNvSpPr/>
          <p:nvPr/>
        </p:nvSpPr>
        <p:spPr>
          <a:xfrm>
            <a:off x="7653345" y="2057400"/>
            <a:ext cx="384048" cy="384048"/>
          </a:xfrm>
          <a:prstGeom prst="ellipse">
            <a:avLst/>
          </a:prstGeom>
          <a:solidFill>
            <a:srgbClr val="D8B038"/>
          </a:solidFill>
          <a:ln/>
        </p:spPr>
      </p:sp>
      <p:sp>
        <p:nvSpPr>
          <p:cNvPr id="21" name="Text 19"/>
          <p:cNvSpPr txBox="1"/>
          <p:nvPr/>
        </p:nvSpPr>
        <p:spPr>
          <a:xfrm>
            <a:off x="7653345"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653345"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What's owed</a:t>
            </a:r>
            <a:endParaRPr lang="en-US" sz="1600" dirty="0"/>
          </a:p>
        </p:txBody>
      </p:sp>
      <p:sp>
        <p:nvSpPr>
          <p:cNvPr id="23" name="Text 21"/>
          <p:cNvSpPr txBox="1"/>
          <p:nvPr/>
        </p:nvSpPr>
        <p:spPr>
          <a:xfrm>
            <a:off x="7653345"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The tax, then credits that reduce it</a:t>
            </a:r>
            <a:endParaRPr lang="en-US" sz="1300" dirty="0"/>
          </a:p>
        </p:txBody>
      </p:sp>
      <p:sp>
        <p:nvSpPr>
          <p:cNvPr id="24" name="Shape 22"/>
          <p:cNvSpPr/>
          <p:nvPr/>
        </p:nvSpPr>
        <p:spPr>
          <a:xfrm>
            <a:off x="9634484" y="1783080"/>
            <a:ext cx="1871411" cy="2743200"/>
          </a:xfrm>
          <a:prstGeom prst="roundRect">
            <a:avLst>
              <a:gd name="adj" fmla="val 5863"/>
            </a:avLst>
          </a:prstGeom>
          <a:solidFill>
            <a:srgbClr val="FAF2D6"/>
          </a:solidFill>
          <a:ln/>
          <a:effectLst>
            <a:outerShdw sx="100000" sy="100000" kx="0" ky="0" algn="bl" rotWithShape="0" blurRad="177800" dist="50800" dir="5400000">
              <a:srgbClr val="081840">
                <a:alpha val="10000"/>
              </a:srgbClr>
            </a:outerShdw>
          </a:effectLst>
        </p:spPr>
      </p:sp>
      <p:sp>
        <p:nvSpPr>
          <p:cNvPr id="25" name="Shape 23"/>
          <p:cNvSpPr/>
          <p:nvPr/>
        </p:nvSpPr>
        <p:spPr>
          <a:xfrm>
            <a:off x="9890516" y="2057400"/>
            <a:ext cx="384048" cy="384048"/>
          </a:xfrm>
          <a:prstGeom prst="ellipse">
            <a:avLst/>
          </a:prstGeom>
          <a:solidFill>
            <a:srgbClr val="D8B038"/>
          </a:solidFill>
          <a:ln/>
        </p:spPr>
      </p:sp>
      <p:sp>
        <p:nvSpPr>
          <p:cNvPr id="26" name="Text 24"/>
          <p:cNvSpPr txBox="1"/>
          <p:nvPr/>
        </p:nvSpPr>
        <p:spPr>
          <a:xfrm>
            <a:off x="9890516" y="2057400"/>
            <a:ext cx="384048" cy="384048"/>
          </a:xfrm>
          <a:prstGeom prst="rect">
            <a:avLst/>
          </a:prstGeom>
          <a:noFill/>
          <a:ln/>
        </p:spPr>
        <p:txBody>
          <a:bodyPr wrap="square" lIns="0" tIns="0" rIns="0" bIns="0" rtlCol="0" anchor="ctr"/>
          <a:lstStyle/>
          <a:p>
            <a:pPr algn="ctr" indent="0" marL="0">
              <a:buNone/>
            </a:pPr>
            <a:r>
              <a:rPr lang="en-US" sz="1400" b="1" dirty="0">
                <a:solidFill>
                  <a:srgbClr val="081840"/>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9890516" y="2606040"/>
            <a:ext cx="1359347" cy="566928"/>
          </a:xfrm>
          <a:prstGeom prst="rect">
            <a:avLst/>
          </a:prstGeom>
          <a:noFill/>
          <a:ln/>
        </p:spPr>
        <p:txBody>
          <a:bodyPr wrap="square" lIns="0" tIns="0" rIns="0" bIns="0" rtlCol="0" anchor="t"/>
          <a:lstStyle/>
          <a:p>
            <a:pPr indent="0" marL="0">
              <a:buNone/>
            </a:pPr>
            <a:r>
              <a:rPr lang="en-US" sz="1600" b="1" dirty="0">
                <a:solidFill>
                  <a:srgbClr val="081840"/>
                </a:solidFill>
                <a:latin typeface="Arial" pitchFamily="34" charset="0"/>
                <a:ea typeface="Arial" pitchFamily="34" charset="-122"/>
                <a:cs typeface="Arial" pitchFamily="34" charset="-120"/>
              </a:rPr>
              <a:t>What's paid</a:t>
            </a:r>
            <a:endParaRPr lang="en-US" sz="1600" dirty="0"/>
          </a:p>
        </p:txBody>
      </p:sp>
      <p:sp>
        <p:nvSpPr>
          <p:cNvPr id="28" name="Text 26"/>
          <p:cNvSpPr txBox="1"/>
          <p:nvPr/>
        </p:nvSpPr>
        <p:spPr>
          <a:xfrm>
            <a:off x="9890516" y="3255264"/>
            <a:ext cx="1359347" cy="1188720"/>
          </a:xfrm>
          <a:prstGeom prst="rect">
            <a:avLst/>
          </a:prstGeom>
          <a:noFill/>
          <a:ln/>
        </p:spPr>
        <p:txBody>
          <a:bodyPr wrap="square" lIns="0" tIns="0" rIns="0" bIns="0" rtlCol="0" anchor="t"/>
          <a:lstStyle/>
          <a:p>
            <a:pPr indent="0" marL="0">
              <a:lnSpc>
                <a:spcPct val="120000"/>
              </a:lnSpc>
              <a:buNone/>
            </a:pPr>
            <a:r>
              <a:rPr lang="en-US" sz="1300" dirty="0">
                <a:solidFill>
                  <a:srgbClr val="5B6577"/>
                </a:solidFill>
                <a:latin typeface="Calibri" pitchFamily="34" charset="0"/>
                <a:ea typeface="Calibri" pitchFamily="34" charset="-122"/>
                <a:cs typeface="Calibri" pitchFamily="34" charset="-120"/>
              </a:rPr>
              <a:t>Withholding and refundable credits. The difference is the refund</a:t>
            </a:r>
            <a:endParaRPr lang="en-US" sz="1300" dirty="0"/>
          </a:p>
        </p:txBody>
      </p:sp>
      <p:sp>
        <p:nvSpPr>
          <p:cNvPr id="29" name="Shape 27"/>
          <p:cNvSpPr/>
          <p:nvPr/>
        </p:nvSpPr>
        <p:spPr>
          <a:xfrm>
            <a:off x="685800" y="4937760"/>
            <a:ext cx="10820095" cy="1125982"/>
          </a:xfrm>
          <a:prstGeom prst="roundRect">
            <a:avLst>
              <a:gd name="adj" fmla="val 9745"/>
            </a:avLst>
          </a:prstGeom>
          <a:solidFill>
            <a:srgbClr val="FAF2D6"/>
          </a:solidFill>
          <a:ln/>
        </p:spPr>
      </p:sp>
      <p:sp>
        <p:nvSpPr>
          <p:cNvPr id="30" name="Text 28"/>
          <p:cNvSpPr txBox="1"/>
          <p:nvPr/>
        </p:nvSpPr>
        <p:spPr>
          <a:xfrm>
            <a:off x="960120" y="508406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USE THIS EVERY TIME</a:t>
            </a:r>
            <a:endParaRPr lang="en-US" sz="1100" dirty="0"/>
          </a:p>
        </p:txBody>
      </p:sp>
      <p:sp>
        <p:nvSpPr>
          <p:cNvPr id="31" name="Text 29"/>
          <p:cNvSpPr txBox="1"/>
          <p:nvPr/>
        </p:nvSpPr>
        <p:spPr>
          <a:xfrm>
            <a:off x="960120" y="534009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When you meet something new later — a Schedule C, the EITC, a Detroit return — ask which movement it belongs to. It always belongs to one of them.</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1 · THE 1040</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W-2, box by box</a:t>
            </a:r>
            <a:endParaRPr lang="en-US" sz="3000" dirty="0"/>
          </a:p>
        </p:txBody>
      </p:sp>
      <p:sp>
        <p:nvSpPr>
          <p:cNvPr id="4" name="Text 2"/>
          <p:cNvSpPr txBox="1"/>
          <p:nvPr/>
        </p:nvSpPr>
        <p:spPr>
          <a:xfrm>
            <a:off x="685800" y="1600200"/>
            <a:ext cx="10424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Box</a:t>
            </a:r>
            <a:endParaRPr lang="en-US" sz="1150" dirty="0"/>
          </a:p>
        </p:txBody>
      </p:sp>
      <p:sp>
        <p:nvSpPr>
          <p:cNvPr id="5" name="Text 3"/>
          <p:cNvSpPr txBox="1"/>
          <p:nvPr/>
        </p:nvSpPr>
        <p:spPr>
          <a:xfrm>
            <a:off x="2020824" y="1600200"/>
            <a:ext cx="44256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it is</a:t>
            </a:r>
            <a:endParaRPr lang="en-US" sz="1150" dirty="0"/>
          </a:p>
        </p:txBody>
      </p:sp>
      <p:sp>
        <p:nvSpPr>
          <p:cNvPr id="6" name="Text 4"/>
          <p:cNvSpPr txBox="1"/>
          <p:nvPr/>
        </p:nvSpPr>
        <p:spPr>
          <a:xfrm>
            <a:off x="6592824" y="1600200"/>
            <a:ext cx="49103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Why you care</a:t>
            </a:r>
            <a:endParaRPr lang="en-US" sz="1150" dirty="0"/>
          </a:p>
        </p:txBody>
      </p:sp>
      <p:sp>
        <p:nvSpPr>
          <p:cNvPr id="7" name="Shape 5"/>
          <p:cNvSpPr/>
          <p:nvPr/>
        </p:nvSpPr>
        <p:spPr>
          <a:xfrm>
            <a:off x="685800" y="1892808"/>
            <a:ext cx="10817352" cy="20117"/>
          </a:xfrm>
          <a:prstGeom prst="rect">
            <a:avLst/>
          </a:prstGeom>
          <a:solidFill>
            <a:srgbClr val="081840"/>
          </a:solidFill>
          <a:ln/>
        </p:spPr>
      </p:sp>
      <p:sp>
        <p:nvSpPr>
          <p:cNvPr id="8" name="Shape 6"/>
          <p:cNvSpPr/>
          <p:nvPr/>
        </p:nvSpPr>
        <p:spPr>
          <a:xfrm>
            <a:off x="685800" y="1965960"/>
            <a:ext cx="10817352" cy="420624"/>
          </a:xfrm>
          <a:prstGeom prst="rect">
            <a:avLst/>
          </a:prstGeom>
          <a:solidFill>
            <a:srgbClr val="F2F5FA"/>
          </a:solidFill>
          <a:ln/>
        </p:spPr>
      </p:sp>
      <p:sp>
        <p:nvSpPr>
          <p:cNvPr id="9" name="Text 7"/>
          <p:cNvSpPr txBox="1"/>
          <p:nvPr/>
        </p:nvSpPr>
        <p:spPr>
          <a:xfrm>
            <a:off x="685800" y="1965960"/>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2020824" y="1965960"/>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Federal taxable wages</a:t>
            </a:r>
            <a:endParaRPr lang="en-US" sz="1400" dirty="0"/>
          </a:p>
        </p:txBody>
      </p:sp>
      <p:sp>
        <p:nvSpPr>
          <p:cNvPr id="11" name="Text 9"/>
          <p:cNvSpPr txBox="1"/>
          <p:nvPr/>
        </p:nvSpPr>
        <p:spPr>
          <a:xfrm>
            <a:off x="6592824" y="1965960"/>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The income figure on the return</a:t>
            </a:r>
            <a:endParaRPr lang="en-US" sz="1400" dirty="0"/>
          </a:p>
        </p:txBody>
      </p:sp>
      <p:sp>
        <p:nvSpPr>
          <p:cNvPr id="12" name="Text 10"/>
          <p:cNvSpPr txBox="1"/>
          <p:nvPr/>
        </p:nvSpPr>
        <p:spPr>
          <a:xfrm>
            <a:off x="685800" y="2386584"/>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020824" y="2386584"/>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Federal tax withheld</a:t>
            </a:r>
            <a:endParaRPr lang="en-US" sz="1400" dirty="0"/>
          </a:p>
        </p:txBody>
      </p:sp>
      <p:sp>
        <p:nvSpPr>
          <p:cNvPr id="14" name="Text 12"/>
          <p:cNvSpPr txBox="1"/>
          <p:nvPr/>
        </p:nvSpPr>
        <p:spPr>
          <a:xfrm>
            <a:off x="6592824" y="2386584"/>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The main driver of the refund</a:t>
            </a:r>
            <a:endParaRPr lang="en-US" sz="1400" dirty="0"/>
          </a:p>
        </p:txBody>
      </p:sp>
      <p:sp>
        <p:nvSpPr>
          <p:cNvPr id="15" name="Shape 13"/>
          <p:cNvSpPr/>
          <p:nvPr/>
        </p:nvSpPr>
        <p:spPr>
          <a:xfrm>
            <a:off x="685800" y="2807208"/>
            <a:ext cx="10817352" cy="420624"/>
          </a:xfrm>
          <a:prstGeom prst="rect">
            <a:avLst/>
          </a:prstGeom>
          <a:solidFill>
            <a:srgbClr val="F2F5FA"/>
          </a:solidFill>
          <a:ln/>
        </p:spPr>
      </p:sp>
      <p:sp>
        <p:nvSpPr>
          <p:cNvPr id="16" name="Text 14"/>
          <p:cNvSpPr txBox="1"/>
          <p:nvPr/>
        </p:nvSpPr>
        <p:spPr>
          <a:xfrm>
            <a:off x="685800" y="2807208"/>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3 &amp; 5</a:t>
            </a:r>
            <a:endParaRPr lang="en-US" sz="1400" dirty="0"/>
          </a:p>
        </p:txBody>
      </p:sp>
      <p:sp>
        <p:nvSpPr>
          <p:cNvPr id="17" name="Text 15"/>
          <p:cNvSpPr txBox="1"/>
          <p:nvPr/>
        </p:nvSpPr>
        <p:spPr>
          <a:xfrm>
            <a:off x="2020824" y="2807208"/>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Social Security and Medicare wages</a:t>
            </a:r>
            <a:endParaRPr lang="en-US" sz="1400" dirty="0"/>
          </a:p>
        </p:txBody>
      </p:sp>
      <p:sp>
        <p:nvSpPr>
          <p:cNvPr id="18" name="Text 16"/>
          <p:cNvSpPr txBox="1"/>
          <p:nvPr/>
        </p:nvSpPr>
        <p:spPr>
          <a:xfrm>
            <a:off x="6592824" y="2807208"/>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Often higher than Box 1</a:t>
            </a:r>
            <a:endParaRPr lang="en-US" sz="1400" dirty="0"/>
          </a:p>
        </p:txBody>
      </p:sp>
      <p:sp>
        <p:nvSpPr>
          <p:cNvPr id="19" name="Text 17"/>
          <p:cNvSpPr txBox="1"/>
          <p:nvPr/>
        </p:nvSpPr>
        <p:spPr>
          <a:xfrm>
            <a:off x="685800" y="3227832"/>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12</a:t>
            </a:r>
            <a:endParaRPr lang="en-US" sz="1400" dirty="0"/>
          </a:p>
        </p:txBody>
      </p:sp>
      <p:sp>
        <p:nvSpPr>
          <p:cNvPr id="20" name="Text 18"/>
          <p:cNvSpPr txBox="1"/>
          <p:nvPr/>
        </p:nvSpPr>
        <p:spPr>
          <a:xfrm>
            <a:off x="2020824" y="3227832"/>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Coded items</a:t>
            </a:r>
            <a:endParaRPr lang="en-US" sz="1400" dirty="0"/>
          </a:p>
        </p:txBody>
      </p:sp>
      <p:sp>
        <p:nvSpPr>
          <p:cNvPr id="21" name="Text 19"/>
          <p:cNvSpPr txBox="1"/>
          <p:nvPr/>
        </p:nvSpPr>
        <p:spPr>
          <a:xfrm>
            <a:off x="6592824" y="3227832"/>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Retirement, health coverage and more</a:t>
            </a:r>
            <a:endParaRPr lang="en-US" sz="1400" dirty="0"/>
          </a:p>
        </p:txBody>
      </p:sp>
      <p:sp>
        <p:nvSpPr>
          <p:cNvPr id="22" name="Shape 20"/>
          <p:cNvSpPr/>
          <p:nvPr/>
        </p:nvSpPr>
        <p:spPr>
          <a:xfrm>
            <a:off x="685800" y="3648456"/>
            <a:ext cx="10817352" cy="420624"/>
          </a:xfrm>
          <a:prstGeom prst="rect">
            <a:avLst/>
          </a:prstGeom>
          <a:solidFill>
            <a:srgbClr val="F2F5FA"/>
          </a:solidFill>
          <a:ln/>
        </p:spPr>
      </p:sp>
      <p:sp>
        <p:nvSpPr>
          <p:cNvPr id="23" name="Text 21"/>
          <p:cNvSpPr txBox="1"/>
          <p:nvPr/>
        </p:nvSpPr>
        <p:spPr>
          <a:xfrm>
            <a:off x="685800" y="3648456"/>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15–17</a:t>
            </a:r>
            <a:endParaRPr lang="en-US" sz="1400" dirty="0"/>
          </a:p>
        </p:txBody>
      </p:sp>
      <p:sp>
        <p:nvSpPr>
          <p:cNvPr id="24" name="Text 22"/>
          <p:cNvSpPr txBox="1"/>
          <p:nvPr/>
        </p:nvSpPr>
        <p:spPr>
          <a:xfrm>
            <a:off x="2020824" y="3648456"/>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State wages and withholding</a:t>
            </a:r>
            <a:endParaRPr lang="en-US" sz="1400" dirty="0"/>
          </a:p>
        </p:txBody>
      </p:sp>
      <p:sp>
        <p:nvSpPr>
          <p:cNvPr id="25" name="Text 23"/>
          <p:cNvSpPr txBox="1"/>
          <p:nvPr/>
        </p:nvSpPr>
        <p:spPr>
          <a:xfrm>
            <a:off x="6592824" y="3648456"/>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Feeds the Michigan return</a:t>
            </a:r>
            <a:endParaRPr lang="en-US" sz="1400" dirty="0"/>
          </a:p>
        </p:txBody>
      </p:sp>
      <p:sp>
        <p:nvSpPr>
          <p:cNvPr id="26" name="Text 24"/>
          <p:cNvSpPr txBox="1"/>
          <p:nvPr/>
        </p:nvSpPr>
        <p:spPr>
          <a:xfrm>
            <a:off x="685800" y="4069080"/>
            <a:ext cx="1042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18–20</a:t>
            </a:r>
            <a:endParaRPr lang="en-US" sz="1400" dirty="0"/>
          </a:p>
        </p:txBody>
      </p:sp>
      <p:sp>
        <p:nvSpPr>
          <p:cNvPr id="27" name="Text 25"/>
          <p:cNvSpPr txBox="1"/>
          <p:nvPr/>
        </p:nvSpPr>
        <p:spPr>
          <a:xfrm>
            <a:off x="2020824" y="4069080"/>
            <a:ext cx="42793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Local wages and withholding</a:t>
            </a:r>
            <a:endParaRPr lang="en-US" sz="1400" dirty="0"/>
          </a:p>
        </p:txBody>
      </p:sp>
      <p:sp>
        <p:nvSpPr>
          <p:cNvPr id="28" name="Text 26"/>
          <p:cNvSpPr txBox="1"/>
          <p:nvPr/>
        </p:nvSpPr>
        <p:spPr>
          <a:xfrm>
            <a:off x="6592824" y="4069080"/>
            <a:ext cx="476402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DETROIT. Miss this and you miss a whole return</a:t>
            </a:r>
            <a:endParaRPr lang="en-US" sz="1400" dirty="0"/>
          </a:p>
        </p:txBody>
      </p:sp>
      <p:sp>
        <p:nvSpPr>
          <p:cNvPr id="29" name="Shape 27"/>
          <p:cNvSpPr/>
          <p:nvPr/>
        </p:nvSpPr>
        <p:spPr>
          <a:xfrm>
            <a:off x="685800" y="4663440"/>
            <a:ext cx="10820095" cy="1125982"/>
          </a:xfrm>
          <a:prstGeom prst="roundRect">
            <a:avLst>
              <a:gd name="adj" fmla="val 9745"/>
            </a:avLst>
          </a:prstGeom>
          <a:solidFill>
            <a:srgbClr val="FAF2D6"/>
          </a:solidFill>
          <a:ln/>
        </p:spPr>
      </p:sp>
      <p:sp>
        <p:nvSpPr>
          <p:cNvPr id="30" name="Text 28"/>
          <p:cNvSpPr txBox="1"/>
          <p:nvPr/>
        </p:nvSpPr>
        <p:spPr>
          <a:xfrm>
            <a:off x="960120" y="480974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WHY BOX 1 AND BOX 3 DIFFER</a:t>
            </a:r>
            <a:endParaRPr lang="en-US" sz="1100" dirty="0"/>
          </a:p>
        </p:txBody>
      </p:sp>
      <p:sp>
        <p:nvSpPr>
          <p:cNvPr id="31" name="Text 29"/>
          <p:cNvSpPr txBox="1"/>
          <p:nvPr/>
        </p:nvSpPr>
        <p:spPr>
          <a:xfrm>
            <a:off x="960120" y="506577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Money put into a 401(k) comes out of Box 1 but not Box 3 — no income tax now, but Social Security tax still applies. A client asking "why does it say I earned two different amounts?" is asking about this.</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1 · THE 1040</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Who has to file — and who should anyway</a:t>
            </a:r>
            <a:endParaRPr lang="en-US" sz="3000" dirty="0"/>
          </a:p>
        </p:txBody>
      </p:sp>
      <p:sp>
        <p:nvSpPr>
          <p:cNvPr id="4" name="Text 2"/>
          <p:cNvSpPr txBox="1"/>
          <p:nvPr/>
        </p:nvSpPr>
        <p:spPr>
          <a:xfrm>
            <a:off x="685800" y="1645920"/>
            <a:ext cx="37856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Filing status</a:t>
            </a:r>
            <a:endParaRPr lang="en-US" sz="1150" dirty="0"/>
          </a:p>
        </p:txBody>
      </p:sp>
      <p:sp>
        <p:nvSpPr>
          <p:cNvPr id="5" name="Text 3"/>
          <p:cNvSpPr txBox="1"/>
          <p:nvPr/>
        </p:nvSpPr>
        <p:spPr>
          <a:xfrm>
            <a:off x="4764024" y="1645920"/>
            <a:ext cx="23225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Standard deduction · TY2026</a:t>
            </a:r>
            <a:endParaRPr lang="en-US" sz="1150" dirty="0"/>
          </a:p>
        </p:txBody>
      </p:sp>
      <p:sp>
        <p:nvSpPr>
          <p:cNvPr id="6" name="Shape 4"/>
          <p:cNvSpPr/>
          <p:nvPr/>
        </p:nvSpPr>
        <p:spPr>
          <a:xfrm>
            <a:off x="685800" y="1938528"/>
            <a:ext cx="6400800" cy="20117"/>
          </a:xfrm>
          <a:prstGeom prst="rect">
            <a:avLst/>
          </a:prstGeom>
          <a:solidFill>
            <a:srgbClr val="081840"/>
          </a:solidFill>
          <a:ln/>
        </p:spPr>
      </p:sp>
      <p:sp>
        <p:nvSpPr>
          <p:cNvPr id="7" name="Shape 5"/>
          <p:cNvSpPr/>
          <p:nvPr/>
        </p:nvSpPr>
        <p:spPr>
          <a:xfrm>
            <a:off x="685800" y="2011680"/>
            <a:ext cx="6400800" cy="420624"/>
          </a:xfrm>
          <a:prstGeom prst="rect">
            <a:avLst/>
          </a:prstGeom>
          <a:solidFill>
            <a:srgbClr val="F2F5FA"/>
          </a:solidFill>
          <a:ln/>
        </p:spPr>
      </p:sp>
      <p:sp>
        <p:nvSpPr>
          <p:cNvPr id="8" name="Text 6"/>
          <p:cNvSpPr txBox="1"/>
          <p:nvPr/>
        </p:nvSpPr>
        <p:spPr>
          <a:xfrm>
            <a:off x="685800" y="2011680"/>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Single / Married filing separately</a:t>
            </a:r>
            <a:endParaRPr lang="en-US" sz="1450" dirty="0"/>
          </a:p>
        </p:txBody>
      </p:sp>
      <p:sp>
        <p:nvSpPr>
          <p:cNvPr id="9" name="Text 7"/>
          <p:cNvSpPr txBox="1"/>
          <p:nvPr/>
        </p:nvSpPr>
        <p:spPr>
          <a:xfrm>
            <a:off x="4764024" y="2011680"/>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$16,100</a:t>
            </a:r>
            <a:endParaRPr lang="en-US" sz="1450" dirty="0"/>
          </a:p>
        </p:txBody>
      </p:sp>
      <p:sp>
        <p:nvSpPr>
          <p:cNvPr id="10" name="Text 8"/>
          <p:cNvSpPr txBox="1"/>
          <p:nvPr/>
        </p:nvSpPr>
        <p:spPr>
          <a:xfrm>
            <a:off x="685800" y="2432304"/>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Married filing jointly</a:t>
            </a:r>
            <a:endParaRPr lang="en-US" sz="1450" dirty="0"/>
          </a:p>
        </p:txBody>
      </p:sp>
      <p:sp>
        <p:nvSpPr>
          <p:cNvPr id="11" name="Text 9"/>
          <p:cNvSpPr txBox="1"/>
          <p:nvPr/>
        </p:nvSpPr>
        <p:spPr>
          <a:xfrm>
            <a:off x="4764024" y="2432304"/>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$32,200</a:t>
            </a:r>
            <a:endParaRPr lang="en-US" sz="1450" dirty="0"/>
          </a:p>
        </p:txBody>
      </p:sp>
      <p:sp>
        <p:nvSpPr>
          <p:cNvPr id="12" name="Shape 10"/>
          <p:cNvSpPr/>
          <p:nvPr/>
        </p:nvSpPr>
        <p:spPr>
          <a:xfrm>
            <a:off x="685800" y="2852928"/>
            <a:ext cx="6400800" cy="420624"/>
          </a:xfrm>
          <a:prstGeom prst="rect">
            <a:avLst/>
          </a:prstGeom>
          <a:solidFill>
            <a:srgbClr val="F2F5FA"/>
          </a:solidFill>
          <a:ln/>
        </p:spPr>
      </p:sp>
      <p:sp>
        <p:nvSpPr>
          <p:cNvPr id="13" name="Text 11"/>
          <p:cNvSpPr txBox="1"/>
          <p:nvPr/>
        </p:nvSpPr>
        <p:spPr>
          <a:xfrm>
            <a:off x="685800" y="2852928"/>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Head of household</a:t>
            </a:r>
            <a:endParaRPr lang="en-US" sz="1450" dirty="0"/>
          </a:p>
        </p:txBody>
      </p:sp>
      <p:sp>
        <p:nvSpPr>
          <p:cNvPr id="14" name="Text 12"/>
          <p:cNvSpPr txBox="1"/>
          <p:nvPr/>
        </p:nvSpPr>
        <p:spPr>
          <a:xfrm>
            <a:off x="4764024" y="2852928"/>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$24,150</a:t>
            </a:r>
            <a:endParaRPr lang="en-US" sz="1450" dirty="0"/>
          </a:p>
        </p:txBody>
      </p:sp>
      <p:sp>
        <p:nvSpPr>
          <p:cNvPr id="15" name="Text 13"/>
          <p:cNvSpPr txBox="1"/>
          <p:nvPr/>
        </p:nvSpPr>
        <p:spPr>
          <a:xfrm>
            <a:off x="685800" y="3273552"/>
            <a:ext cx="378561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Additional, 65+ or blind (unmarried)</a:t>
            </a:r>
            <a:endParaRPr lang="en-US" sz="1450" dirty="0"/>
          </a:p>
        </p:txBody>
      </p:sp>
      <p:sp>
        <p:nvSpPr>
          <p:cNvPr id="16" name="Text 14"/>
          <p:cNvSpPr txBox="1"/>
          <p:nvPr/>
        </p:nvSpPr>
        <p:spPr>
          <a:xfrm>
            <a:off x="4764024" y="3273552"/>
            <a:ext cx="217627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$2,050</a:t>
            </a:r>
            <a:endParaRPr lang="en-US" sz="1450" dirty="0"/>
          </a:p>
        </p:txBody>
      </p:sp>
      <p:sp>
        <p:nvSpPr>
          <p:cNvPr id="17" name="Shape 15"/>
          <p:cNvSpPr/>
          <p:nvPr/>
        </p:nvSpPr>
        <p:spPr>
          <a:xfrm>
            <a:off x="7406640" y="1645920"/>
            <a:ext cx="4096512" cy="4023360"/>
          </a:xfrm>
          <a:prstGeom prst="roundRect">
            <a:avLst>
              <a:gd name="adj" fmla="val 2727"/>
            </a:avLst>
          </a:prstGeom>
          <a:solidFill>
            <a:srgbClr val="D6F5E7"/>
          </a:solidFill>
          <a:ln/>
        </p:spPr>
      </p:sp>
      <p:sp>
        <p:nvSpPr>
          <p:cNvPr id="18" name="Text 16"/>
          <p:cNvSpPr txBox="1"/>
          <p:nvPr/>
        </p:nvSpPr>
        <p:spPr>
          <a:xfrm>
            <a:off x="7726680" y="1965960"/>
            <a:ext cx="3474720" cy="365760"/>
          </a:xfrm>
          <a:prstGeom prst="rect">
            <a:avLst/>
          </a:prstGeom>
          <a:noFill/>
          <a:ln/>
        </p:spPr>
        <p:txBody>
          <a:bodyPr wrap="square" lIns="0" tIns="0" rIns="0" bIns="0" rtlCol="0" anchor="ctr"/>
          <a:lstStyle/>
          <a:p>
            <a:pPr indent="0" marL="0">
              <a:buNone/>
            </a:pPr>
            <a:r>
              <a:rPr lang="en-US" sz="1800" b="1" dirty="0">
                <a:solidFill>
                  <a:srgbClr val="081840"/>
                </a:solidFill>
                <a:latin typeface="Arial" pitchFamily="34" charset="0"/>
                <a:ea typeface="Arial" pitchFamily="34" charset="-122"/>
                <a:cs typeface="Arial" pitchFamily="34" charset="-120"/>
              </a:rPr>
              <a:t>The more important point</a:t>
            </a:r>
            <a:endParaRPr lang="en-US" sz="1800" dirty="0"/>
          </a:p>
        </p:txBody>
      </p:sp>
      <p:sp>
        <p:nvSpPr>
          <p:cNvPr id="19" name="Text 17"/>
          <p:cNvSpPr txBox="1"/>
          <p:nvPr/>
        </p:nvSpPr>
        <p:spPr>
          <a:xfrm>
            <a:off x="7726680" y="2423160"/>
            <a:ext cx="3474720" cy="3017520"/>
          </a:xfrm>
          <a:prstGeom prst="rect">
            <a:avLst/>
          </a:prstGeom>
          <a:noFill/>
          <a:ln/>
        </p:spPr>
        <p:txBody>
          <a:bodyPr wrap="square" lIns="0" tIns="0" rIns="0" bIns="0" rtlCol="0" anchor="t"/>
          <a:lstStyle/>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Plenty of people who don't HAVE to file absolutely SHOULD.</a:t>
            </a:r>
            <a:endParaRPr lang="en-US" sz="1350" dirty="0"/>
          </a:p>
          <a:p>
            <a:pPr indent="0" marL="0">
              <a:lnSpc>
                <a:spcPct val="125000"/>
              </a:lnSpc>
              <a:buNone/>
            </a:pPr>
            <a:endParaRPr lang="en-US" sz="1350" dirty="0"/>
          </a:p>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Someone who earned $9,400 with two children isn't required to file — and may be owed several thousand dollars, because refundable credits only come back if a return is filed.</a:t>
            </a:r>
            <a:endParaRPr lang="en-US" sz="1350" dirty="0"/>
          </a:p>
          <a:p>
            <a:pPr indent="0" marL="0">
              <a:lnSpc>
                <a:spcPct val="125000"/>
              </a:lnSpc>
              <a:buNone/>
            </a:pPr>
            <a:endParaRPr lang="en-US" sz="1350" dirty="0"/>
          </a:p>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Telling them they don't have to file, and leaving it there, is the wrong answer.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2</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2</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Filing Status</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One decision, made in the first two minutes of the interview, that changes more money than almost anything else on the return.</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2 · FILING STATUS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rule that settles a third of all questions</a:t>
            </a:r>
            <a:endParaRPr lang="en-US" sz="3000" dirty="0"/>
          </a:p>
        </p:txBody>
      </p:sp>
      <p:sp>
        <p:nvSpPr>
          <p:cNvPr id="4" name="Shape 2"/>
          <p:cNvSpPr/>
          <p:nvPr/>
        </p:nvSpPr>
        <p:spPr>
          <a:xfrm>
            <a:off x="685800" y="1737360"/>
            <a:ext cx="10820095" cy="1737360"/>
          </a:xfrm>
          <a:prstGeom prst="roundRect">
            <a:avLst>
              <a:gd name="adj" fmla="val 6316"/>
            </a:avLst>
          </a:prstGeom>
          <a:solidFill>
            <a:srgbClr val="081840"/>
          </a:solidFill>
          <a:ln/>
        </p:spPr>
      </p:sp>
      <p:sp>
        <p:nvSpPr>
          <p:cNvPr id="5" name="Text 3"/>
          <p:cNvSpPr txBox="1"/>
          <p:nvPr/>
        </p:nvSpPr>
        <p:spPr>
          <a:xfrm>
            <a:off x="1143000" y="2057400"/>
            <a:ext cx="9905695" cy="548640"/>
          </a:xfrm>
          <a:prstGeom prst="rect">
            <a:avLst/>
          </a:prstGeom>
          <a:noFill/>
          <a:ln/>
        </p:spPr>
        <p:txBody>
          <a:bodyPr wrap="square" lIns="0" tIns="0" rIns="0" bIns="0" rtlCol="0" anchor="ctr"/>
          <a:lstStyle/>
          <a:p>
            <a:pPr indent="0" marL="0">
              <a:buNone/>
            </a:pPr>
            <a:r>
              <a:rPr lang="en-US" sz="3400" b="1" dirty="0">
                <a:solidFill>
                  <a:srgbClr val="D8B038"/>
                </a:solidFill>
                <a:latin typeface="Arial" pitchFamily="34" charset="0"/>
                <a:ea typeface="Arial" pitchFamily="34" charset="-122"/>
                <a:cs typeface="Arial" pitchFamily="34" charset="-120"/>
              </a:rPr>
              <a:t>Marital status is decided on 31 December.</a:t>
            </a:r>
            <a:endParaRPr lang="en-US" sz="3400" dirty="0"/>
          </a:p>
        </p:txBody>
      </p:sp>
      <p:sp>
        <p:nvSpPr>
          <p:cNvPr id="6" name="Text 4"/>
          <p:cNvSpPr txBox="1"/>
          <p:nvPr/>
        </p:nvSpPr>
        <p:spPr>
          <a:xfrm>
            <a:off x="1143000" y="2697480"/>
            <a:ext cx="9905695" cy="365760"/>
          </a:xfrm>
          <a:prstGeom prst="rect">
            <a:avLst/>
          </a:prstGeom>
          <a:noFill/>
          <a:ln/>
        </p:spPr>
        <p:txBody>
          <a:bodyPr wrap="square" lIns="0" tIns="0" rIns="0" bIns="0" rtlCol="0" anchor="ctr"/>
          <a:lstStyle/>
          <a:p>
            <a:pPr indent="0" marL="0">
              <a:buNone/>
            </a:pPr>
            <a:r>
              <a:rPr lang="en-US" sz="1700" dirty="0">
                <a:solidFill>
                  <a:srgbClr val="C3CEE6"/>
                </a:solidFill>
                <a:latin typeface="Calibri" pitchFamily="34" charset="0"/>
                <a:ea typeface="Calibri" pitchFamily="34" charset="-122"/>
                <a:cs typeface="Calibri" pitchFamily="34" charset="-120"/>
              </a:rPr>
              <a:t>Not on average over the year. Not when they separated.</a:t>
            </a:r>
            <a:endParaRPr lang="en-US" sz="1700" dirty="0"/>
          </a:p>
        </p:txBody>
      </p:sp>
      <p:sp>
        <p:nvSpPr>
          <p:cNvPr id="7" name="Shape 5"/>
          <p:cNvSpPr/>
          <p:nvPr/>
        </p:nvSpPr>
        <p:spPr>
          <a:xfrm>
            <a:off x="685800" y="3840480"/>
            <a:ext cx="5181448" cy="1828800"/>
          </a:xfrm>
          <a:prstGeom prst="roundRect">
            <a:avLst>
              <a:gd name="adj" fmla="val 6000"/>
            </a:avLst>
          </a:prstGeom>
          <a:solidFill>
            <a:srgbClr val="F2F5FA"/>
          </a:solidFill>
          <a:ln/>
          <a:effectLst>
            <a:outerShdw sx="100000" sy="100000" kx="0" ky="0" algn="bl" rotWithShape="0" blurRad="177800" dist="50800" dir="5400000">
              <a:srgbClr val="081840">
                <a:alpha val="10000"/>
              </a:srgbClr>
            </a:outerShdw>
          </a:effectLst>
        </p:spPr>
      </p:sp>
      <p:sp>
        <p:nvSpPr>
          <p:cNvPr id="8" name="Text 6"/>
          <p:cNvSpPr txBox="1"/>
          <p:nvPr/>
        </p:nvSpPr>
        <p:spPr>
          <a:xfrm>
            <a:off x="1005840" y="4114800"/>
            <a:ext cx="4541368"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Divorced 30 December</a:t>
            </a:r>
            <a:endParaRPr lang="en-US" sz="1700" dirty="0"/>
          </a:p>
        </p:txBody>
      </p:sp>
      <p:sp>
        <p:nvSpPr>
          <p:cNvPr id="9" name="Text 7"/>
          <p:cNvSpPr txBox="1"/>
          <p:nvPr/>
        </p:nvSpPr>
        <p:spPr>
          <a:xfrm>
            <a:off x="1005840" y="4498848"/>
            <a:ext cx="4541368" cy="914400"/>
          </a:xfrm>
          <a:prstGeom prst="rect">
            <a:avLst/>
          </a:prstGeom>
          <a:noFill/>
          <a:ln/>
        </p:spPr>
        <p:txBody>
          <a:bodyPr wrap="square" lIns="0" tIns="0" rIns="0" bIns="0" rtlCol="0" anchor="t"/>
          <a:lstStyle/>
          <a:p>
            <a:pPr indent="0" marL="0">
              <a:buNone/>
            </a:pPr>
            <a:r>
              <a:rPr lang="en-US" sz="1500" dirty="0">
                <a:solidFill>
                  <a:srgbClr val="2B3448"/>
                </a:solidFill>
                <a:latin typeface="Calibri" pitchFamily="34" charset="0"/>
                <a:ea typeface="Calibri" pitchFamily="34" charset="-122"/>
                <a:cs typeface="Calibri" pitchFamily="34" charset="-120"/>
              </a:rPr>
              <a:t>Unmarried for the whole year.</a:t>
            </a:r>
            <a:endParaRPr lang="en-US" sz="1500" dirty="0"/>
          </a:p>
        </p:txBody>
      </p:sp>
      <p:sp>
        <p:nvSpPr>
          <p:cNvPr id="10" name="Shape 8"/>
          <p:cNvSpPr/>
          <p:nvPr/>
        </p:nvSpPr>
        <p:spPr>
          <a:xfrm>
            <a:off x="6324448" y="3840480"/>
            <a:ext cx="5181448" cy="1828800"/>
          </a:xfrm>
          <a:prstGeom prst="roundRect">
            <a:avLst>
              <a:gd name="adj" fmla="val 6000"/>
            </a:avLst>
          </a:prstGeom>
          <a:solidFill>
            <a:srgbClr val="F2F5FA"/>
          </a:solidFill>
          <a:ln/>
          <a:effectLst>
            <a:outerShdw sx="100000" sy="100000" kx="0" ky="0" algn="bl" rotWithShape="0" blurRad="177800" dist="50800" dir="5400000">
              <a:srgbClr val="081840">
                <a:alpha val="10000"/>
              </a:srgbClr>
            </a:outerShdw>
          </a:effectLst>
        </p:spPr>
      </p:sp>
      <p:sp>
        <p:nvSpPr>
          <p:cNvPr id="11" name="Text 9"/>
          <p:cNvSpPr txBox="1"/>
          <p:nvPr/>
        </p:nvSpPr>
        <p:spPr>
          <a:xfrm>
            <a:off x="6644488" y="4114800"/>
            <a:ext cx="4541368"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Married 30 December</a:t>
            </a:r>
            <a:endParaRPr lang="en-US" sz="1700" dirty="0"/>
          </a:p>
        </p:txBody>
      </p:sp>
      <p:sp>
        <p:nvSpPr>
          <p:cNvPr id="12" name="Text 10"/>
          <p:cNvSpPr txBox="1"/>
          <p:nvPr/>
        </p:nvSpPr>
        <p:spPr>
          <a:xfrm>
            <a:off x="6644488" y="4498848"/>
            <a:ext cx="4541368" cy="914400"/>
          </a:xfrm>
          <a:prstGeom prst="rect">
            <a:avLst/>
          </a:prstGeom>
          <a:noFill/>
          <a:ln/>
        </p:spPr>
        <p:txBody>
          <a:bodyPr wrap="square" lIns="0" tIns="0" rIns="0" bIns="0" rtlCol="0" anchor="t"/>
          <a:lstStyle/>
          <a:p>
            <a:pPr indent="0" marL="0">
              <a:buNone/>
            </a:pPr>
            <a:r>
              <a:rPr lang="en-US" sz="1500" dirty="0">
                <a:solidFill>
                  <a:srgbClr val="2B3448"/>
                </a:solidFill>
                <a:latin typeface="Calibri" pitchFamily="34" charset="0"/>
                <a:ea typeface="Calibri" pitchFamily="34" charset="-122"/>
                <a:cs typeface="Calibri" pitchFamily="34" charset="-120"/>
              </a:rPr>
              <a:t>Married for the whole year.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2 · FILING STATUS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Head of Household — three tests, all required</a:t>
            </a:r>
            <a:endParaRPr lang="en-US" sz="3000" dirty="0"/>
          </a:p>
        </p:txBody>
      </p:sp>
      <p:sp>
        <p:nvSpPr>
          <p:cNvPr id="4" name="Shape 2"/>
          <p:cNvSpPr/>
          <p:nvPr/>
        </p:nvSpPr>
        <p:spPr>
          <a:xfrm>
            <a:off x="685800" y="1728216"/>
            <a:ext cx="402336" cy="402336"/>
          </a:xfrm>
          <a:prstGeom prst="ellipse">
            <a:avLst/>
          </a:prstGeom>
          <a:solidFill>
            <a:srgbClr val="D8B038"/>
          </a:solidFill>
          <a:ln/>
        </p:spPr>
      </p:sp>
      <p:sp>
        <p:nvSpPr>
          <p:cNvPr id="5" name="Text 3"/>
          <p:cNvSpPr txBox="1"/>
          <p:nvPr/>
        </p:nvSpPr>
        <p:spPr>
          <a:xfrm>
            <a:off x="685800" y="17282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691640"/>
            <a:ext cx="607161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Unmarried on 31 December</a:t>
            </a:r>
            <a:endParaRPr lang="en-US" sz="1650" dirty="0"/>
          </a:p>
        </p:txBody>
      </p:sp>
      <p:sp>
        <p:nvSpPr>
          <p:cNvPr id="7" name="Text 5"/>
          <p:cNvSpPr txBox="1"/>
          <p:nvPr/>
        </p:nvSpPr>
        <p:spPr>
          <a:xfrm>
            <a:off x="1289304" y="1993392"/>
            <a:ext cx="607161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Or "considered unmarried" — the next slide.</a:t>
            </a:r>
            <a:endParaRPr lang="en-US" sz="1350" dirty="0"/>
          </a:p>
        </p:txBody>
      </p:sp>
      <p:sp>
        <p:nvSpPr>
          <p:cNvPr id="8" name="Shape 6"/>
          <p:cNvSpPr/>
          <p:nvPr/>
        </p:nvSpPr>
        <p:spPr>
          <a:xfrm>
            <a:off x="685800" y="2642616"/>
            <a:ext cx="402336" cy="402336"/>
          </a:xfrm>
          <a:prstGeom prst="ellipse">
            <a:avLst/>
          </a:prstGeom>
          <a:solidFill>
            <a:srgbClr val="D8B038"/>
          </a:solidFill>
          <a:ln/>
        </p:spPr>
      </p:sp>
      <p:sp>
        <p:nvSpPr>
          <p:cNvPr id="9" name="Text 7"/>
          <p:cNvSpPr txBox="1"/>
          <p:nvPr/>
        </p:nvSpPr>
        <p:spPr>
          <a:xfrm>
            <a:off x="685800" y="26426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289304" y="2606040"/>
            <a:ext cx="607161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Paid more than half the cost of keeping up the home</a:t>
            </a:r>
            <a:endParaRPr lang="en-US" sz="1650" dirty="0"/>
          </a:p>
        </p:txBody>
      </p:sp>
      <p:sp>
        <p:nvSpPr>
          <p:cNvPr id="11" name="Text 9"/>
          <p:cNvSpPr txBox="1"/>
          <p:nvPr/>
        </p:nvSpPr>
        <p:spPr>
          <a:xfrm>
            <a:off x="1289304" y="2907792"/>
            <a:ext cx="607161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For the whole year.</a:t>
            </a:r>
            <a:endParaRPr lang="en-US" sz="1350" dirty="0"/>
          </a:p>
        </p:txBody>
      </p:sp>
      <p:sp>
        <p:nvSpPr>
          <p:cNvPr id="12" name="Shape 10"/>
          <p:cNvSpPr/>
          <p:nvPr/>
        </p:nvSpPr>
        <p:spPr>
          <a:xfrm>
            <a:off x="685800" y="3557016"/>
            <a:ext cx="402336" cy="402336"/>
          </a:xfrm>
          <a:prstGeom prst="ellipse">
            <a:avLst/>
          </a:prstGeom>
          <a:solidFill>
            <a:srgbClr val="D8B038"/>
          </a:solidFill>
          <a:ln/>
        </p:spPr>
      </p:sp>
      <p:sp>
        <p:nvSpPr>
          <p:cNvPr id="13" name="Text 11"/>
          <p:cNvSpPr txBox="1"/>
          <p:nvPr/>
        </p:nvSpPr>
        <p:spPr>
          <a:xfrm>
            <a:off x="685800" y="355701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289304" y="3520440"/>
            <a:ext cx="607161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A qualifying person lived with them more than half the year</a:t>
            </a:r>
            <a:endParaRPr lang="en-US" sz="1650" dirty="0"/>
          </a:p>
        </p:txBody>
      </p:sp>
      <p:sp>
        <p:nvSpPr>
          <p:cNvPr id="15" name="Text 13"/>
          <p:cNvSpPr txBox="1"/>
          <p:nvPr/>
        </p:nvSpPr>
        <p:spPr>
          <a:xfrm>
            <a:off x="1289304" y="3822192"/>
            <a:ext cx="607161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And a qualifying person must be a RELATIVE.</a:t>
            </a:r>
            <a:endParaRPr lang="en-US" sz="1350" dirty="0"/>
          </a:p>
        </p:txBody>
      </p:sp>
      <p:sp>
        <p:nvSpPr>
          <p:cNvPr id="16" name="Shape 14"/>
          <p:cNvSpPr/>
          <p:nvPr/>
        </p:nvSpPr>
        <p:spPr>
          <a:xfrm>
            <a:off x="7772400" y="1691640"/>
            <a:ext cx="3730752" cy="3931920"/>
          </a:xfrm>
          <a:prstGeom prst="roundRect">
            <a:avLst>
              <a:gd name="adj" fmla="val 2941"/>
            </a:avLst>
          </a:prstGeom>
          <a:solidFill>
            <a:srgbClr val="F2F5FA"/>
          </a:solidFill>
          <a:ln/>
          <a:effectLst>
            <a:outerShdw sx="100000" sy="100000" kx="0" ky="0" algn="bl" rotWithShape="0" blurRad="177800" dist="50800" dir="5400000">
              <a:srgbClr val="081840">
                <a:alpha val="10000"/>
              </a:srgbClr>
            </a:outerShdw>
          </a:effectLst>
        </p:spPr>
      </p:sp>
      <p:sp>
        <p:nvSpPr>
          <p:cNvPr id="17" name="Text 15"/>
          <p:cNvSpPr txBox="1"/>
          <p:nvPr/>
        </p:nvSpPr>
        <p:spPr>
          <a:xfrm>
            <a:off x="8092440" y="1965960"/>
            <a:ext cx="3108960" cy="320040"/>
          </a:xfrm>
          <a:prstGeom prst="rect">
            <a:avLst/>
          </a:prstGeom>
          <a:noFill/>
          <a:ln/>
        </p:spPr>
        <p:txBody>
          <a:bodyPr wrap="square" lIns="0" tIns="0" rIns="0" bIns="0" rtlCol="0" anchor="ctr"/>
          <a:lstStyle/>
          <a:p>
            <a:pPr indent="0" marL="0">
              <a:buNone/>
            </a:pPr>
            <a:r>
              <a:rPr lang="en-US" sz="1600" b="1" dirty="0">
                <a:solidFill>
                  <a:srgbClr val="081840"/>
                </a:solidFill>
                <a:latin typeface="Arial" pitchFamily="34" charset="0"/>
                <a:ea typeface="Arial" pitchFamily="34" charset="-122"/>
                <a:cs typeface="Arial" pitchFamily="34" charset="-120"/>
              </a:rPr>
              <a:t>Cost of keeping up a home</a:t>
            </a:r>
            <a:endParaRPr lang="en-US" sz="1600" dirty="0"/>
          </a:p>
        </p:txBody>
      </p:sp>
      <p:sp>
        <p:nvSpPr>
          <p:cNvPr id="18" name="Text 16"/>
          <p:cNvSpPr txBox="1"/>
          <p:nvPr/>
        </p:nvSpPr>
        <p:spPr>
          <a:xfrm>
            <a:off x="8092440" y="2395728"/>
            <a:ext cx="3108960" cy="228600"/>
          </a:xfrm>
          <a:prstGeom prst="rect">
            <a:avLst/>
          </a:prstGeom>
          <a:noFill/>
          <a:ln/>
        </p:spPr>
        <p:txBody>
          <a:bodyPr wrap="square" lIns="0" tIns="0" rIns="0" bIns="0" rtlCol="0" anchor="ctr"/>
          <a:lstStyle/>
          <a:p>
            <a:pPr indent="0" marL="0">
              <a:buNone/>
            </a:pPr>
            <a:r>
              <a:rPr lang="en-US" sz="1050" b="1" spc="140" kern="0" dirty="0">
                <a:solidFill>
                  <a:srgbClr val="07684A"/>
                </a:solidFill>
                <a:latin typeface="Calibri" pitchFamily="34" charset="0"/>
                <a:ea typeface="Calibri" pitchFamily="34" charset="-122"/>
                <a:cs typeface="Calibri" pitchFamily="34" charset="-120"/>
              </a:rPr>
              <a:t>COUNTS</a:t>
            </a:r>
            <a:endParaRPr lang="en-US" sz="1050" dirty="0"/>
          </a:p>
        </p:txBody>
      </p:sp>
      <p:sp>
        <p:nvSpPr>
          <p:cNvPr id="19" name="Text 17"/>
          <p:cNvSpPr txBox="1"/>
          <p:nvPr/>
        </p:nvSpPr>
        <p:spPr>
          <a:xfrm>
            <a:off x="8092440" y="2633472"/>
            <a:ext cx="3108960" cy="109728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Rent or mortgage interest, property taxes, insurance, utilities, repairs, food eaten in the home</a:t>
            </a:r>
            <a:endParaRPr lang="en-US" sz="1300" dirty="0"/>
          </a:p>
        </p:txBody>
      </p:sp>
      <p:sp>
        <p:nvSpPr>
          <p:cNvPr id="20" name="Text 18"/>
          <p:cNvSpPr txBox="1"/>
          <p:nvPr/>
        </p:nvSpPr>
        <p:spPr>
          <a:xfrm>
            <a:off x="8092440" y="3794760"/>
            <a:ext cx="3108960" cy="228600"/>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DOES NOT COUNT</a:t>
            </a:r>
            <a:endParaRPr lang="en-US" sz="1050" dirty="0"/>
          </a:p>
        </p:txBody>
      </p:sp>
      <p:sp>
        <p:nvSpPr>
          <p:cNvPr id="21" name="Text 19"/>
          <p:cNvSpPr txBox="1"/>
          <p:nvPr/>
        </p:nvSpPr>
        <p:spPr>
          <a:xfrm>
            <a:off x="8092440" y="4032504"/>
            <a:ext cx="3108960" cy="100584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Clothing, education, medical care, holidays, or their own labour around the house</a:t>
            </a:r>
            <a:endParaRPr lang="en-US" sz="1300" dirty="0"/>
          </a:p>
        </p:txBody>
      </p:sp>
      <p:sp>
        <p:nvSpPr>
          <p:cNvPr id="22" name="Shape 20"/>
          <p:cNvSpPr/>
          <p:nvPr/>
        </p:nvSpPr>
        <p:spPr>
          <a:xfrm>
            <a:off x="685800" y="4617720"/>
            <a:ext cx="6675120" cy="1350645"/>
          </a:xfrm>
          <a:prstGeom prst="roundRect">
            <a:avLst>
              <a:gd name="adj" fmla="val 8124"/>
            </a:avLst>
          </a:prstGeom>
          <a:solidFill>
            <a:srgbClr val="FAF2D6"/>
          </a:solidFill>
          <a:ln/>
        </p:spPr>
      </p:sp>
      <p:sp>
        <p:nvSpPr>
          <p:cNvPr id="23" name="Text 21"/>
          <p:cNvSpPr txBox="1"/>
          <p:nvPr/>
        </p:nvSpPr>
        <p:spPr>
          <a:xfrm>
            <a:off x="960120" y="4764024"/>
            <a:ext cx="6126480"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ONE EXCEPTION WORTH MEMORISING</a:t>
            </a:r>
            <a:endParaRPr lang="en-US" sz="1100" dirty="0"/>
          </a:p>
        </p:txBody>
      </p:sp>
      <p:sp>
        <p:nvSpPr>
          <p:cNvPr id="24" name="Text 22"/>
          <p:cNvSpPr txBox="1"/>
          <p:nvPr/>
        </p:nvSpPr>
        <p:spPr>
          <a:xfrm>
            <a:off x="960120" y="5020056"/>
            <a:ext cx="6126480" cy="710565"/>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A dependent parent is a qualifying person even if they do not live with your client — as long as your client pays more than half the cost of the parent's home. A parent in a care home still counts.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2 · FILING STATUS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“Considered unmarried” — all five must be true</a:t>
            </a:r>
            <a:endParaRPr lang="en-US" sz="3000" dirty="0"/>
          </a:p>
        </p:txBody>
      </p:sp>
      <p:sp>
        <p:nvSpPr>
          <p:cNvPr id="4" name="Text 2"/>
          <p:cNvSpPr txBox="1"/>
          <p:nvPr/>
        </p:nvSpPr>
        <p:spPr>
          <a:xfrm>
            <a:off x="685800" y="1691640"/>
            <a:ext cx="10515600" cy="23774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They file a separate return</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They paid more than half the cost of the home</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Their spouse did NOT live in the home at any point during the last six months of the year</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 home was their child's main home for more than half the year</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They can claim that child as a dependant</a:t>
            </a:r>
            <a:endParaRPr lang="en-US" sz="1600" dirty="0"/>
          </a:p>
        </p:txBody>
      </p:sp>
      <p:sp>
        <p:nvSpPr>
          <p:cNvPr id="5" name="Shape 3"/>
          <p:cNvSpPr/>
          <p:nvPr/>
        </p:nvSpPr>
        <p:spPr>
          <a:xfrm>
            <a:off x="685800" y="4114800"/>
            <a:ext cx="10820095" cy="1600200"/>
          </a:xfrm>
          <a:prstGeom prst="roundRect">
            <a:avLst>
              <a:gd name="adj" fmla="val 6857"/>
            </a:avLst>
          </a:prstGeom>
          <a:solidFill>
            <a:srgbClr val="FBEEEA"/>
          </a:solidFill>
          <a:ln/>
        </p:spPr>
      </p:sp>
      <p:sp>
        <p:nvSpPr>
          <p:cNvPr id="6" name="Text 4"/>
          <p:cNvSpPr txBox="1"/>
          <p:nvPr/>
        </p:nvSpPr>
        <p:spPr>
          <a:xfrm>
            <a:off x="960120" y="426110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THIS IS WHERE IT IS WON OR LOST</a:t>
            </a:r>
            <a:endParaRPr lang="en-US" sz="1100" dirty="0"/>
          </a:p>
        </p:txBody>
      </p:sp>
      <p:sp>
        <p:nvSpPr>
          <p:cNvPr id="7" name="Text 5"/>
          <p:cNvSpPr txBox="1"/>
          <p:nvPr/>
        </p:nvSpPr>
        <p:spPr>
          <a:xfrm>
            <a:off x="960120" y="4517136"/>
            <a:ext cx="10271455" cy="960120"/>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The six-month rule catches people out constantly. A spouse who moved out in SEPTEMBER was in the home in July — that fails. The client is Married Filing Separately, whatever they were told last year and however certain they are.</a:t>
            </a:r>
            <a:endParaRPr lang="en-US" sz="1450" dirty="0"/>
          </a:p>
          <a:p>
            <a:pPr indent="0" marL="0">
              <a:buNone/>
            </a:pPr>
            <a:endParaRPr lang="en-US" sz="1450" dirty="0"/>
          </a:p>
          <a:p>
            <a:pPr indent="0" marL="0">
              <a:buNone/>
            </a:pPr>
            <a:r>
              <a:rPr lang="en-US" sz="1450" dirty="0">
                <a:solidFill>
                  <a:srgbClr val="2B3448"/>
                </a:solidFill>
                <a:latin typeface="Calibri" pitchFamily="34" charset="0"/>
                <a:ea typeface="Calibri" pitchFamily="34" charset="-122"/>
                <a:cs typeface="Calibri" pitchFamily="34" charset="-120"/>
              </a:rPr>
              <a:t>So ask for the DATE they left. And write it down.</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1 OF 4</a:t>
            </a:r>
            <a:endParaRPr lang="en-US" sz="1150" dirty="0"/>
          </a:p>
        </p:txBody>
      </p:sp>
      <p:sp>
        <p:nvSpPr>
          <p:cNvPr id="3" name="Shape 1"/>
          <p:cNvSpPr/>
          <p:nvPr/>
        </p:nvSpPr>
        <p:spPr>
          <a:xfrm>
            <a:off x="685800" y="868680"/>
            <a:ext cx="5181448" cy="5208651"/>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320852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Denise lived with her boyfriend for all of 2026.</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She paid the entire rent and every utility bill. He contributed nothing.</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They have no children together, and he is not related to her.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What is her filing status?</a:t>
            </a:r>
            <a:endParaRPr lang="en-US" sz="1600" dirty="0"/>
          </a:p>
        </p:txBody>
      </p:sp>
      <p:sp>
        <p:nvSpPr>
          <p:cNvPr id="6" name="Shape 4"/>
          <p:cNvSpPr/>
          <p:nvPr/>
        </p:nvSpPr>
        <p:spPr>
          <a:xfrm>
            <a:off x="6324448" y="868680"/>
            <a:ext cx="5181448" cy="5208651"/>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898648"/>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Single.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She passes test 2 easily — she paid everything. But test 3 fails.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qualifying person for Head of Household must be a RELATIVE. An unrelated partner can sometimes be claimed as a dependant, but someone who qualifies only by living in the home never makes your client Head of Household.</a:t>
            </a:r>
            <a:endParaRPr lang="en-US" sz="1500" dirty="0"/>
          </a:p>
        </p:txBody>
      </p:sp>
      <p:sp>
        <p:nvSpPr>
          <p:cNvPr id="9" name="Text 7"/>
          <p:cNvSpPr txBox="1"/>
          <p:nvPr/>
        </p:nvSpPr>
        <p:spPr>
          <a:xfrm>
            <a:off x="6644488" y="4718304"/>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992624"/>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Seeing “supported another adult, paid all the bills” and reaching for HOH. Paying is test 2. Test 3 is a different question entirely.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2 OF 4</a:t>
            </a:r>
            <a:endParaRPr lang="en-US" sz="1150" dirty="0"/>
          </a:p>
        </p:txBody>
      </p:sp>
      <p:sp>
        <p:nvSpPr>
          <p:cNvPr id="3" name="Shape 1"/>
          <p:cNvSpPr/>
          <p:nvPr/>
        </p:nvSpPr>
        <p:spPr>
          <a:xfrm>
            <a:off x="685800" y="868680"/>
            <a:ext cx="5181448" cy="4720590"/>
          </a:xfrm>
          <a:prstGeom prst="roundRect">
            <a:avLst>
              <a:gd name="adj" fmla="val 2324"/>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65912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Marcus's divorce was finalised on 18 December 2026.</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His nine-year-old daughter lived with him all year, and he paid every bill in the house.</a:t>
            </a:r>
            <a:endParaRPr lang="en-US" sz="1600" dirty="0"/>
          </a:p>
        </p:txBody>
      </p:sp>
      <p:sp>
        <p:nvSpPr>
          <p:cNvPr id="6" name="Shape 4"/>
          <p:cNvSpPr/>
          <p:nvPr/>
        </p:nvSpPr>
        <p:spPr>
          <a:xfrm>
            <a:off x="6324448" y="868680"/>
            <a:ext cx="5181448" cy="4720590"/>
          </a:xfrm>
          <a:prstGeom prst="roundRect">
            <a:avLst>
              <a:gd name="adj" fmla="val 2324"/>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619756"/>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Head of Household.</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Status is set on 31 December, so Marcus is unmarried for the whole year — even though he was married for eleven and a half months of it.</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 paid more than half the cost, and a qualifying child lived with him more than half the year. All three tests met.</a:t>
            </a:r>
            <a:endParaRPr lang="en-US" sz="1500" dirty="0"/>
          </a:p>
        </p:txBody>
      </p:sp>
      <p:sp>
        <p:nvSpPr>
          <p:cNvPr id="9" name="Text 7"/>
          <p:cNvSpPr txBox="1"/>
          <p:nvPr/>
        </p:nvSpPr>
        <p:spPr>
          <a:xfrm>
            <a:off x="6644488" y="4439412"/>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713732"/>
            <a:ext cx="4541368" cy="509778"/>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Treating him as married because he was married for most of the year.</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3 OF 4</a:t>
            </a:r>
            <a:endParaRPr lang="en-US" sz="1150" dirty="0"/>
          </a:p>
        </p:txBody>
      </p:sp>
      <p:sp>
        <p:nvSpPr>
          <p:cNvPr id="3" name="Shape 1"/>
          <p:cNvSpPr/>
          <p:nvPr/>
        </p:nvSpPr>
        <p:spPr>
          <a:xfrm>
            <a:off x="685800" y="868680"/>
            <a:ext cx="5181448" cy="4232529"/>
          </a:xfrm>
          <a:prstGeom prst="roundRect">
            <a:avLst>
              <a:gd name="adj" fmla="val 2592"/>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5887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Angela's husband moved out on 12 September 2026 and has not been back.</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Their son lived with Angela all year and she pays the mortgage.</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She is certain she qualifies as Head of Household because “he's gone”.</a:t>
            </a:r>
            <a:endParaRPr lang="en-US" sz="1600" dirty="0"/>
          </a:p>
        </p:txBody>
      </p:sp>
      <p:sp>
        <p:nvSpPr>
          <p:cNvPr id="6" name="Shape 4"/>
          <p:cNvSpPr/>
          <p:nvPr/>
        </p:nvSpPr>
        <p:spPr>
          <a:xfrm>
            <a:off x="6324448" y="868680"/>
            <a:ext cx="5181448" cy="4232529"/>
          </a:xfrm>
          <a:prstGeom prst="roundRect">
            <a:avLst>
              <a:gd name="adj" fmla="val 2592"/>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Married filing separately.</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Angela was still married on 31 December, so she needs “considered unmarried”. Her husband lived in the home during the last six months — July, August and half of September. That test fails.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Her options are MFS, or MFJ if he will sign.</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300609"/>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The client's certainty. Ask for the date.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2 · SCENARIO 4 OF 4</a:t>
            </a:r>
            <a:endParaRPr lang="en-US" sz="1150" dirty="0"/>
          </a:p>
        </p:txBody>
      </p:sp>
      <p:sp>
        <p:nvSpPr>
          <p:cNvPr id="3" name="Shape 1"/>
          <p:cNvSpPr/>
          <p:nvPr/>
        </p:nvSpPr>
        <p:spPr>
          <a:xfrm>
            <a:off x="685800" y="868680"/>
            <a:ext cx="5181448" cy="4650867"/>
          </a:xfrm>
          <a:prstGeom prst="roundRect">
            <a:avLst>
              <a:gd name="adj" fmla="val 2359"/>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65912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Ruth is 58, unmarried, and has raised her seven-year-old grandson since 2023.</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He lives with her full time and she supports him entirely.</a:t>
            </a:r>
            <a:endParaRPr lang="en-US" sz="1600" dirty="0"/>
          </a:p>
        </p:txBody>
      </p:sp>
      <p:sp>
        <p:nvSpPr>
          <p:cNvPr id="6" name="Shape 4"/>
          <p:cNvSpPr/>
          <p:nvPr/>
        </p:nvSpPr>
        <p:spPr>
          <a:xfrm>
            <a:off x="6324448" y="868680"/>
            <a:ext cx="5181448" cy="4650867"/>
          </a:xfrm>
          <a:prstGeom prst="roundRect">
            <a:avLst>
              <a:gd name="adj" fmla="val 2359"/>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Head of Household.</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grandchild is a descendant of Ruth's child, so the relationship works. He lived with her all year and she paid more than half the cost.</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More importantly: Ruth should also be screened for the EITC and the Child Tax Credit.</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Grandparents raising grandchildren are routinely entitled to far more than they claim — usually because nobody asked.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3</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3</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Earned Income Tax Credit</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The largest credit most of our clients will ever claim, the most audited item on the return, and the one that carries the penalty.</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WEEKS 4–5 · THE BIG ONE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What “earned” means</a:t>
            </a:r>
            <a:endParaRPr lang="en-US" sz="3000" dirty="0"/>
          </a:p>
        </p:txBody>
      </p:sp>
      <p:sp>
        <p:nvSpPr>
          <p:cNvPr id="4" name="Shape 2"/>
          <p:cNvSpPr/>
          <p:nvPr/>
        </p:nvSpPr>
        <p:spPr>
          <a:xfrm>
            <a:off x="685800" y="1691640"/>
            <a:ext cx="5181448" cy="2286000"/>
          </a:xfrm>
          <a:prstGeom prst="roundRect">
            <a:avLst>
              <a:gd name="adj" fmla="val 4800"/>
            </a:avLst>
          </a:prstGeom>
          <a:solidFill>
            <a:srgbClr val="D6F5E7"/>
          </a:solidFill>
          <a:ln/>
        </p:spPr>
      </p:sp>
      <p:sp>
        <p:nvSpPr>
          <p:cNvPr id="5" name="Text 3"/>
          <p:cNvSpPr txBox="1"/>
          <p:nvPr/>
        </p:nvSpPr>
        <p:spPr>
          <a:xfrm>
            <a:off x="1005840" y="1920240"/>
            <a:ext cx="4541368" cy="320040"/>
          </a:xfrm>
          <a:prstGeom prst="rect">
            <a:avLst/>
          </a:prstGeom>
          <a:noFill/>
          <a:ln/>
        </p:spPr>
        <p:txBody>
          <a:bodyPr wrap="square" lIns="0" tIns="0" rIns="0" bIns="0" rtlCol="0" anchor="ctr"/>
          <a:lstStyle/>
          <a:p>
            <a:pPr indent="0" marL="0">
              <a:buNone/>
            </a:pPr>
            <a:r>
              <a:rPr lang="en-US" sz="1700" b="1" dirty="0">
                <a:solidFill>
                  <a:srgbClr val="10A878"/>
                </a:solidFill>
                <a:latin typeface="Arial" pitchFamily="34" charset="0"/>
                <a:ea typeface="Arial" pitchFamily="34" charset="-122"/>
                <a:cs typeface="Arial" pitchFamily="34" charset="-120"/>
              </a:rPr>
              <a:t>IS earned income</a:t>
            </a:r>
            <a:endParaRPr lang="en-US" sz="1700" dirty="0"/>
          </a:p>
        </p:txBody>
      </p:sp>
      <p:sp>
        <p:nvSpPr>
          <p:cNvPr id="6" name="Text 4"/>
          <p:cNvSpPr txBox="1"/>
          <p:nvPr/>
        </p:nvSpPr>
        <p:spPr>
          <a:xfrm>
            <a:off x="1005840" y="2377440"/>
            <a:ext cx="4541368" cy="1280160"/>
          </a:xfrm>
          <a:prstGeom prst="rect">
            <a:avLst/>
          </a:prstGeom>
          <a:noFill/>
          <a:ln/>
        </p:spPr>
        <p:txBody>
          <a:bodyPr wrap="square" lIns="0" tIns="0" rIns="0" bIns="0" rtlCol="0" anchor="t"/>
          <a:lstStyle/>
          <a:p>
            <a:pPr indent="0" marL="0">
              <a:lnSpc>
                <a:spcPct val="130000"/>
              </a:lnSpc>
              <a:buNone/>
            </a:pPr>
            <a:r>
              <a:rPr lang="en-US" sz="1550" dirty="0">
                <a:solidFill>
                  <a:srgbClr val="2B3448"/>
                </a:solidFill>
                <a:latin typeface="Calibri" pitchFamily="34" charset="0"/>
                <a:ea typeface="Calibri" pitchFamily="34" charset="-122"/>
                <a:cs typeface="Calibri" pitchFamily="34" charset="-120"/>
              </a:rPr>
              <a:t>Wages · Salary · Tips · Net profit from self-employment</a:t>
            </a:r>
            <a:endParaRPr lang="en-US" sz="1550" dirty="0"/>
          </a:p>
        </p:txBody>
      </p:sp>
      <p:sp>
        <p:nvSpPr>
          <p:cNvPr id="7" name="Shape 5"/>
          <p:cNvSpPr/>
          <p:nvPr/>
        </p:nvSpPr>
        <p:spPr>
          <a:xfrm>
            <a:off x="6324448" y="1691640"/>
            <a:ext cx="5181448" cy="2286000"/>
          </a:xfrm>
          <a:prstGeom prst="roundRect">
            <a:avLst>
              <a:gd name="adj" fmla="val 4800"/>
            </a:avLst>
          </a:prstGeom>
          <a:solidFill>
            <a:srgbClr val="FBEEEA"/>
          </a:solidFill>
          <a:ln/>
        </p:spPr>
      </p:sp>
      <p:sp>
        <p:nvSpPr>
          <p:cNvPr id="8" name="Text 6"/>
          <p:cNvSpPr txBox="1"/>
          <p:nvPr/>
        </p:nvSpPr>
        <p:spPr>
          <a:xfrm>
            <a:off x="6644488" y="1920240"/>
            <a:ext cx="4541368" cy="320040"/>
          </a:xfrm>
          <a:prstGeom prst="rect">
            <a:avLst/>
          </a:prstGeom>
          <a:noFill/>
          <a:ln/>
        </p:spPr>
        <p:txBody>
          <a:bodyPr wrap="square" lIns="0" tIns="0" rIns="0" bIns="0" rtlCol="0" anchor="ctr"/>
          <a:lstStyle/>
          <a:p>
            <a:pPr indent="0" marL="0">
              <a:buNone/>
            </a:pPr>
            <a:r>
              <a:rPr lang="en-US" sz="1700" b="1" dirty="0">
                <a:solidFill>
                  <a:srgbClr val="A8341C"/>
                </a:solidFill>
                <a:latin typeface="Arial" pitchFamily="34" charset="0"/>
                <a:ea typeface="Arial" pitchFamily="34" charset="-122"/>
                <a:cs typeface="Arial" pitchFamily="34" charset="-120"/>
              </a:rPr>
              <a:t>Is NOT</a:t>
            </a:r>
            <a:endParaRPr lang="en-US" sz="1700" dirty="0"/>
          </a:p>
        </p:txBody>
      </p:sp>
      <p:sp>
        <p:nvSpPr>
          <p:cNvPr id="9" name="Text 7"/>
          <p:cNvSpPr txBox="1"/>
          <p:nvPr/>
        </p:nvSpPr>
        <p:spPr>
          <a:xfrm>
            <a:off x="6644488" y="2377440"/>
            <a:ext cx="4541368" cy="1280160"/>
          </a:xfrm>
          <a:prstGeom prst="rect">
            <a:avLst/>
          </a:prstGeom>
          <a:noFill/>
          <a:ln/>
        </p:spPr>
        <p:txBody>
          <a:bodyPr wrap="square" lIns="0" tIns="0" rIns="0" bIns="0" rtlCol="0" anchor="t"/>
          <a:lstStyle/>
          <a:p>
            <a:pPr indent="0" marL="0">
              <a:lnSpc>
                <a:spcPct val="130000"/>
              </a:lnSpc>
              <a:buNone/>
            </a:pPr>
            <a:r>
              <a:rPr lang="en-US" sz="1550" dirty="0">
                <a:solidFill>
                  <a:srgbClr val="2B3448"/>
                </a:solidFill>
                <a:latin typeface="Calibri" pitchFamily="34" charset="0"/>
                <a:ea typeface="Calibri" pitchFamily="34" charset="-122"/>
                <a:cs typeface="Calibri" pitchFamily="34" charset="-120"/>
              </a:rPr>
              <a:t>Unemployment · Social Security · Child support · Alimony · Pensions · Investment income</a:t>
            </a:r>
            <a:endParaRPr lang="en-US" sz="1550" dirty="0"/>
          </a:p>
        </p:txBody>
      </p:sp>
      <p:sp>
        <p:nvSpPr>
          <p:cNvPr id="10" name="Text 8"/>
          <p:cNvSpPr txBox="1"/>
          <p:nvPr/>
        </p:nvSpPr>
        <p:spPr>
          <a:xfrm>
            <a:off x="685800" y="4251960"/>
            <a:ext cx="10820095" cy="365760"/>
          </a:xfrm>
          <a:prstGeom prst="rect">
            <a:avLst/>
          </a:prstGeom>
          <a:noFill/>
          <a:ln/>
        </p:spPr>
        <p:txBody>
          <a:bodyPr wrap="square" lIns="0" tIns="0" rIns="0" bIns="0" rtlCol="0" anchor="ctr"/>
          <a:lstStyle/>
          <a:p>
            <a:pPr indent="0" marL="0">
              <a:buNone/>
            </a:pPr>
            <a:r>
              <a:rPr lang="en-US" sz="1900" b="1" dirty="0">
                <a:solidFill>
                  <a:srgbClr val="081840"/>
                </a:solidFill>
                <a:latin typeface="Arial" pitchFamily="34" charset="0"/>
                <a:ea typeface="Arial" pitchFamily="34" charset="-122"/>
                <a:cs typeface="Arial" pitchFamily="34" charset="-120"/>
              </a:rPr>
              <a:t>Three things that kill the credit outright</a:t>
            </a:r>
            <a:endParaRPr lang="en-US" sz="1900" dirty="0"/>
          </a:p>
        </p:txBody>
      </p:sp>
      <p:sp>
        <p:nvSpPr>
          <p:cNvPr id="11" name="Text 9"/>
          <p:cNvSpPr txBox="1"/>
          <p:nvPr/>
        </p:nvSpPr>
        <p:spPr>
          <a:xfrm>
            <a:off x="685800" y="4709160"/>
            <a:ext cx="10820095" cy="1188720"/>
          </a:xfrm>
          <a:prstGeom prst="rect">
            <a:avLst/>
          </a:prstGeom>
          <a:noFill/>
          <a:ln/>
        </p:spPr>
        <p:txBody>
          <a:bodyPr wrap="square" lIns="0" tIns="0" rIns="0" bIns="0" rtlCol="0" anchor="t"/>
          <a:lstStyle/>
          <a:p>
            <a:pPr marL="342900" indent="-342900">
              <a:spcAft>
                <a:spcPts val="900"/>
              </a:spcAft>
              <a:buSzPct val="100000"/>
              <a:buChar char="•"/>
            </a:pPr>
            <a:r>
              <a:rPr lang="en-US" sz="1450" dirty="0">
                <a:solidFill>
                  <a:srgbClr val="2B3448"/>
                </a:solidFill>
                <a:latin typeface="Calibri" pitchFamily="34" charset="0"/>
                <a:ea typeface="Calibri" pitchFamily="34" charset="-122"/>
                <a:cs typeface="Calibri" pitchFamily="34" charset="-120"/>
              </a:rPr>
              <a:t>Anyone on the return without a valid Social Security number</a:t>
            </a:r>
            <a:endParaRPr lang="en-US" sz="1450" dirty="0"/>
          </a:p>
          <a:p>
            <a:pPr marL="342900" indent="-342900">
              <a:spcAft>
                <a:spcPts val="900"/>
              </a:spcAft>
              <a:buSzPct val="100000"/>
              <a:buChar char="•"/>
            </a:pPr>
            <a:r>
              <a:rPr lang="en-US" sz="1450" dirty="0">
                <a:solidFill>
                  <a:srgbClr val="2B3448"/>
                </a:solidFill>
                <a:latin typeface="Calibri" pitchFamily="34" charset="0"/>
                <a:ea typeface="Calibri" pitchFamily="34" charset="-122"/>
                <a:cs typeface="Calibri" pitchFamily="34" charset="-120"/>
              </a:rPr>
              <a:t>Investment income over $12,200 — over by a single dollar and the whole credit is gone. There is no tapering</a:t>
            </a:r>
            <a:endParaRPr lang="en-US" sz="1450" dirty="0"/>
          </a:p>
          <a:p>
            <a:pPr marL="342900" indent="-342900">
              <a:spcAft>
                <a:spcPts val="900"/>
              </a:spcAft>
              <a:buSzPct val="100000"/>
              <a:buChar char="•"/>
            </a:pPr>
            <a:r>
              <a:rPr lang="en-US" sz="1450" dirty="0">
                <a:solidFill>
                  <a:srgbClr val="2B3448"/>
                </a:solidFill>
                <a:latin typeface="Calibri" pitchFamily="34" charset="0"/>
                <a:ea typeface="Calibri" pitchFamily="34" charset="-122"/>
                <a:cs typeface="Calibri" pitchFamily="34" charset="-120"/>
              </a:rPr>
              <a:t>The client is themselves someone else's qualifying child</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four tests — R-A-R-J</a:t>
            </a:r>
            <a:endParaRPr lang="en-US" sz="3000" dirty="0"/>
          </a:p>
        </p:txBody>
      </p:sp>
      <p:sp>
        <p:nvSpPr>
          <p:cNvPr id="4" name="Shape 2"/>
          <p:cNvSpPr/>
          <p:nvPr/>
        </p:nvSpPr>
        <p:spPr>
          <a:xfrm>
            <a:off x="685800"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5" name="Shape 3"/>
          <p:cNvSpPr/>
          <p:nvPr/>
        </p:nvSpPr>
        <p:spPr>
          <a:xfrm>
            <a:off x="960120" y="2011680"/>
            <a:ext cx="457200" cy="457200"/>
          </a:xfrm>
          <a:prstGeom prst="ellipse">
            <a:avLst/>
          </a:prstGeom>
          <a:solidFill>
            <a:srgbClr val="D8B038"/>
          </a:solidFill>
          <a:ln/>
        </p:spPr>
      </p:sp>
      <p:sp>
        <p:nvSpPr>
          <p:cNvPr id="6" name="Text 4"/>
          <p:cNvSpPr txBox="1"/>
          <p:nvPr/>
        </p:nvSpPr>
        <p:spPr>
          <a:xfrm>
            <a:off x="960120"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R</a:t>
            </a:r>
            <a:endParaRPr lang="en-US" sz="1900" dirty="0"/>
          </a:p>
        </p:txBody>
      </p:sp>
      <p:sp>
        <p:nvSpPr>
          <p:cNvPr id="7" name="Text 5"/>
          <p:cNvSpPr txBox="1"/>
          <p:nvPr/>
        </p:nvSpPr>
        <p:spPr>
          <a:xfrm>
            <a:off x="960120"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Relationship</a:t>
            </a:r>
            <a:endParaRPr lang="en-US" sz="1700" dirty="0"/>
          </a:p>
        </p:txBody>
      </p:sp>
      <p:sp>
        <p:nvSpPr>
          <p:cNvPr id="8" name="Text 6"/>
          <p:cNvSpPr txBox="1"/>
          <p:nvPr/>
        </p:nvSpPr>
        <p:spPr>
          <a:xfrm>
            <a:off x="960120"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Son, daughter, stepchild, foster child, sibling, half or step sibling — or a descendant of any. Grandchildren, nieces and nephews count. A cousin does not.</a:t>
            </a:r>
            <a:endParaRPr lang="en-US" sz="1300" dirty="0"/>
          </a:p>
        </p:txBody>
      </p:sp>
      <p:sp>
        <p:nvSpPr>
          <p:cNvPr id="9" name="Shape 7"/>
          <p:cNvSpPr/>
          <p:nvPr/>
        </p:nvSpPr>
        <p:spPr>
          <a:xfrm>
            <a:off x="3482264"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10" name="Shape 8"/>
          <p:cNvSpPr/>
          <p:nvPr/>
        </p:nvSpPr>
        <p:spPr>
          <a:xfrm>
            <a:off x="3756584" y="2011680"/>
            <a:ext cx="457200" cy="457200"/>
          </a:xfrm>
          <a:prstGeom prst="ellipse">
            <a:avLst/>
          </a:prstGeom>
          <a:solidFill>
            <a:srgbClr val="D8B038"/>
          </a:solidFill>
          <a:ln/>
        </p:spPr>
      </p:sp>
      <p:sp>
        <p:nvSpPr>
          <p:cNvPr id="11" name="Text 9"/>
          <p:cNvSpPr txBox="1"/>
          <p:nvPr/>
        </p:nvSpPr>
        <p:spPr>
          <a:xfrm>
            <a:off x="3756584"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A</a:t>
            </a:r>
            <a:endParaRPr lang="en-US" sz="1900" dirty="0"/>
          </a:p>
        </p:txBody>
      </p:sp>
      <p:sp>
        <p:nvSpPr>
          <p:cNvPr id="12" name="Text 10"/>
          <p:cNvSpPr txBox="1"/>
          <p:nvPr/>
        </p:nvSpPr>
        <p:spPr>
          <a:xfrm>
            <a:off x="3756584"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Age</a:t>
            </a:r>
            <a:endParaRPr lang="en-US" sz="1700" dirty="0"/>
          </a:p>
        </p:txBody>
      </p:sp>
      <p:sp>
        <p:nvSpPr>
          <p:cNvPr id="13" name="Text 11"/>
          <p:cNvSpPr txBox="1"/>
          <p:nvPr/>
        </p:nvSpPr>
        <p:spPr>
          <a:xfrm>
            <a:off x="3756584"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Under 19 and younger than your client; or under 24, a full-time student and younger; or any age if permanently and totally disabled.</a:t>
            </a:r>
            <a:endParaRPr lang="en-US" sz="1300" dirty="0"/>
          </a:p>
        </p:txBody>
      </p:sp>
      <p:sp>
        <p:nvSpPr>
          <p:cNvPr id="14" name="Shape 12"/>
          <p:cNvSpPr/>
          <p:nvPr/>
        </p:nvSpPr>
        <p:spPr>
          <a:xfrm>
            <a:off x="6278728"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15" name="Shape 13"/>
          <p:cNvSpPr/>
          <p:nvPr/>
        </p:nvSpPr>
        <p:spPr>
          <a:xfrm>
            <a:off x="6553048" y="2011680"/>
            <a:ext cx="457200" cy="457200"/>
          </a:xfrm>
          <a:prstGeom prst="ellipse">
            <a:avLst/>
          </a:prstGeom>
          <a:solidFill>
            <a:srgbClr val="D8B038"/>
          </a:solidFill>
          <a:ln/>
        </p:spPr>
      </p:sp>
      <p:sp>
        <p:nvSpPr>
          <p:cNvPr id="16" name="Text 14"/>
          <p:cNvSpPr txBox="1"/>
          <p:nvPr/>
        </p:nvSpPr>
        <p:spPr>
          <a:xfrm>
            <a:off x="6553048"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R</a:t>
            </a:r>
            <a:endParaRPr lang="en-US" sz="1900" dirty="0"/>
          </a:p>
        </p:txBody>
      </p:sp>
      <p:sp>
        <p:nvSpPr>
          <p:cNvPr id="17" name="Text 15"/>
          <p:cNvSpPr txBox="1"/>
          <p:nvPr/>
        </p:nvSpPr>
        <p:spPr>
          <a:xfrm>
            <a:off x="6553048"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Residency</a:t>
            </a:r>
            <a:endParaRPr lang="en-US" sz="1700" dirty="0"/>
          </a:p>
        </p:txBody>
      </p:sp>
      <p:sp>
        <p:nvSpPr>
          <p:cNvPr id="18" name="Text 16"/>
          <p:cNvSpPr txBox="1"/>
          <p:nvPr/>
        </p:nvSpPr>
        <p:spPr>
          <a:xfrm>
            <a:off x="6553048"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Lived with your client IN THE US for more than half the year. School, hospital and military absences still count as living at home.</a:t>
            </a:r>
            <a:endParaRPr lang="en-US" sz="1300" dirty="0"/>
          </a:p>
        </p:txBody>
      </p:sp>
      <p:sp>
        <p:nvSpPr>
          <p:cNvPr id="19" name="Shape 17"/>
          <p:cNvSpPr/>
          <p:nvPr/>
        </p:nvSpPr>
        <p:spPr>
          <a:xfrm>
            <a:off x="9075191" y="1737360"/>
            <a:ext cx="2430704" cy="374904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20" name="Shape 18"/>
          <p:cNvSpPr/>
          <p:nvPr/>
        </p:nvSpPr>
        <p:spPr>
          <a:xfrm>
            <a:off x="9349511" y="2011680"/>
            <a:ext cx="457200" cy="457200"/>
          </a:xfrm>
          <a:prstGeom prst="ellipse">
            <a:avLst/>
          </a:prstGeom>
          <a:solidFill>
            <a:srgbClr val="D8B038"/>
          </a:solidFill>
          <a:ln/>
        </p:spPr>
      </p:sp>
      <p:sp>
        <p:nvSpPr>
          <p:cNvPr id="21" name="Text 19"/>
          <p:cNvSpPr txBox="1"/>
          <p:nvPr/>
        </p:nvSpPr>
        <p:spPr>
          <a:xfrm>
            <a:off x="9349511" y="2011680"/>
            <a:ext cx="457200" cy="457200"/>
          </a:xfrm>
          <a:prstGeom prst="rect">
            <a:avLst/>
          </a:prstGeom>
          <a:noFill/>
          <a:ln/>
        </p:spPr>
        <p:txBody>
          <a:bodyPr wrap="square" lIns="0" tIns="0" rIns="0" bIns="0" rtlCol="0" anchor="ctr"/>
          <a:lstStyle/>
          <a:p>
            <a:pPr algn="ctr" indent="0" marL="0">
              <a:buNone/>
            </a:pPr>
            <a:r>
              <a:rPr lang="en-US" sz="1900" b="1" dirty="0">
                <a:solidFill>
                  <a:srgbClr val="081840"/>
                </a:solidFill>
                <a:latin typeface="Arial" pitchFamily="34" charset="0"/>
                <a:ea typeface="Arial" pitchFamily="34" charset="-122"/>
                <a:cs typeface="Arial" pitchFamily="34" charset="-120"/>
              </a:rPr>
              <a:t>J</a:t>
            </a:r>
            <a:endParaRPr lang="en-US" sz="1900" dirty="0"/>
          </a:p>
        </p:txBody>
      </p:sp>
      <p:sp>
        <p:nvSpPr>
          <p:cNvPr id="22" name="Text 20"/>
          <p:cNvSpPr txBox="1"/>
          <p:nvPr/>
        </p:nvSpPr>
        <p:spPr>
          <a:xfrm>
            <a:off x="9349511" y="2633472"/>
            <a:ext cx="1882064" cy="36576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Joint return</a:t>
            </a:r>
            <a:endParaRPr lang="en-US" sz="1700" dirty="0"/>
          </a:p>
        </p:txBody>
      </p:sp>
      <p:sp>
        <p:nvSpPr>
          <p:cNvPr id="23" name="Text 21"/>
          <p:cNvSpPr txBox="1"/>
          <p:nvPr/>
        </p:nvSpPr>
        <p:spPr>
          <a:xfrm>
            <a:off x="9349511" y="3063240"/>
            <a:ext cx="1882064" cy="2194560"/>
          </a:xfrm>
          <a:prstGeom prst="rect">
            <a:avLst/>
          </a:prstGeom>
          <a:noFill/>
          <a:ln/>
        </p:spPr>
        <p:txBody>
          <a:bodyPr wrap="square" lIns="0" tIns="0" rIns="0" bIns="0" rtlCol="0" anchor="t"/>
          <a:lstStyle/>
          <a:p>
            <a:pPr indent="0" marL="0">
              <a:lnSpc>
                <a:spcPct val="120000"/>
              </a:lnSpc>
              <a:buNone/>
            </a:pPr>
            <a:r>
              <a:rPr lang="en-US" sz="1300" dirty="0">
                <a:solidFill>
                  <a:srgbClr val="2B3448"/>
                </a:solidFill>
                <a:latin typeface="Calibri" pitchFamily="34" charset="0"/>
                <a:ea typeface="Calibri" pitchFamily="34" charset="-122"/>
                <a:cs typeface="Calibri" pitchFamily="34" charset="-120"/>
              </a:rPr>
              <a:t>The child did not file a joint return — unless purely to claim back withheld tax.</a:t>
            </a:r>
            <a:endParaRPr lang="en-US" sz="1300" dirty="0"/>
          </a:p>
        </p:txBody>
      </p:sp>
      <p:sp>
        <p:nvSpPr>
          <p:cNvPr id="24" name="Text 22"/>
          <p:cNvSpPr txBox="1"/>
          <p:nvPr/>
        </p:nvSpPr>
        <p:spPr>
          <a:xfrm>
            <a:off x="685800" y="5852160"/>
            <a:ext cx="10820095" cy="320040"/>
          </a:xfrm>
          <a:prstGeom prst="rect">
            <a:avLst/>
          </a:prstGeom>
          <a:noFill/>
          <a:ln/>
        </p:spPr>
        <p:txBody>
          <a:bodyPr wrap="square" lIns="0" tIns="0" rIns="0" bIns="0" rtlCol="0" anchor="ctr"/>
          <a:lstStyle/>
          <a:p>
            <a:pPr indent="0" marL="0">
              <a:buNone/>
            </a:pPr>
            <a:r>
              <a:rPr lang="en-US" sz="1500" i="1" dirty="0">
                <a:solidFill>
                  <a:srgbClr val="9A7020"/>
                </a:solidFill>
                <a:latin typeface="Calibri" pitchFamily="34" charset="0"/>
                <a:ea typeface="Calibri" pitchFamily="34" charset="-122"/>
                <a:cs typeface="Calibri" pitchFamily="34" charset="-120"/>
              </a:rPr>
              <a:t>Drill these until they are automatic.</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What it is worth · tax year 2026</a:t>
            </a:r>
            <a:endParaRPr lang="en-US" sz="3000" dirty="0"/>
          </a:p>
        </p:txBody>
      </p:sp>
      <p:sp>
        <p:nvSpPr>
          <p:cNvPr id="4" name="Text 2"/>
          <p:cNvSpPr txBox="1"/>
          <p:nvPr/>
        </p:nvSpPr>
        <p:spPr>
          <a:xfrm>
            <a:off x="685800" y="1691640"/>
            <a:ext cx="27797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Qualifying children</a:t>
            </a:r>
            <a:endParaRPr lang="en-US" sz="1150" dirty="0"/>
          </a:p>
        </p:txBody>
      </p:sp>
      <p:sp>
        <p:nvSpPr>
          <p:cNvPr id="5" name="Text 3"/>
          <p:cNvSpPr txBox="1"/>
          <p:nvPr/>
        </p:nvSpPr>
        <p:spPr>
          <a:xfrm>
            <a:off x="3758184" y="1691640"/>
            <a:ext cx="18653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Max credit</a:t>
            </a:r>
            <a:endParaRPr lang="en-US" sz="1150" dirty="0"/>
          </a:p>
        </p:txBody>
      </p:sp>
      <p:sp>
        <p:nvSpPr>
          <p:cNvPr id="6" name="Text 4"/>
          <p:cNvSpPr txBox="1"/>
          <p:nvPr/>
        </p:nvSpPr>
        <p:spPr>
          <a:xfrm>
            <a:off x="5769864" y="1691640"/>
            <a:ext cx="38770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Income ceiling — single / HOH</a:t>
            </a:r>
            <a:endParaRPr lang="en-US" sz="1150" dirty="0"/>
          </a:p>
        </p:txBody>
      </p:sp>
      <p:sp>
        <p:nvSpPr>
          <p:cNvPr id="7" name="Text 5"/>
          <p:cNvSpPr txBox="1"/>
          <p:nvPr/>
        </p:nvSpPr>
        <p:spPr>
          <a:xfrm>
            <a:off x="9793224" y="1691640"/>
            <a:ext cx="17099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Ceiling — joint</a:t>
            </a:r>
            <a:endParaRPr lang="en-US" sz="1150" dirty="0"/>
          </a:p>
        </p:txBody>
      </p:sp>
      <p:sp>
        <p:nvSpPr>
          <p:cNvPr id="8" name="Shape 6"/>
          <p:cNvSpPr/>
          <p:nvPr/>
        </p:nvSpPr>
        <p:spPr>
          <a:xfrm>
            <a:off x="685800" y="1984248"/>
            <a:ext cx="10817352" cy="20117"/>
          </a:xfrm>
          <a:prstGeom prst="rect">
            <a:avLst/>
          </a:prstGeom>
          <a:solidFill>
            <a:srgbClr val="081840"/>
          </a:solidFill>
          <a:ln/>
        </p:spPr>
      </p:sp>
      <p:sp>
        <p:nvSpPr>
          <p:cNvPr id="9" name="Shape 7"/>
          <p:cNvSpPr/>
          <p:nvPr/>
        </p:nvSpPr>
        <p:spPr>
          <a:xfrm>
            <a:off x="685800" y="2057400"/>
            <a:ext cx="10817352" cy="420624"/>
          </a:xfrm>
          <a:prstGeom prst="rect">
            <a:avLst/>
          </a:prstGeom>
          <a:solidFill>
            <a:srgbClr val="F2F5FA"/>
          </a:solidFill>
          <a:ln/>
        </p:spPr>
      </p:sp>
      <p:sp>
        <p:nvSpPr>
          <p:cNvPr id="10" name="Text 8"/>
          <p:cNvSpPr txBox="1"/>
          <p:nvPr/>
        </p:nvSpPr>
        <p:spPr>
          <a:xfrm>
            <a:off x="685800" y="2057400"/>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None</a:t>
            </a:r>
            <a:endParaRPr lang="en-US" sz="1500" dirty="0"/>
          </a:p>
        </p:txBody>
      </p:sp>
      <p:sp>
        <p:nvSpPr>
          <p:cNvPr id="11" name="Text 9"/>
          <p:cNvSpPr txBox="1"/>
          <p:nvPr/>
        </p:nvSpPr>
        <p:spPr>
          <a:xfrm>
            <a:off x="3758184" y="2057400"/>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$664</a:t>
            </a:r>
            <a:endParaRPr lang="en-US" sz="1500" dirty="0"/>
          </a:p>
        </p:txBody>
      </p:sp>
      <p:sp>
        <p:nvSpPr>
          <p:cNvPr id="12" name="Text 10"/>
          <p:cNvSpPr txBox="1"/>
          <p:nvPr/>
        </p:nvSpPr>
        <p:spPr>
          <a:xfrm>
            <a:off x="5769864" y="2057400"/>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$19,540</a:t>
            </a:r>
            <a:endParaRPr lang="en-US" sz="1500" dirty="0"/>
          </a:p>
        </p:txBody>
      </p:sp>
      <p:sp>
        <p:nvSpPr>
          <p:cNvPr id="13" name="Text 11"/>
          <p:cNvSpPr txBox="1"/>
          <p:nvPr/>
        </p:nvSpPr>
        <p:spPr>
          <a:xfrm>
            <a:off x="9793224" y="2057400"/>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$26,820</a:t>
            </a:r>
            <a:endParaRPr lang="en-US" sz="1500" dirty="0"/>
          </a:p>
        </p:txBody>
      </p:sp>
      <p:sp>
        <p:nvSpPr>
          <p:cNvPr id="14" name="Text 12"/>
          <p:cNvSpPr txBox="1"/>
          <p:nvPr/>
        </p:nvSpPr>
        <p:spPr>
          <a:xfrm>
            <a:off x="685800" y="2478024"/>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One</a:t>
            </a:r>
            <a:endParaRPr lang="en-US" sz="1500" dirty="0"/>
          </a:p>
        </p:txBody>
      </p:sp>
      <p:sp>
        <p:nvSpPr>
          <p:cNvPr id="15" name="Text 13"/>
          <p:cNvSpPr txBox="1"/>
          <p:nvPr/>
        </p:nvSpPr>
        <p:spPr>
          <a:xfrm>
            <a:off x="3758184" y="2478024"/>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$4,427</a:t>
            </a:r>
            <a:endParaRPr lang="en-US" sz="1500" dirty="0"/>
          </a:p>
        </p:txBody>
      </p:sp>
      <p:sp>
        <p:nvSpPr>
          <p:cNvPr id="16" name="Text 14"/>
          <p:cNvSpPr txBox="1"/>
          <p:nvPr/>
        </p:nvSpPr>
        <p:spPr>
          <a:xfrm>
            <a:off x="5769864" y="2478024"/>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$51,593</a:t>
            </a:r>
            <a:endParaRPr lang="en-US" sz="1500" dirty="0"/>
          </a:p>
        </p:txBody>
      </p:sp>
      <p:sp>
        <p:nvSpPr>
          <p:cNvPr id="17" name="Text 15"/>
          <p:cNvSpPr txBox="1"/>
          <p:nvPr/>
        </p:nvSpPr>
        <p:spPr>
          <a:xfrm>
            <a:off x="9793224" y="2478024"/>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$58,863</a:t>
            </a:r>
            <a:endParaRPr lang="en-US" sz="1500" dirty="0"/>
          </a:p>
        </p:txBody>
      </p:sp>
      <p:sp>
        <p:nvSpPr>
          <p:cNvPr id="18" name="Shape 16"/>
          <p:cNvSpPr/>
          <p:nvPr/>
        </p:nvSpPr>
        <p:spPr>
          <a:xfrm>
            <a:off x="685800" y="2898648"/>
            <a:ext cx="10817352" cy="420624"/>
          </a:xfrm>
          <a:prstGeom prst="rect">
            <a:avLst/>
          </a:prstGeom>
          <a:solidFill>
            <a:srgbClr val="F2F5FA"/>
          </a:solidFill>
          <a:ln/>
        </p:spPr>
      </p:sp>
      <p:sp>
        <p:nvSpPr>
          <p:cNvPr id="19" name="Text 17"/>
          <p:cNvSpPr txBox="1"/>
          <p:nvPr/>
        </p:nvSpPr>
        <p:spPr>
          <a:xfrm>
            <a:off x="685800" y="2898648"/>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Two</a:t>
            </a:r>
            <a:endParaRPr lang="en-US" sz="1500" dirty="0"/>
          </a:p>
        </p:txBody>
      </p:sp>
      <p:sp>
        <p:nvSpPr>
          <p:cNvPr id="20" name="Text 18"/>
          <p:cNvSpPr txBox="1"/>
          <p:nvPr/>
        </p:nvSpPr>
        <p:spPr>
          <a:xfrm>
            <a:off x="3758184" y="2898648"/>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$7,316</a:t>
            </a:r>
            <a:endParaRPr lang="en-US" sz="1500" dirty="0"/>
          </a:p>
        </p:txBody>
      </p:sp>
      <p:sp>
        <p:nvSpPr>
          <p:cNvPr id="21" name="Text 19"/>
          <p:cNvSpPr txBox="1"/>
          <p:nvPr/>
        </p:nvSpPr>
        <p:spPr>
          <a:xfrm>
            <a:off x="5769864" y="2898648"/>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$58,629</a:t>
            </a:r>
            <a:endParaRPr lang="en-US" sz="1500" dirty="0"/>
          </a:p>
        </p:txBody>
      </p:sp>
      <p:sp>
        <p:nvSpPr>
          <p:cNvPr id="22" name="Text 20"/>
          <p:cNvSpPr txBox="1"/>
          <p:nvPr/>
        </p:nvSpPr>
        <p:spPr>
          <a:xfrm>
            <a:off x="9793224" y="2898648"/>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$65,899</a:t>
            </a:r>
            <a:endParaRPr lang="en-US" sz="1500" dirty="0"/>
          </a:p>
        </p:txBody>
      </p:sp>
      <p:sp>
        <p:nvSpPr>
          <p:cNvPr id="23" name="Text 21"/>
          <p:cNvSpPr txBox="1"/>
          <p:nvPr/>
        </p:nvSpPr>
        <p:spPr>
          <a:xfrm>
            <a:off x="685800" y="3319272"/>
            <a:ext cx="2779776" cy="420624"/>
          </a:xfrm>
          <a:prstGeom prst="rect">
            <a:avLst/>
          </a:prstGeom>
          <a:noFill/>
          <a:ln/>
        </p:spPr>
        <p:txBody>
          <a:bodyPr wrap="square" lIns="0" tIns="0" rIns="0" bIns="0" rtlCol="0" anchor="ctr"/>
          <a:lstStyle/>
          <a:p>
            <a:pPr indent="0" marL="0">
              <a:buNone/>
            </a:pPr>
            <a:r>
              <a:rPr lang="en-US" sz="1500" b="1" dirty="0">
                <a:solidFill>
                  <a:srgbClr val="2B3448"/>
                </a:solidFill>
                <a:latin typeface="Calibri" pitchFamily="34" charset="0"/>
                <a:ea typeface="Calibri" pitchFamily="34" charset="-122"/>
                <a:cs typeface="Calibri" pitchFamily="34" charset="-120"/>
              </a:rPr>
              <a:t>Three or more</a:t>
            </a:r>
            <a:endParaRPr lang="en-US" sz="1500" dirty="0"/>
          </a:p>
        </p:txBody>
      </p:sp>
      <p:sp>
        <p:nvSpPr>
          <p:cNvPr id="24" name="Text 22"/>
          <p:cNvSpPr txBox="1"/>
          <p:nvPr/>
        </p:nvSpPr>
        <p:spPr>
          <a:xfrm>
            <a:off x="3758184" y="3319272"/>
            <a:ext cx="171907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$8,231</a:t>
            </a:r>
            <a:endParaRPr lang="en-US" sz="1500" dirty="0"/>
          </a:p>
        </p:txBody>
      </p:sp>
      <p:sp>
        <p:nvSpPr>
          <p:cNvPr id="25" name="Text 23"/>
          <p:cNvSpPr txBox="1"/>
          <p:nvPr/>
        </p:nvSpPr>
        <p:spPr>
          <a:xfrm>
            <a:off x="5769864" y="3319272"/>
            <a:ext cx="3730752"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$62,974</a:t>
            </a:r>
            <a:endParaRPr lang="en-US" sz="1500" dirty="0"/>
          </a:p>
        </p:txBody>
      </p:sp>
      <p:sp>
        <p:nvSpPr>
          <p:cNvPr id="26" name="Text 24"/>
          <p:cNvSpPr txBox="1"/>
          <p:nvPr/>
        </p:nvSpPr>
        <p:spPr>
          <a:xfrm>
            <a:off x="9793224" y="3319272"/>
            <a:ext cx="1563624" cy="420624"/>
          </a:xfrm>
          <a:prstGeom prst="rect">
            <a:avLst/>
          </a:prstGeom>
          <a:noFill/>
          <a:ln/>
        </p:spPr>
        <p:txBody>
          <a:bodyPr wrap="square" lIns="0" tIns="0" rIns="0" bIns="0" rtlCol="0" anchor="ctr"/>
          <a:lstStyle/>
          <a:p>
            <a:pPr indent="0" marL="0">
              <a:buNone/>
            </a:pPr>
            <a:r>
              <a:rPr lang="en-US" sz="1500" dirty="0">
                <a:solidFill>
                  <a:srgbClr val="2B3448"/>
                </a:solidFill>
                <a:latin typeface="Calibri" pitchFamily="34" charset="0"/>
                <a:ea typeface="Calibri" pitchFamily="34" charset="-122"/>
                <a:cs typeface="Calibri" pitchFamily="34" charset="-120"/>
              </a:rPr>
              <a:t>$70,224</a:t>
            </a:r>
            <a:endParaRPr lang="en-US" sz="1500" dirty="0"/>
          </a:p>
        </p:txBody>
      </p:sp>
      <p:sp>
        <p:nvSpPr>
          <p:cNvPr id="27" name="Shape 25"/>
          <p:cNvSpPr/>
          <p:nvPr/>
        </p:nvSpPr>
        <p:spPr>
          <a:xfrm>
            <a:off x="685800" y="4114800"/>
            <a:ext cx="10820095" cy="901319"/>
          </a:xfrm>
          <a:prstGeom prst="roundRect">
            <a:avLst>
              <a:gd name="adj" fmla="val 12174"/>
            </a:avLst>
          </a:prstGeom>
          <a:solidFill>
            <a:srgbClr val="FAF2D6"/>
          </a:solidFill>
          <a:ln/>
        </p:spPr>
      </p:sp>
      <p:sp>
        <p:nvSpPr>
          <p:cNvPr id="28" name="Text 26"/>
          <p:cNvSpPr txBox="1"/>
          <p:nvPr/>
        </p:nvSpPr>
        <p:spPr>
          <a:xfrm>
            <a:off x="960120" y="426110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INVESTMENT INCOME LIMIT · $12,200</a:t>
            </a:r>
            <a:endParaRPr lang="en-US" sz="1100" dirty="0"/>
          </a:p>
        </p:txBody>
      </p:sp>
      <p:sp>
        <p:nvSpPr>
          <p:cNvPr id="29" name="Text 27"/>
          <p:cNvSpPr txBox="1"/>
          <p:nvPr/>
        </p:nvSpPr>
        <p:spPr>
          <a:xfrm>
            <a:off x="960120" y="4517136"/>
            <a:ext cx="10271455" cy="261239"/>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Exceed it by any amount and the credit is disallowed entirely. Check it before you promise anything.</a:t>
            </a:r>
            <a:endParaRPr lang="en-US" sz="1450" dirty="0"/>
          </a:p>
        </p:txBody>
      </p:sp>
      <p:sp>
        <p:nvSpPr>
          <p:cNvPr id="30" name="Text 28"/>
          <p:cNvSpPr txBox="1"/>
          <p:nvPr/>
        </p:nvSpPr>
        <p:spPr>
          <a:xfrm>
            <a:off x="685800" y="5257800"/>
            <a:ext cx="10820095" cy="365760"/>
          </a:xfrm>
          <a:prstGeom prst="rect">
            <a:avLst/>
          </a:prstGeom>
          <a:noFill/>
          <a:ln/>
        </p:spPr>
        <p:txBody>
          <a:bodyPr wrap="square" lIns="0" tIns="0" rIns="0" bIns="0" rtlCol="0" anchor="ctr"/>
          <a:lstStyle/>
          <a:p>
            <a:pPr indent="0" marL="0">
              <a:buNone/>
            </a:pPr>
            <a:r>
              <a:rPr lang="en-US" sz="1350" i="1" dirty="0">
                <a:solidFill>
                  <a:srgbClr val="5B6577"/>
                </a:solidFill>
                <a:latin typeface="Calibri" pitchFamily="34" charset="0"/>
                <a:ea typeface="Calibri" pitchFamily="34" charset="-122"/>
                <a:cs typeface="Calibri" pitchFamily="34" charset="-120"/>
              </a:rPr>
              <a:t>These figures change every year. Confirm them against the IRS revenue procedure each October.</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When two people claim the same child</a:t>
            </a:r>
            <a:endParaRPr lang="en-US" sz="3000" dirty="0"/>
          </a:p>
        </p:txBody>
      </p:sp>
      <p:sp>
        <p:nvSpPr>
          <p:cNvPr id="4" name="Shape 2"/>
          <p:cNvSpPr/>
          <p:nvPr/>
        </p:nvSpPr>
        <p:spPr>
          <a:xfrm>
            <a:off x="685800" y="1819656"/>
            <a:ext cx="402336" cy="402336"/>
          </a:xfrm>
          <a:prstGeom prst="ellipse">
            <a:avLst/>
          </a:prstGeom>
          <a:solidFill>
            <a:srgbClr val="D8B038"/>
          </a:solidFill>
          <a:ln/>
        </p:spPr>
      </p:sp>
      <p:sp>
        <p:nvSpPr>
          <p:cNvPr id="5" name="Text 3"/>
          <p:cNvSpPr txBox="1"/>
          <p:nvPr/>
        </p:nvSpPr>
        <p:spPr>
          <a:xfrm>
            <a:off x="685800" y="181965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783080"/>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A parent beats a non-parent</a:t>
            </a:r>
            <a:endParaRPr lang="en-US" sz="1650" dirty="0"/>
          </a:p>
        </p:txBody>
      </p:sp>
      <p:sp>
        <p:nvSpPr>
          <p:cNvPr id="7" name="Shape 5"/>
          <p:cNvSpPr/>
          <p:nvPr/>
        </p:nvSpPr>
        <p:spPr>
          <a:xfrm>
            <a:off x="685800" y="2532888"/>
            <a:ext cx="402336" cy="402336"/>
          </a:xfrm>
          <a:prstGeom prst="ellipse">
            <a:avLst/>
          </a:prstGeom>
          <a:solidFill>
            <a:srgbClr val="D8B038"/>
          </a:solidFill>
          <a:ln/>
        </p:spPr>
      </p:sp>
      <p:sp>
        <p:nvSpPr>
          <p:cNvPr id="8" name="Text 6"/>
          <p:cNvSpPr txBox="1"/>
          <p:nvPr/>
        </p:nvSpPr>
        <p:spPr>
          <a:xfrm>
            <a:off x="685800" y="2532888"/>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9" name="Text 7"/>
          <p:cNvSpPr txBox="1"/>
          <p:nvPr/>
        </p:nvSpPr>
        <p:spPr>
          <a:xfrm>
            <a:off x="1289304" y="2496312"/>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Between two parents — whoever the child lived with for MORE NIGHTS</a:t>
            </a:r>
            <a:endParaRPr lang="en-US" sz="1650" dirty="0"/>
          </a:p>
        </p:txBody>
      </p:sp>
      <p:sp>
        <p:nvSpPr>
          <p:cNvPr id="10" name="Shape 8"/>
          <p:cNvSpPr/>
          <p:nvPr/>
        </p:nvSpPr>
        <p:spPr>
          <a:xfrm>
            <a:off x="685800" y="3246120"/>
            <a:ext cx="402336" cy="402336"/>
          </a:xfrm>
          <a:prstGeom prst="ellipse">
            <a:avLst/>
          </a:prstGeom>
          <a:solidFill>
            <a:srgbClr val="D8B038"/>
          </a:solidFill>
          <a:ln/>
        </p:spPr>
      </p:sp>
      <p:sp>
        <p:nvSpPr>
          <p:cNvPr id="11" name="Text 9"/>
          <p:cNvSpPr txBox="1"/>
          <p:nvPr/>
        </p:nvSpPr>
        <p:spPr>
          <a:xfrm>
            <a:off x="685800" y="3246120"/>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2" name="Text 10"/>
          <p:cNvSpPr txBox="1"/>
          <p:nvPr/>
        </p:nvSpPr>
        <p:spPr>
          <a:xfrm>
            <a:off x="1289304" y="3209544"/>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If the nights are equal — the parent with the higher income</a:t>
            </a:r>
            <a:endParaRPr lang="en-US" sz="1650" dirty="0"/>
          </a:p>
        </p:txBody>
      </p:sp>
      <p:sp>
        <p:nvSpPr>
          <p:cNvPr id="13" name="Shape 11"/>
          <p:cNvSpPr/>
          <p:nvPr/>
        </p:nvSpPr>
        <p:spPr>
          <a:xfrm>
            <a:off x="685800" y="3959352"/>
            <a:ext cx="402336" cy="402336"/>
          </a:xfrm>
          <a:prstGeom prst="ellipse">
            <a:avLst/>
          </a:prstGeom>
          <a:solidFill>
            <a:srgbClr val="D8B038"/>
          </a:solidFill>
          <a:ln/>
        </p:spPr>
      </p:sp>
      <p:sp>
        <p:nvSpPr>
          <p:cNvPr id="14" name="Text 12"/>
          <p:cNvSpPr txBox="1"/>
          <p:nvPr/>
        </p:nvSpPr>
        <p:spPr>
          <a:xfrm>
            <a:off x="685800" y="395935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4</a:t>
            </a:r>
            <a:endParaRPr lang="en-US" sz="1500" dirty="0"/>
          </a:p>
        </p:txBody>
      </p:sp>
      <p:sp>
        <p:nvSpPr>
          <p:cNvPr id="15" name="Text 13"/>
          <p:cNvSpPr txBox="1"/>
          <p:nvPr/>
        </p:nvSpPr>
        <p:spPr>
          <a:xfrm>
            <a:off x="1289304" y="3922776"/>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If neither is a parent — the higher income, provided it beats any parent who could have claimed</a:t>
            </a:r>
            <a:endParaRPr lang="en-US" sz="1650" dirty="0"/>
          </a:p>
        </p:txBody>
      </p:sp>
      <p:sp>
        <p:nvSpPr>
          <p:cNvPr id="16" name="Shape 14"/>
          <p:cNvSpPr/>
          <p:nvPr/>
        </p:nvSpPr>
        <p:spPr>
          <a:xfrm>
            <a:off x="685800" y="4754880"/>
            <a:ext cx="10820095" cy="1125982"/>
          </a:xfrm>
          <a:prstGeom prst="roundRect">
            <a:avLst>
              <a:gd name="adj" fmla="val 9745"/>
            </a:avLst>
          </a:prstGeom>
          <a:solidFill>
            <a:srgbClr val="FAF2D6"/>
          </a:solidFill>
          <a:ln/>
        </p:spPr>
      </p:sp>
      <p:sp>
        <p:nvSpPr>
          <p:cNvPr id="17" name="Text 15"/>
          <p:cNvSpPr txBox="1"/>
          <p:nvPr/>
        </p:nvSpPr>
        <p:spPr>
          <a:xfrm>
            <a:off x="960120" y="490118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WHAT ACTUALLY HAPPENS AT THE DESK</a:t>
            </a:r>
            <a:endParaRPr lang="en-US" sz="1100" dirty="0"/>
          </a:p>
        </p:txBody>
      </p:sp>
      <p:sp>
        <p:nvSpPr>
          <p:cNvPr id="18" name="Text 16"/>
          <p:cNvSpPr txBox="1"/>
          <p:nvPr/>
        </p:nvSpPr>
        <p:spPr>
          <a:xfrm>
            <a:off x="960120" y="515721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If the other parent has already filed, your client's return will reject. That is a conversation, not a software problem — and Module 7 gives you the words for it.</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Your four due-diligence duties</a:t>
            </a:r>
            <a:endParaRPr lang="en-US" sz="3000" dirty="0"/>
          </a:p>
        </p:txBody>
      </p:sp>
      <p:sp>
        <p:nvSpPr>
          <p:cNvPr id="4" name="Shape 2"/>
          <p:cNvSpPr/>
          <p:nvPr/>
        </p:nvSpPr>
        <p:spPr>
          <a:xfrm>
            <a:off x="685800" y="1636776"/>
            <a:ext cx="402336" cy="402336"/>
          </a:xfrm>
          <a:prstGeom prst="ellipse">
            <a:avLst/>
          </a:prstGeom>
          <a:solidFill>
            <a:srgbClr val="D8B038"/>
          </a:solidFill>
          <a:ln/>
        </p:spPr>
      </p:sp>
      <p:sp>
        <p:nvSpPr>
          <p:cNvPr id="5" name="Text 3"/>
          <p:cNvSpPr txBox="1"/>
          <p:nvPr/>
        </p:nvSpPr>
        <p:spPr>
          <a:xfrm>
            <a:off x="685800" y="1636776"/>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1289304" y="1600200"/>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Complete and file Form 8867</a:t>
            </a:r>
            <a:endParaRPr lang="en-US" sz="1650" dirty="0"/>
          </a:p>
        </p:txBody>
      </p:sp>
      <p:sp>
        <p:nvSpPr>
          <p:cNvPr id="7" name="Text 5"/>
          <p:cNvSpPr txBox="1"/>
          <p:nvPr/>
        </p:nvSpPr>
        <p:spPr>
          <a:xfrm>
            <a:off x="1289304" y="1901952"/>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With the return. Every time.</a:t>
            </a:r>
            <a:endParaRPr lang="en-US" sz="1350" dirty="0"/>
          </a:p>
        </p:txBody>
      </p:sp>
      <p:sp>
        <p:nvSpPr>
          <p:cNvPr id="8" name="Shape 6"/>
          <p:cNvSpPr/>
          <p:nvPr/>
        </p:nvSpPr>
        <p:spPr>
          <a:xfrm>
            <a:off x="685800" y="2569464"/>
            <a:ext cx="402336" cy="402336"/>
          </a:xfrm>
          <a:prstGeom prst="ellipse">
            <a:avLst/>
          </a:prstGeom>
          <a:solidFill>
            <a:srgbClr val="D8B038"/>
          </a:solidFill>
          <a:ln/>
        </p:spPr>
      </p:sp>
      <p:sp>
        <p:nvSpPr>
          <p:cNvPr id="9" name="Text 7"/>
          <p:cNvSpPr txBox="1"/>
          <p:nvPr/>
        </p:nvSpPr>
        <p:spPr>
          <a:xfrm>
            <a:off x="685800" y="2569464"/>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1289304" y="2532888"/>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Compute the credit using the worksheets</a:t>
            </a:r>
            <a:endParaRPr lang="en-US" sz="1650" dirty="0"/>
          </a:p>
        </p:txBody>
      </p:sp>
      <p:sp>
        <p:nvSpPr>
          <p:cNvPr id="11" name="Text 9"/>
          <p:cNvSpPr txBox="1"/>
          <p:nvPr/>
        </p:nvSpPr>
        <p:spPr>
          <a:xfrm>
            <a:off x="1289304" y="2834640"/>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And keep them.</a:t>
            </a:r>
            <a:endParaRPr lang="en-US" sz="1350" dirty="0"/>
          </a:p>
        </p:txBody>
      </p:sp>
      <p:sp>
        <p:nvSpPr>
          <p:cNvPr id="12" name="Shape 10"/>
          <p:cNvSpPr/>
          <p:nvPr/>
        </p:nvSpPr>
        <p:spPr>
          <a:xfrm>
            <a:off x="685800" y="3502152"/>
            <a:ext cx="402336" cy="402336"/>
          </a:xfrm>
          <a:prstGeom prst="ellipse">
            <a:avLst/>
          </a:prstGeom>
          <a:solidFill>
            <a:srgbClr val="D8B038"/>
          </a:solidFill>
          <a:ln/>
        </p:spPr>
      </p:sp>
      <p:sp>
        <p:nvSpPr>
          <p:cNvPr id="13" name="Text 11"/>
          <p:cNvSpPr txBox="1"/>
          <p:nvPr/>
        </p:nvSpPr>
        <p:spPr>
          <a:xfrm>
            <a:off x="685800" y="3502152"/>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289304" y="3465576"/>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Knowledge — ask when something does not add up</a:t>
            </a:r>
            <a:endParaRPr lang="en-US" sz="1650" dirty="0"/>
          </a:p>
        </p:txBody>
      </p:sp>
      <p:sp>
        <p:nvSpPr>
          <p:cNvPr id="15" name="Text 13"/>
          <p:cNvSpPr txBox="1"/>
          <p:nvPr/>
        </p:nvSpPr>
        <p:spPr>
          <a:xfrm>
            <a:off x="1289304" y="3767328"/>
            <a:ext cx="9912096" cy="457200"/>
          </a:xfrm>
          <a:prstGeom prst="rect">
            <a:avLst/>
          </a:prstGeom>
          <a:noFill/>
          <a:ln/>
        </p:spPr>
        <p:txBody>
          <a:bodyPr wrap="square" lIns="0" tIns="0" rIns="0" bIns="0" rtlCol="0" anchor="t"/>
          <a:lstStyle/>
          <a:p>
            <a:pPr indent="0" marL="0">
              <a:buNone/>
            </a:pPr>
            <a:r>
              <a:rPr lang="en-US" sz="1350" dirty="0">
                <a:solidFill>
                  <a:srgbClr val="5B6577"/>
                </a:solidFill>
                <a:latin typeface="Calibri" pitchFamily="34" charset="0"/>
                <a:ea typeface="Calibri" pitchFamily="34" charset="-122"/>
                <a:cs typeface="Calibri" pitchFamily="34" charset="-120"/>
              </a:rPr>
              <a:t>You may not rely on information you know, or should know, is wrong, inconsistent or incomplete. Make reasonable inquiries and WRITE DOWN what you asked and what they said.</a:t>
            </a:r>
            <a:endParaRPr lang="en-US" sz="1350" dirty="0"/>
          </a:p>
        </p:txBody>
      </p:sp>
      <p:sp>
        <p:nvSpPr>
          <p:cNvPr id="16" name="Shape 14"/>
          <p:cNvSpPr/>
          <p:nvPr/>
        </p:nvSpPr>
        <p:spPr>
          <a:xfrm>
            <a:off x="685800" y="4434840"/>
            <a:ext cx="402336" cy="402336"/>
          </a:xfrm>
          <a:prstGeom prst="ellipse">
            <a:avLst/>
          </a:prstGeom>
          <a:solidFill>
            <a:srgbClr val="D8B038"/>
          </a:solidFill>
          <a:ln/>
        </p:spPr>
      </p:sp>
      <p:sp>
        <p:nvSpPr>
          <p:cNvPr id="17" name="Text 15"/>
          <p:cNvSpPr txBox="1"/>
          <p:nvPr/>
        </p:nvSpPr>
        <p:spPr>
          <a:xfrm>
            <a:off x="685800" y="4434840"/>
            <a:ext cx="402336" cy="402336"/>
          </a:xfrm>
          <a:prstGeom prst="rect">
            <a:avLst/>
          </a:prstGeom>
          <a:noFill/>
          <a:ln/>
        </p:spPr>
        <p:txBody>
          <a:bodyPr wrap="square" lIns="0" tIns="0" rIns="0" bIns="0" rtlCol="0" anchor="ctr"/>
          <a:lstStyle/>
          <a:p>
            <a:pPr algn="ctr" indent="0" marL="0">
              <a:buNone/>
            </a:pPr>
            <a:r>
              <a:rPr lang="en-US" sz="1500" b="1" dirty="0">
                <a:solidFill>
                  <a:srgbClr val="081840"/>
                </a:solidFill>
                <a:latin typeface="Arial" pitchFamily="34" charset="0"/>
                <a:ea typeface="Arial" pitchFamily="34" charset="-122"/>
                <a:cs typeface="Arial" pitchFamily="34" charset="-120"/>
              </a:rPr>
              <a:t>4</a:t>
            </a:r>
            <a:endParaRPr lang="en-US" sz="1500" dirty="0"/>
          </a:p>
        </p:txBody>
      </p:sp>
      <p:sp>
        <p:nvSpPr>
          <p:cNvPr id="18" name="Text 16"/>
          <p:cNvSpPr txBox="1"/>
          <p:nvPr/>
        </p:nvSpPr>
        <p:spPr>
          <a:xfrm>
            <a:off x="1289304" y="4398264"/>
            <a:ext cx="9912096" cy="292608"/>
          </a:xfrm>
          <a:prstGeom prst="rect">
            <a:avLst/>
          </a:prstGeom>
          <a:noFill/>
          <a:ln/>
        </p:spPr>
        <p:txBody>
          <a:bodyPr wrap="square" lIns="0" tIns="0" rIns="0" bIns="0" rtlCol="0" anchor="ctr"/>
          <a:lstStyle/>
          <a:p>
            <a:pPr indent="0" marL="0">
              <a:buNone/>
            </a:pPr>
            <a:r>
              <a:rPr lang="en-US" sz="1650" b="1" dirty="0">
                <a:solidFill>
                  <a:srgbClr val="081840"/>
                </a:solidFill>
                <a:latin typeface="Arial" pitchFamily="34" charset="0"/>
                <a:ea typeface="Arial" pitchFamily="34" charset="-122"/>
                <a:cs typeface="Arial" pitchFamily="34" charset="-120"/>
              </a:rPr>
              <a:t>Keep the records for three years</a:t>
            </a:r>
            <a:endParaRPr lang="en-US" sz="1650" dirty="0"/>
          </a:p>
        </p:txBody>
      </p:sp>
      <p:sp>
        <p:nvSpPr>
          <p:cNvPr id="19" name="Shape 17"/>
          <p:cNvSpPr/>
          <p:nvPr/>
        </p:nvSpPr>
        <p:spPr>
          <a:xfrm>
            <a:off x="685800" y="5120640"/>
            <a:ext cx="10820095" cy="901319"/>
          </a:xfrm>
          <a:prstGeom prst="roundRect">
            <a:avLst>
              <a:gd name="adj" fmla="val 12174"/>
            </a:avLst>
          </a:prstGeom>
          <a:solidFill>
            <a:srgbClr val="FBEEEA"/>
          </a:solidFill>
          <a:ln/>
        </p:spPr>
      </p:sp>
      <p:sp>
        <p:nvSpPr>
          <p:cNvPr id="20" name="Text 18"/>
          <p:cNvSpPr txBox="1"/>
          <p:nvPr/>
        </p:nvSpPr>
        <p:spPr>
          <a:xfrm>
            <a:off x="960120" y="526694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NUMBER 3 IS WHERE PREPARERS ACTUALLY GET CAUGHT</a:t>
            </a:r>
            <a:endParaRPr lang="en-US" sz="1100" dirty="0"/>
          </a:p>
        </p:txBody>
      </p:sp>
      <p:sp>
        <p:nvSpPr>
          <p:cNvPr id="21" name="Text 19"/>
          <p:cNvSpPr txBox="1"/>
          <p:nvPr/>
        </p:nvSpPr>
        <p:spPr>
          <a:xfrm>
            <a:off x="960120" y="5522976"/>
            <a:ext cx="10271455" cy="261239"/>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The test is simple: does this story hold together?</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1 OF 4 · SHARED CUSTODY</a:t>
            </a:r>
            <a:endParaRPr lang="en-US" sz="1150" dirty="0"/>
          </a:p>
        </p:txBody>
      </p:sp>
      <p:sp>
        <p:nvSpPr>
          <p:cNvPr id="3" name="Shape 1"/>
          <p:cNvSpPr/>
          <p:nvPr/>
        </p:nvSpPr>
        <p:spPr>
          <a:xfrm>
            <a:off x="685800" y="868680"/>
            <a:ext cx="5181448" cy="4441698"/>
          </a:xfrm>
          <a:prstGeom prst="roundRect">
            <a:avLst>
              <a:gd name="adj" fmla="val 2470"/>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5887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Keisha and Terrance aren't married and share custody of their daughter.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In 2026 she stayed with Keisha for seven months and Terrance for five. Both want to claim her.</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Terrance earns $48,000. Keisha earns $22,000.</a:t>
            </a:r>
            <a:endParaRPr lang="en-US" sz="1600" dirty="0"/>
          </a:p>
        </p:txBody>
      </p:sp>
      <p:sp>
        <p:nvSpPr>
          <p:cNvPr id="6" name="Shape 4"/>
          <p:cNvSpPr/>
          <p:nvPr/>
        </p:nvSpPr>
        <p:spPr>
          <a:xfrm>
            <a:off x="6324448" y="868680"/>
            <a:ext cx="5181448" cy="4441698"/>
          </a:xfrm>
          <a:prstGeom prst="roundRect">
            <a:avLst>
              <a:gd name="adj" fmla="val 2470"/>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Keisha.</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Both are parents, so we go to the second rule: nights. The daughter lived with Keisha longer, so Keisha claims.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Income is irrelevant here — it only matters if the nights are equal.</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509778"/>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Jumping to income because it is the easier number to get hold of.</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2 OF 4 · THE 19-YEAR-OLD</a:t>
            </a:r>
            <a:endParaRPr lang="en-US" sz="1150" dirty="0"/>
          </a:p>
        </p:txBody>
      </p:sp>
      <p:sp>
        <p:nvSpPr>
          <p:cNvPr id="3" name="Shape 1"/>
          <p:cNvSpPr/>
          <p:nvPr/>
        </p:nvSpPr>
        <p:spPr>
          <a:xfrm>
            <a:off x="685800" y="868680"/>
            <a:ext cx="5181448" cy="5208651"/>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34924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Carl's son turned 19 in March 2026 and lived at home all year, working part time for $6,200.</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Can Carl claim him for EITC?</a:t>
            </a:r>
            <a:endParaRPr lang="en-US" sz="1600" dirty="0"/>
          </a:p>
        </p:txBody>
      </p:sp>
      <p:sp>
        <p:nvSpPr>
          <p:cNvPr id="6" name="Shape 4"/>
          <p:cNvSpPr/>
          <p:nvPr/>
        </p:nvSpPr>
        <p:spPr>
          <a:xfrm>
            <a:off x="6324448" y="868680"/>
            <a:ext cx="5181448" cy="5208651"/>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898648"/>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It depends entirely on one question you must ask:</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Was he a FULL-TIME STUDENT for at least five months of the year?</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yes — under 24, a student, younger than Carl. Age test passes.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no — he is 19 and not a student. Age test fails. Not a qualifying child.</a:t>
            </a:r>
            <a:endParaRPr lang="en-US" sz="1500" dirty="0"/>
          </a:p>
        </p:txBody>
      </p:sp>
      <p:sp>
        <p:nvSpPr>
          <p:cNvPr id="9" name="Text 7"/>
          <p:cNvSpPr txBox="1"/>
          <p:nvPr/>
        </p:nvSpPr>
        <p:spPr>
          <a:xfrm>
            <a:off x="6644488" y="4718304"/>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992624"/>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Not asking at all. This single question is worth thousands of dollars — ask it, record the answer, and ask to see the enrolment letter.</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3 OF 4 · FIVE MONTHS</a:t>
            </a:r>
            <a:endParaRPr lang="en-US" sz="1150" dirty="0"/>
          </a:p>
        </p:txBody>
      </p:sp>
      <p:sp>
        <p:nvSpPr>
          <p:cNvPr id="3" name="Shape 1"/>
          <p:cNvSpPr/>
          <p:nvPr/>
        </p:nvSpPr>
        <p:spPr>
          <a:xfrm>
            <a:off x="685800" y="868680"/>
            <a:ext cx="5181448" cy="4650867"/>
          </a:xfrm>
          <a:prstGeom prst="roundRect">
            <a:avLst>
              <a:gd name="adj" fmla="val 2359"/>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03936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Yolanda's nephew came to live with her in August 2026 when his mother became unwell, and was still there at the end of the year.</a:t>
            </a:r>
            <a:endParaRPr lang="en-US" sz="1600" dirty="0"/>
          </a:p>
        </p:txBody>
      </p:sp>
      <p:sp>
        <p:nvSpPr>
          <p:cNvPr id="6" name="Shape 4"/>
          <p:cNvSpPr/>
          <p:nvPr/>
        </p:nvSpPr>
        <p:spPr>
          <a:xfrm>
            <a:off x="6324448" y="868680"/>
            <a:ext cx="5181448" cy="4650867"/>
          </a:xfrm>
          <a:prstGeom prst="roundRect">
            <a:avLst>
              <a:gd name="adj" fmla="val 2359"/>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340864"/>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No EITC on the nephew for 2026.</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nephew passes the relationship test. But August to December is five months, and the test is MORE THAN HALF THE YEAR. Residency fails.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He may well qualify next year. This year he does not.</a:t>
            </a:r>
            <a:endParaRPr lang="en-US" sz="1500" dirty="0"/>
          </a:p>
        </p:txBody>
      </p:sp>
      <p:sp>
        <p:nvSpPr>
          <p:cNvPr id="9" name="Text 7"/>
          <p:cNvSpPr txBox="1"/>
          <p:nvPr/>
        </p:nvSpPr>
        <p:spPr>
          <a:xfrm>
            <a:off x="6644488" y="4160520"/>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434840"/>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Rounding months up to get over the line. More than half the year means more than six months. Write down the month he arrived.</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3 · SCENARIO 4 OF 4 · THE STORY THAT DOES NOT HOLD</a:t>
            </a:r>
            <a:endParaRPr lang="en-US" sz="1150" dirty="0"/>
          </a:p>
        </p:txBody>
      </p:sp>
      <p:sp>
        <p:nvSpPr>
          <p:cNvPr id="3" name="Shape 1"/>
          <p:cNvSpPr/>
          <p:nvPr/>
        </p:nvSpPr>
        <p:spPr>
          <a:xfrm>
            <a:off x="685800" y="868680"/>
            <a:ext cx="5181448" cy="5440680"/>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196900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 new client reports $13,800 of cash income from house cleaning, no expenses at all, and two qualifying children.</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The figure lands right where the credit peaks. She has no records of any kind.</a:t>
            </a:r>
            <a:endParaRPr lang="en-US" sz="1600" dirty="0"/>
          </a:p>
        </p:txBody>
      </p:sp>
      <p:sp>
        <p:nvSpPr>
          <p:cNvPr id="6" name="Shape 4"/>
          <p:cNvSpPr/>
          <p:nvPr/>
        </p:nvSpPr>
        <p:spPr>
          <a:xfrm>
            <a:off x="6324448" y="868680"/>
            <a:ext cx="5181448" cy="5440680"/>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3177540"/>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Ask, document — and be ready to decline.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 cleaning business with zero expenses isn't consistent with how that work is done. There are always supplies, and usually travel.</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Ask: how many clients, how often, what do you buy, how do you travel, how did you arrive at that figure? Record the answers.</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If they are not credible, you do not sign it.</a:t>
            </a:r>
            <a:endParaRPr lang="en-US" sz="1500" dirty="0"/>
          </a:p>
        </p:txBody>
      </p:sp>
      <p:sp>
        <p:nvSpPr>
          <p:cNvPr id="9" name="Text 7"/>
          <p:cNvSpPr txBox="1"/>
          <p:nvPr/>
        </p:nvSpPr>
        <p:spPr>
          <a:xfrm>
            <a:off x="6644488" y="4997196"/>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5271516"/>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This exact pattern is the most common EITC penalty case there is. If they remember one scenario, make it this one.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3 · THE EITC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Notes that hold up two years later</a:t>
            </a:r>
            <a:endParaRPr lang="en-US" sz="3000" dirty="0"/>
          </a:p>
        </p:txBody>
      </p:sp>
      <p:sp>
        <p:nvSpPr>
          <p:cNvPr id="4" name="Shape 2"/>
          <p:cNvSpPr/>
          <p:nvPr/>
        </p:nvSpPr>
        <p:spPr>
          <a:xfrm>
            <a:off x="685800" y="1737360"/>
            <a:ext cx="10820095" cy="1737360"/>
          </a:xfrm>
          <a:prstGeom prst="roundRect">
            <a:avLst>
              <a:gd name="adj" fmla="val 6316"/>
            </a:avLst>
          </a:prstGeom>
          <a:solidFill>
            <a:srgbClr val="F2F5FA"/>
          </a:solidFill>
          <a:ln/>
          <a:effectLst>
            <a:outerShdw sx="100000" sy="100000" kx="0" ky="0" algn="bl" rotWithShape="0" blurRad="177800" dist="50800" dir="5400000">
              <a:srgbClr val="081840">
                <a:alpha val="10000"/>
              </a:srgbClr>
            </a:outerShdw>
          </a:effectLst>
        </p:spPr>
      </p:sp>
      <p:sp>
        <p:nvSpPr>
          <p:cNvPr id="5" name="Text 3"/>
          <p:cNvSpPr txBox="1"/>
          <p:nvPr/>
        </p:nvSpPr>
        <p:spPr>
          <a:xfrm>
            <a:off x="1143000" y="2011680"/>
            <a:ext cx="9905695" cy="1188720"/>
          </a:xfrm>
          <a:prstGeom prst="rect">
            <a:avLst/>
          </a:prstGeom>
          <a:noFill/>
          <a:ln/>
        </p:spPr>
        <p:txBody>
          <a:bodyPr wrap="square" lIns="0" tIns="0" rIns="0" bIns="0" rtlCol="0" anchor="t"/>
          <a:lstStyle/>
          <a:p>
            <a:pPr indent="0" marL="0">
              <a:lnSpc>
                <a:spcPct val="125000"/>
              </a:lnSpc>
              <a:buNone/>
            </a:pPr>
            <a:r>
              <a:rPr lang="en-US" sz="1900" i="1" dirty="0">
                <a:solidFill>
                  <a:srgbClr val="081840"/>
                </a:solidFill>
                <a:latin typeface="Calibri" pitchFamily="34" charset="0"/>
                <a:ea typeface="Calibri" pitchFamily="34" charset="-122"/>
                <a:cs typeface="Calibri" pitchFamily="34" charset="-120"/>
              </a:rPr>
              <a:t>“14 Feb — asked how many months D. lived with client in 2026. Client said Jan–Aug. Produced school enrolment letter showing client's address. Copy kept.”</a:t>
            </a:r>
            <a:endParaRPr lang="en-US" sz="1900" dirty="0"/>
          </a:p>
        </p:txBody>
      </p:sp>
      <p:sp>
        <p:nvSpPr>
          <p:cNvPr id="6" name="Text 4"/>
          <p:cNvSpPr txBox="1"/>
          <p:nvPr/>
        </p:nvSpPr>
        <p:spPr>
          <a:xfrm>
            <a:off x="685800" y="3749040"/>
            <a:ext cx="10820095" cy="365760"/>
          </a:xfrm>
          <a:prstGeom prst="rect">
            <a:avLst/>
          </a:prstGeom>
          <a:noFill/>
          <a:ln/>
        </p:spPr>
        <p:txBody>
          <a:bodyPr wrap="square" lIns="0" tIns="0" rIns="0" bIns="0" rtlCol="0" anchor="ctr"/>
          <a:lstStyle/>
          <a:p>
            <a:pPr indent="0" marL="0">
              <a:buNone/>
            </a:pPr>
            <a:r>
              <a:rPr lang="en-US" sz="1900" b="1" dirty="0">
                <a:solidFill>
                  <a:srgbClr val="9A7020"/>
                </a:solidFill>
                <a:latin typeface="Arial" pitchFamily="34" charset="0"/>
                <a:ea typeface="Arial" pitchFamily="34" charset="-122"/>
                <a:cs typeface="Arial" pitchFamily="34" charset="-120"/>
              </a:rPr>
              <a:t>Fifteen seconds to write. Settles the whole question later.</a:t>
            </a:r>
            <a:endParaRPr lang="en-US" sz="1900" dirty="0"/>
          </a:p>
        </p:txBody>
      </p:sp>
      <p:sp>
        <p:nvSpPr>
          <p:cNvPr id="7" name="Text 5"/>
          <p:cNvSpPr txBox="1"/>
          <p:nvPr/>
        </p:nvSpPr>
        <p:spPr>
          <a:xfrm>
            <a:off x="685800" y="4251960"/>
            <a:ext cx="8229600" cy="914400"/>
          </a:xfrm>
          <a:prstGeom prst="rect">
            <a:avLst/>
          </a:prstGeom>
          <a:noFill/>
          <a:ln/>
        </p:spPr>
        <p:txBody>
          <a:bodyPr wrap="square" lIns="0" tIns="0" rIns="0" bIns="0" rtlCol="0" anchor="t"/>
          <a:lstStyle/>
          <a:p>
            <a:pPr indent="0" marL="0">
              <a:lnSpc>
                <a:spcPct val="125000"/>
              </a:lnSpc>
              <a:buNone/>
            </a:pPr>
            <a:r>
              <a:rPr lang="en-US" sz="1550" dirty="0">
                <a:solidFill>
                  <a:srgbClr val="2B3448"/>
                </a:solidFill>
                <a:latin typeface="Calibri" pitchFamily="34" charset="0"/>
                <a:ea typeface="Calibri" pitchFamily="34" charset="-122"/>
                <a:cs typeface="Calibri" pitchFamily="34" charset="-120"/>
              </a:rPr>
              <a:t>Two years from now you will not remember this client. Your note has to. Date it, name who you asked, record what they said, and note what they produced.</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4</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4</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Side Hustles and Schedule C</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Rideshare, hair, cleaning, resale, contracting. A growing share of our clients, and where the EITC and self-employment tax collide.</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6 · MID-POINT REVIEW</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4 · SCHEDULE 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form the money arrived on decides nothing</a:t>
            </a:r>
            <a:endParaRPr lang="en-US" sz="3000" dirty="0"/>
          </a:p>
        </p:txBody>
      </p:sp>
      <p:sp>
        <p:nvSpPr>
          <p:cNvPr id="4" name="Shape 2"/>
          <p:cNvSpPr/>
          <p:nvPr/>
        </p:nvSpPr>
        <p:spPr>
          <a:xfrm>
            <a:off x="685800" y="1737360"/>
            <a:ext cx="10820095" cy="1463040"/>
          </a:xfrm>
          <a:prstGeom prst="roundRect">
            <a:avLst>
              <a:gd name="adj" fmla="val 7500"/>
            </a:avLst>
          </a:prstGeom>
          <a:solidFill>
            <a:srgbClr val="081840"/>
          </a:solidFill>
          <a:ln/>
        </p:spPr>
      </p:sp>
      <p:sp>
        <p:nvSpPr>
          <p:cNvPr id="5" name="Text 3"/>
          <p:cNvSpPr txBox="1"/>
          <p:nvPr/>
        </p:nvSpPr>
        <p:spPr>
          <a:xfrm>
            <a:off x="1143000" y="2011680"/>
            <a:ext cx="9905695" cy="457200"/>
          </a:xfrm>
          <a:prstGeom prst="rect">
            <a:avLst/>
          </a:prstGeom>
          <a:noFill/>
          <a:ln/>
        </p:spPr>
        <p:txBody>
          <a:bodyPr wrap="square" lIns="0" tIns="0" rIns="0" bIns="0" rtlCol="0" anchor="ctr"/>
          <a:lstStyle/>
          <a:p>
            <a:pPr indent="0" marL="0">
              <a:buNone/>
            </a:pPr>
            <a:r>
              <a:rPr lang="en-US" sz="2100" b="1" dirty="0">
                <a:solidFill>
                  <a:srgbClr val="D8B038"/>
                </a:solidFill>
                <a:latin typeface="Arial" pitchFamily="34" charset="0"/>
                <a:ea typeface="Arial" pitchFamily="34" charset="-122"/>
                <a:cs typeface="Arial" pitchFamily="34" charset="-120"/>
              </a:rPr>
              <a:t>1099-NEC  ·  1099-K  ·  App payout  ·  Personal cheque  ·  Cash in an envelope</a:t>
            </a:r>
            <a:endParaRPr lang="en-US" sz="2100" dirty="0"/>
          </a:p>
        </p:txBody>
      </p:sp>
      <p:sp>
        <p:nvSpPr>
          <p:cNvPr id="6" name="Text 4"/>
          <p:cNvSpPr txBox="1"/>
          <p:nvPr/>
        </p:nvSpPr>
        <p:spPr>
          <a:xfrm>
            <a:off x="1143000" y="2542032"/>
            <a:ext cx="9905695" cy="365760"/>
          </a:xfrm>
          <a:prstGeom prst="rect">
            <a:avLst/>
          </a:prstGeom>
          <a:noFill/>
          <a:ln/>
        </p:spPr>
        <p:txBody>
          <a:bodyPr wrap="square" lIns="0" tIns="0" rIns="0" bIns="0" rtlCol="0" anchor="ctr"/>
          <a:lstStyle/>
          <a:p>
            <a:pPr indent="0" marL="0">
              <a:buNone/>
            </a:pPr>
            <a:r>
              <a:rPr lang="en-US" sz="1600" dirty="0">
                <a:solidFill>
                  <a:srgbClr val="C3CEE6"/>
                </a:solidFill>
                <a:latin typeface="Calibri" pitchFamily="34" charset="0"/>
                <a:ea typeface="Calibri" pitchFamily="34" charset="-122"/>
                <a:cs typeface="Calibri" pitchFamily="34" charset="-120"/>
              </a:rPr>
              <a:t>If the work was a business, it all lands on a Schedule C.</a:t>
            </a:r>
            <a:endParaRPr lang="en-US" sz="1600" dirty="0"/>
          </a:p>
        </p:txBody>
      </p:sp>
      <p:sp>
        <p:nvSpPr>
          <p:cNvPr id="7" name="Text 5"/>
          <p:cNvSpPr txBox="1"/>
          <p:nvPr/>
        </p:nvSpPr>
        <p:spPr>
          <a:xfrm>
            <a:off x="685800" y="3520440"/>
            <a:ext cx="10820095" cy="411480"/>
          </a:xfrm>
          <a:prstGeom prst="rect">
            <a:avLst/>
          </a:prstGeom>
          <a:noFill/>
          <a:ln/>
        </p:spPr>
        <p:txBody>
          <a:bodyPr wrap="square" lIns="0" tIns="0" rIns="0" bIns="0" rtlCol="0" anchor="ctr"/>
          <a:lstStyle/>
          <a:p>
            <a:pPr indent="0" marL="0">
              <a:buNone/>
            </a:pPr>
            <a:r>
              <a:rPr lang="en-US" sz="2200" b="1" dirty="0">
                <a:solidFill>
                  <a:srgbClr val="081840"/>
                </a:solidFill>
                <a:latin typeface="Arial" pitchFamily="34" charset="0"/>
                <a:ea typeface="Arial" pitchFamily="34" charset="-122"/>
                <a:cs typeface="Arial" pitchFamily="34" charset="-120"/>
              </a:rPr>
              <a:t>Cash income is reportable whether or not anyone issued a form.</a:t>
            </a:r>
            <a:endParaRPr lang="en-US" sz="2200" dirty="0"/>
          </a:p>
        </p:txBody>
      </p:sp>
      <p:sp>
        <p:nvSpPr>
          <p:cNvPr id="8" name="Text 6"/>
          <p:cNvSpPr txBox="1"/>
          <p:nvPr/>
        </p:nvSpPr>
        <p:spPr>
          <a:xfrm>
            <a:off x="685800" y="3977640"/>
            <a:ext cx="10820095" cy="365760"/>
          </a:xfrm>
          <a:prstGeom prst="rect">
            <a:avLst/>
          </a:prstGeom>
          <a:noFill/>
          <a:ln/>
        </p:spPr>
        <p:txBody>
          <a:bodyPr wrap="square" lIns="0" tIns="0" rIns="0" bIns="0" rtlCol="0" anchor="ctr"/>
          <a:lstStyle/>
          <a:p>
            <a:pPr indent="0" marL="0">
              <a:buNone/>
            </a:pPr>
            <a:r>
              <a:rPr lang="en-US" sz="1550" dirty="0">
                <a:solidFill>
                  <a:srgbClr val="5B6577"/>
                </a:solidFill>
                <a:latin typeface="Calibri" pitchFamily="34" charset="0"/>
                <a:ea typeface="Calibri" pitchFamily="34" charset="-122"/>
                <a:cs typeface="Calibri" pitchFamily="34" charset="-120"/>
              </a:rPr>
              <a:t>Clients often genuinely do not know this. Say it plainly and without judgement.</a:t>
            </a:r>
            <a:endParaRPr lang="en-US" sz="1550" dirty="0"/>
          </a:p>
        </p:txBody>
      </p:sp>
      <p:sp>
        <p:nvSpPr>
          <p:cNvPr id="9" name="Shape 7"/>
          <p:cNvSpPr/>
          <p:nvPr/>
        </p:nvSpPr>
        <p:spPr>
          <a:xfrm>
            <a:off x="685800" y="4572000"/>
            <a:ext cx="10820095" cy="1350645"/>
          </a:xfrm>
          <a:prstGeom prst="roundRect">
            <a:avLst>
              <a:gd name="adj" fmla="val 8124"/>
            </a:avLst>
          </a:prstGeom>
          <a:solidFill>
            <a:srgbClr val="FAF2D6"/>
          </a:solidFill>
          <a:ln/>
        </p:spPr>
      </p:sp>
      <p:sp>
        <p:nvSpPr>
          <p:cNvPr id="10" name="Text 8"/>
          <p:cNvSpPr txBox="1"/>
          <p:nvPr/>
        </p:nvSpPr>
        <p:spPr>
          <a:xfrm>
            <a:off x="960120" y="4718304"/>
            <a:ext cx="1027145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SELF-EMPLOYMENT TAX</a:t>
            </a:r>
            <a:endParaRPr lang="en-US" sz="1100" dirty="0"/>
          </a:p>
        </p:txBody>
      </p:sp>
      <p:sp>
        <p:nvSpPr>
          <p:cNvPr id="11" name="Text 9"/>
          <p:cNvSpPr txBox="1"/>
          <p:nvPr/>
        </p:nvSpPr>
        <p:spPr>
          <a:xfrm>
            <a:off x="960120" y="4974336"/>
            <a:ext cx="10271455" cy="710565"/>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Employees have Social Security and Medicare withheld and the employer matches it. The self-employed pay BOTH halves. A client who cleared $9,000 from a side hustle and expected a refund can end up owing — warn them, and start the estimated-payments conversation for next year.</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4 · SCHEDULE C</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Where Modules 3 and 4 collide</a:t>
            </a:r>
            <a:endParaRPr lang="en-US" sz="3000" dirty="0"/>
          </a:p>
        </p:txBody>
      </p:sp>
      <p:sp>
        <p:nvSpPr>
          <p:cNvPr id="4" name="Shape 2"/>
          <p:cNvSpPr/>
          <p:nvPr/>
        </p:nvSpPr>
        <p:spPr>
          <a:xfrm>
            <a:off x="685800" y="1691640"/>
            <a:ext cx="10820095" cy="1920240"/>
          </a:xfrm>
          <a:prstGeom prst="roundRect">
            <a:avLst>
              <a:gd name="adj" fmla="val 5714"/>
            </a:avLst>
          </a:prstGeom>
          <a:solidFill>
            <a:srgbClr val="FBEEEA"/>
          </a:solidFill>
          <a:ln/>
        </p:spPr>
      </p:sp>
      <p:sp>
        <p:nvSpPr>
          <p:cNvPr id="5" name="Text 3"/>
          <p:cNvSpPr txBox="1"/>
          <p:nvPr/>
        </p:nvSpPr>
        <p:spPr>
          <a:xfrm>
            <a:off x="1143000" y="1965960"/>
            <a:ext cx="9905695" cy="457200"/>
          </a:xfrm>
          <a:prstGeom prst="rect">
            <a:avLst/>
          </a:prstGeom>
          <a:noFill/>
          <a:ln/>
        </p:spPr>
        <p:txBody>
          <a:bodyPr wrap="square" lIns="0" tIns="0" rIns="0" bIns="0" rtlCol="0" anchor="ctr"/>
          <a:lstStyle/>
          <a:p>
            <a:pPr indent="0" marL="0">
              <a:buNone/>
            </a:pPr>
            <a:r>
              <a:rPr lang="en-US" sz="2500" b="1" dirty="0">
                <a:solidFill>
                  <a:srgbClr val="A8341C"/>
                </a:solidFill>
                <a:latin typeface="Arial" pitchFamily="34" charset="0"/>
                <a:ea typeface="Arial" pitchFamily="34" charset="-122"/>
                <a:cs typeface="Arial" pitchFamily="34" charset="-120"/>
              </a:rPr>
              <a:t>Claiming FEWER expenses can make a client's refund BIGGER.</a:t>
            </a:r>
            <a:endParaRPr lang="en-US" sz="2500" dirty="0"/>
          </a:p>
        </p:txBody>
      </p:sp>
      <p:sp>
        <p:nvSpPr>
          <p:cNvPr id="6" name="Text 4"/>
          <p:cNvSpPr txBox="1"/>
          <p:nvPr/>
        </p:nvSpPr>
        <p:spPr>
          <a:xfrm>
            <a:off x="1143000" y="2514600"/>
            <a:ext cx="9905695" cy="822960"/>
          </a:xfrm>
          <a:prstGeom prst="rect">
            <a:avLst/>
          </a:prstGeom>
          <a:noFill/>
          <a:ln/>
        </p:spPr>
        <p:txBody>
          <a:bodyPr wrap="square" lIns="0" tIns="0" rIns="0" bIns="0" rtlCol="0" anchor="t"/>
          <a:lstStyle/>
          <a:p>
            <a:pPr indent="0" marL="0">
              <a:lnSpc>
                <a:spcPct val="125000"/>
              </a:lnSpc>
              <a:buNone/>
            </a:pPr>
            <a:r>
              <a:rPr lang="en-US" sz="1600" dirty="0">
                <a:solidFill>
                  <a:srgbClr val="2B3448"/>
                </a:solidFill>
                <a:latin typeface="Calibri" pitchFamily="34" charset="0"/>
                <a:ea typeface="Calibri" pitchFamily="34" charset="-122"/>
                <a:cs typeface="Calibri" pitchFamily="34" charset="-120"/>
              </a:rPr>
              <a:t>Net self-employment profit is earned income for the EITC. Clients work this out. Some will ask you directly to leave expenses off.</a:t>
            </a:r>
            <a:endParaRPr lang="en-US" sz="1600" dirty="0"/>
          </a:p>
        </p:txBody>
      </p:sp>
      <p:sp>
        <p:nvSpPr>
          <p:cNvPr id="7" name="Text 5"/>
          <p:cNvSpPr txBox="1"/>
          <p:nvPr/>
        </p:nvSpPr>
        <p:spPr>
          <a:xfrm>
            <a:off x="685800" y="3886200"/>
            <a:ext cx="10820095" cy="457200"/>
          </a:xfrm>
          <a:prstGeom prst="rect">
            <a:avLst/>
          </a:prstGeom>
          <a:noFill/>
          <a:ln/>
        </p:spPr>
        <p:txBody>
          <a:bodyPr wrap="square" lIns="0" tIns="0" rIns="0" bIns="0" rtlCol="0" anchor="ctr"/>
          <a:lstStyle/>
          <a:p>
            <a:pPr indent="0" marL="0">
              <a:buNone/>
            </a:pPr>
            <a:r>
              <a:rPr lang="en-US" sz="2800" b="1" dirty="0">
                <a:solidFill>
                  <a:srgbClr val="081840"/>
                </a:solidFill>
                <a:latin typeface="Arial" pitchFamily="34" charset="0"/>
                <a:ea typeface="Arial" pitchFamily="34" charset="-122"/>
                <a:cs typeface="Arial" pitchFamily="34" charset="-120"/>
              </a:rPr>
              <a:t>The answer is no.</a:t>
            </a:r>
            <a:endParaRPr lang="en-US" sz="2800" dirty="0"/>
          </a:p>
        </p:txBody>
      </p:sp>
      <p:sp>
        <p:nvSpPr>
          <p:cNvPr id="8" name="Text 6"/>
          <p:cNvSpPr txBox="1"/>
          <p:nvPr/>
        </p:nvSpPr>
        <p:spPr>
          <a:xfrm>
            <a:off x="685800" y="4434840"/>
            <a:ext cx="8778240" cy="1371600"/>
          </a:xfrm>
          <a:prstGeom prst="rect">
            <a:avLst/>
          </a:prstGeom>
          <a:noFill/>
          <a:ln/>
        </p:spPr>
        <p:txBody>
          <a:bodyPr wrap="square" lIns="0" tIns="0" rIns="0" bIns="0" rtlCol="0" anchor="t"/>
          <a:lstStyle/>
          <a:p>
            <a:pPr indent="0" marL="0">
              <a:lnSpc>
                <a:spcPct val="125000"/>
              </a:lnSpc>
              <a:buNone/>
            </a:pPr>
            <a:r>
              <a:rPr lang="en-US" sz="1550" dirty="0">
                <a:solidFill>
                  <a:srgbClr val="2B3448"/>
                </a:solidFill>
                <a:latin typeface="Calibri" pitchFamily="34" charset="0"/>
                <a:ea typeface="Calibri" pitchFamily="34" charset="-122"/>
                <a:cs typeface="Calibri" pitchFamily="34" charset="-120"/>
              </a:rPr>
              <a:t>You report the expenses that exist. Doing otherwise is a false return, it is a due-diligence failure, and it is exactly what the IRS looks for.</a:t>
            </a:r>
            <a:endParaRPr lang="en-US" sz="1550" dirty="0"/>
          </a:p>
          <a:p>
            <a:pPr indent="0" marL="0">
              <a:lnSpc>
                <a:spcPct val="125000"/>
              </a:lnSpc>
              <a:buNone/>
            </a:pPr>
            <a:endParaRPr lang="en-US" sz="1550" dirty="0"/>
          </a:p>
          <a:p>
            <a:pPr indent="0" marL="0">
              <a:lnSpc>
                <a:spcPct val="125000"/>
              </a:lnSpc>
              <a:buNone/>
            </a:pPr>
            <a:r>
              <a:rPr lang="en-US" sz="1550" dirty="0">
                <a:solidFill>
                  <a:srgbClr val="2B3448"/>
                </a:solidFill>
                <a:latin typeface="Calibri" pitchFamily="34" charset="0"/>
                <a:ea typeface="Calibri" pitchFamily="34" charset="-122"/>
                <a:cs typeface="Calibri" pitchFamily="34" charset="-120"/>
              </a:rPr>
              <a:t>Give them something real instead: they are entitled to those miles, so make sure the log is good enough to survive a challenge.</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5</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5</a:t>
            </a:r>
            <a:endParaRPr lang="en-US" sz="1250" dirty="0"/>
          </a:p>
        </p:txBody>
      </p:sp>
      <p:sp>
        <p:nvSpPr>
          <p:cNvPr id="5" name="Text 3"/>
          <p:cNvSpPr txBox="1"/>
          <p:nvPr/>
        </p:nvSpPr>
        <p:spPr>
          <a:xfrm>
            <a:off x="2606040" y="1975104"/>
            <a:ext cx="8442655" cy="12801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Special Situations &amp; New Deductions</a:t>
            </a:r>
            <a:endParaRPr lang="en-US" sz="3800" dirty="0"/>
          </a:p>
        </p:txBody>
      </p:sp>
      <p:sp>
        <p:nvSpPr>
          <p:cNvPr id="6" name="Text 4"/>
          <p:cNvSpPr txBox="1"/>
          <p:nvPr/>
        </p:nvSpPr>
        <p:spPr>
          <a:xfrm>
            <a:off x="2606040" y="3566160"/>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Veterans, retirees and the unemployed — plus Schedule 1-A, which is brand new and which our clients are unusually likely to qualify for.</a:t>
            </a:r>
            <a:endParaRPr lang="en-US" sz="1550" dirty="0"/>
          </a:p>
        </p:txBody>
      </p:sp>
      <p:sp>
        <p:nvSpPr>
          <p:cNvPr id="7" name="Text 5"/>
          <p:cNvSpPr txBox="1"/>
          <p:nvPr/>
        </p:nvSpPr>
        <p:spPr>
          <a:xfrm>
            <a:off x="2606040" y="4553712"/>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7</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5 · SPECIAL SITUATIONS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Veterans, Social Security and unemployment</a:t>
            </a:r>
            <a:endParaRPr lang="en-US" sz="3000" dirty="0"/>
          </a:p>
        </p:txBody>
      </p:sp>
      <p:sp>
        <p:nvSpPr>
          <p:cNvPr id="4" name="Text 2"/>
          <p:cNvSpPr txBox="1"/>
          <p:nvPr/>
        </p:nvSpPr>
        <p:spPr>
          <a:xfrm>
            <a:off x="685800" y="1691640"/>
            <a:ext cx="36941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Benefit</a:t>
            </a:r>
            <a:endParaRPr lang="en-US" sz="1150" dirty="0"/>
          </a:p>
        </p:txBody>
      </p:sp>
      <p:sp>
        <p:nvSpPr>
          <p:cNvPr id="5" name="Text 3"/>
          <p:cNvSpPr txBox="1"/>
          <p:nvPr/>
        </p:nvSpPr>
        <p:spPr>
          <a:xfrm>
            <a:off x="4672584" y="1691640"/>
            <a:ext cx="20482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Taxable?</a:t>
            </a:r>
            <a:endParaRPr lang="en-US" sz="1150" dirty="0"/>
          </a:p>
        </p:txBody>
      </p:sp>
      <p:sp>
        <p:nvSpPr>
          <p:cNvPr id="6" name="Shape 4"/>
          <p:cNvSpPr/>
          <p:nvPr/>
        </p:nvSpPr>
        <p:spPr>
          <a:xfrm>
            <a:off x="685800" y="1984248"/>
            <a:ext cx="6035040" cy="20117"/>
          </a:xfrm>
          <a:prstGeom prst="rect">
            <a:avLst/>
          </a:prstGeom>
          <a:solidFill>
            <a:srgbClr val="081840"/>
          </a:solidFill>
          <a:ln/>
        </p:spPr>
      </p:sp>
      <p:sp>
        <p:nvSpPr>
          <p:cNvPr id="7" name="Shape 5"/>
          <p:cNvSpPr/>
          <p:nvPr/>
        </p:nvSpPr>
        <p:spPr>
          <a:xfrm>
            <a:off x="685800" y="2057400"/>
            <a:ext cx="6035040" cy="420624"/>
          </a:xfrm>
          <a:prstGeom prst="rect">
            <a:avLst/>
          </a:prstGeom>
          <a:solidFill>
            <a:srgbClr val="F2F5FA"/>
          </a:solidFill>
          <a:ln/>
        </p:spPr>
      </p:sp>
      <p:sp>
        <p:nvSpPr>
          <p:cNvPr id="8" name="Text 6"/>
          <p:cNvSpPr txBox="1"/>
          <p:nvPr/>
        </p:nvSpPr>
        <p:spPr>
          <a:xfrm>
            <a:off x="685800" y="2057400"/>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VA disability compensation</a:t>
            </a:r>
            <a:endParaRPr lang="en-US" sz="1450" dirty="0"/>
          </a:p>
        </p:txBody>
      </p:sp>
      <p:sp>
        <p:nvSpPr>
          <p:cNvPr id="9" name="Text 7"/>
          <p:cNvSpPr txBox="1"/>
          <p:nvPr/>
        </p:nvSpPr>
        <p:spPr>
          <a:xfrm>
            <a:off x="4672584" y="2057400"/>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NO — do not report it</a:t>
            </a:r>
            <a:endParaRPr lang="en-US" sz="1450" dirty="0"/>
          </a:p>
        </p:txBody>
      </p:sp>
      <p:sp>
        <p:nvSpPr>
          <p:cNvPr id="10" name="Text 8"/>
          <p:cNvSpPr txBox="1"/>
          <p:nvPr/>
        </p:nvSpPr>
        <p:spPr>
          <a:xfrm>
            <a:off x="685800" y="2478024"/>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VA pension</a:t>
            </a:r>
            <a:endParaRPr lang="en-US" sz="1450" dirty="0"/>
          </a:p>
        </p:txBody>
      </p:sp>
      <p:sp>
        <p:nvSpPr>
          <p:cNvPr id="11" name="Text 9"/>
          <p:cNvSpPr txBox="1"/>
          <p:nvPr/>
        </p:nvSpPr>
        <p:spPr>
          <a:xfrm>
            <a:off x="4672584" y="2478024"/>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NO</a:t>
            </a:r>
            <a:endParaRPr lang="en-US" sz="1450" dirty="0"/>
          </a:p>
        </p:txBody>
      </p:sp>
      <p:sp>
        <p:nvSpPr>
          <p:cNvPr id="12" name="Shape 10"/>
          <p:cNvSpPr/>
          <p:nvPr/>
        </p:nvSpPr>
        <p:spPr>
          <a:xfrm>
            <a:off x="685800" y="2898648"/>
            <a:ext cx="6035040" cy="420624"/>
          </a:xfrm>
          <a:prstGeom prst="rect">
            <a:avLst/>
          </a:prstGeom>
          <a:solidFill>
            <a:srgbClr val="F2F5FA"/>
          </a:solidFill>
          <a:ln/>
        </p:spPr>
      </p:sp>
      <p:sp>
        <p:nvSpPr>
          <p:cNvPr id="13" name="Text 11"/>
          <p:cNvSpPr txBox="1"/>
          <p:nvPr/>
        </p:nvSpPr>
        <p:spPr>
          <a:xfrm>
            <a:off x="685800" y="2898648"/>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GI Bill education benefits</a:t>
            </a:r>
            <a:endParaRPr lang="en-US" sz="1450" dirty="0"/>
          </a:p>
        </p:txBody>
      </p:sp>
      <p:sp>
        <p:nvSpPr>
          <p:cNvPr id="14" name="Text 12"/>
          <p:cNvSpPr txBox="1"/>
          <p:nvPr/>
        </p:nvSpPr>
        <p:spPr>
          <a:xfrm>
            <a:off x="4672584" y="2898648"/>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NO</a:t>
            </a:r>
            <a:endParaRPr lang="en-US" sz="1450" dirty="0"/>
          </a:p>
        </p:txBody>
      </p:sp>
      <p:sp>
        <p:nvSpPr>
          <p:cNvPr id="15" name="Text 13"/>
          <p:cNvSpPr txBox="1"/>
          <p:nvPr/>
        </p:nvSpPr>
        <p:spPr>
          <a:xfrm>
            <a:off x="685800" y="3319272"/>
            <a:ext cx="36941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Military retirement pay</a:t>
            </a:r>
            <a:endParaRPr lang="en-US" sz="1450" dirty="0"/>
          </a:p>
        </p:txBody>
      </p:sp>
      <p:sp>
        <p:nvSpPr>
          <p:cNvPr id="16" name="Text 14"/>
          <p:cNvSpPr txBox="1"/>
          <p:nvPr/>
        </p:nvSpPr>
        <p:spPr>
          <a:xfrm>
            <a:off x="4672584" y="3319272"/>
            <a:ext cx="190195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YES</a:t>
            </a:r>
            <a:endParaRPr lang="en-US" sz="1450" dirty="0"/>
          </a:p>
        </p:txBody>
      </p:sp>
      <p:sp>
        <p:nvSpPr>
          <p:cNvPr id="17" name="Shape 15"/>
          <p:cNvSpPr/>
          <p:nvPr/>
        </p:nvSpPr>
        <p:spPr>
          <a:xfrm>
            <a:off x="7132320" y="1691640"/>
            <a:ext cx="4370832" cy="3931920"/>
          </a:xfrm>
          <a:prstGeom prst="roundRect">
            <a:avLst>
              <a:gd name="adj" fmla="val 2791"/>
            </a:avLst>
          </a:prstGeom>
          <a:solidFill>
            <a:srgbClr val="F2F5FA"/>
          </a:solidFill>
          <a:ln/>
          <a:effectLst>
            <a:outerShdw sx="100000" sy="100000" kx="0" ky="0" algn="bl" rotWithShape="0" blurRad="177800" dist="50800" dir="5400000">
              <a:srgbClr val="081840">
                <a:alpha val="10000"/>
              </a:srgbClr>
            </a:outerShdw>
          </a:effectLst>
        </p:spPr>
      </p:sp>
      <p:sp>
        <p:nvSpPr>
          <p:cNvPr id="18" name="Text 16"/>
          <p:cNvSpPr txBox="1"/>
          <p:nvPr/>
        </p:nvSpPr>
        <p:spPr>
          <a:xfrm>
            <a:off x="7452360" y="1965960"/>
            <a:ext cx="3749040"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Social Security</a:t>
            </a:r>
            <a:endParaRPr lang="en-US" sz="1700" dirty="0"/>
          </a:p>
        </p:txBody>
      </p:sp>
      <p:sp>
        <p:nvSpPr>
          <p:cNvPr id="19" name="Text 17"/>
          <p:cNvSpPr txBox="1"/>
          <p:nvPr/>
        </p:nvSpPr>
        <p:spPr>
          <a:xfrm>
            <a:off x="7452360" y="2377440"/>
            <a:ext cx="3749040" cy="146304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Taxable on a sliding scale depending on other income — from none of it up to a maximum of 85%. A retiree taking a large IRA withdrawal can accidentally make their Social Security taxable and be surprised twice.</a:t>
            </a:r>
            <a:endParaRPr lang="en-US" sz="1350" dirty="0"/>
          </a:p>
        </p:txBody>
      </p:sp>
      <p:sp>
        <p:nvSpPr>
          <p:cNvPr id="20" name="Text 18"/>
          <p:cNvSpPr txBox="1"/>
          <p:nvPr/>
        </p:nvSpPr>
        <p:spPr>
          <a:xfrm>
            <a:off x="7452360" y="3977640"/>
            <a:ext cx="3749040" cy="320040"/>
          </a:xfrm>
          <a:prstGeom prst="rect">
            <a:avLst/>
          </a:prstGeom>
          <a:noFill/>
          <a:ln/>
        </p:spPr>
        <p:txBody>
          <a:bodyPr wrap="square" lIns="0" tIns="0" rIns="0" bIns="0" rtlCol="0" anchor="ctr"/>
          <a:lstStyle/>
          <a:p>
            <a:pPr indent="0" marL="0">
              <a:buNone/>
            </a:pPr>
            <a:r>
              <a:rPr lang="en-US" sz="1700" b="1" dirty="0">
                <a:solidFill>
                  <a:srgbClr val="081840"/>
                </a:solidFill>
                <a:latin typeface="Arial" pitchFamily="34" charset="0"/>
                <a:ea typeface="Arial" pitchFamily="34" charset="-122"/>
                <a:cs typeface="Arial" pitchFamily="34" charset="-120"/>
              </a:rPr>
              <a:t>Unemployment</a:t>
            </a:r>
            <a:endParaRPr lang="en-US" sz="1700" dirty="0"/>
          </a:p>
        </p:txBody>
      </p:sp>
      <p:sp>
        <p:nvSpPr>
          <p:cNvPr id="21" name="Text 19"/>
          <p:cNvSpPr txBox="1"/>
          <p:nvPr/>
        </p:nvSpPr>
        <p:spPr>
          <a:xfrm>
            <a:off x="7452360" y="4389120"/>
            <a:ext cx="3749040" cy="109728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Fully taxable, on a 1099-G. Withholding is optional and most decline it, so a client who was unemployed often owes. And it is NOT earned income — no EITC.</a:t>
            </a:r>
            <a:endParaRPr lang="en-US" sz="1350" dirty="0"/>
          </a:p>
        </p:txBody>
      </p:sp>
      <p:sp>
        <p:nvSpPr>
          <p:cNvPr id="22" name="Shape 20"/>
          <p:cNvSpPr/>
          <p:nvPr/>
        </p:nvSpPr>
        <p:spPr>
          <a:xfrm>
            <a:off x="685800" y="4343400"/>
            <a:ext cx="6035040" cy="1125982"/>
          </a:xfrm>
          <a:prstGeom prst="roundRect">
            <a:avLst>
              <a:gd name="adj" fmla="val 9745"/>
            </a:avLst>
          </a:prstGeom>
          <a:solidFill>
            <a:srgbClr val="FAF2D6"/>
          </a:solidFill>
          <a:ln/>
        </p:spPr>
      </p:sp>
      <p:sp>
        <p:nvSpPr>
          <p:cNvPr id="23" name="Text 21"/>
          <p:cNvSpPr txBox="1"/>
          <p:nvPr/>
        </p:nvSpPr>
        <p:spPr>
          <a:xfrm>
            <a:off x="960120" y="4489704"/>
            <a:ext cx="5486400"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CLIENTS GET THIS WRONG BOTH WAYS</a:t>
            </a:r>
            <a:endParaRPr lang="en-US" sz="1100" dirty="0"/>
          </a:p>
        </p:txBody>
      </p:sp>
      <p:sp>
        <p:nvSpPr>
          <p:cNvPr id="24" name="Text 22"/>
          <p:cNvSpPr txBox="1"/>
          <p:nvPr/>
        </p:nvSpPr>
        <p:spPr>
          <a:xfrm>
            <a:off x="960120" y="4745736"/>
            <a:ext cx="5486400"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Some report benefits they shouldn't. Others leave off retirement pay they should. Ask specifically which they receive.</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5 · SPECIAL SITUATIONS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Schedule 1-A — new this year</a:t>
            </a:r>
            <a:endParaRPr lang="en-US" sz="3000" dirty="0"/>
          </a:p>
        </p:txBody>
      </p:sp>
      <p:sp>
        <p:nvSpPr>
          <p:cNvPr id="4" name="Text 2"/>
          <p:cNvSpPr txBox="1"/>
          <p:nvPr/>
        </p:nvSpPr>
        <p:spPr>
          <a:xfrm>
            <a:off x="685800" y="1572768"/>
            <a:ext cx="10820095" cy="54864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A recent tax law created four new deductions, claimed on a new form. No preparer anywhere has years of experience with these — you start level with everyone else.</a:t>
            </a:r>
            <a:endParaRPr lang="en-US" sz="1550" dirty="0"/>
          </a:p>
        </p:txBody>
      </p:sp>
      <p:sp>
        <p:nvSpPr>
          <p:cNvPr id="5" name="Text 3"/>
          <p:cNvSpPr txBox="1"/>
          <p:nvPr/>
        </p:nvSpPr>
        <p:spPr>
          <a:xfrm>
            <a:off x="685800" y="2286000"/>
            <a:ext cx="33284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Deduction</a:t>
            </a:r>
            <a:endParaRPr lang="en-US" sz="1150" dirty="0"/>
          </a:p>
        </p:txBody>
      </p:sp>
      <p:sp>
        <p:nvSpPr>
          <p:cNvPr id="6" name="Text 4"/>
          <p:cNvSpPr txBox="1"/>
          <p:nvPr/>
        </p:nvSpPr>
        <p:spPr>
          <a:xfrm>
            <a:off x="4306824" y="2286000"/>
            <a:ext cx="314553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Maximum</a:t>
            </a:r>
            <a:endParaRPr lang="en-US" sz="1150" dirty="0"/>
          </a:p>
        </p:txBody>
      </p:sp>
      <p:sp>
        <p:nvSpPr>
          <p:cNvPr id="7" name="Text 5"/>
          <p:cNvSpPr txBox="1"/>
          <p:nvPr/>
        </p:nvSpPr>
        <p:spPr>
          <a:xfrm>
            <a:off x="7598664" y="2286000"/>
            <a:ext cx="390448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Phases out above (MAGI)</a:t>
            </a:r>
            <a:endParaRPr lang="en-US" sz="1150" dirty="0"/>
          </a:p>
        </p:txBody>
      </p:sp>
      <p:sp>
        <p:nvSpPr>
          <p:cNvPr id="8" name="Shape 6"/>
          <p:cNvSpPr/>
          <p:nvPr/>
        </p:nvSpPr>
        <p:spPr>
          <a:xfrm>
            <a:off x="685800" y="2578608"/>
            <a:ext cx="10817352" cy="20117"/>
          </a:xfrm>
          <a:prstGeom prst="rect">
            <a:avLst/>
          </a:prstGeom>
          <a:solidFill>
            <a:srgbClr val="081840"/>
          </a:solidFill>
          <a:ln/>
        </p:spPr>
      </p:sp>
      <p:sp>
        <p:nvSpPr>
          <p:cNvPr id="9" name="Shape 7"/>
          <p:cNvSpPr/>
          <p:nvPr/>
        </p:nvSpPr>
        <p:spPr>
          <a:xfrm>
            <a:off x="685800" y="2651760"/>
            <a:ext cx="10817352" cy="420624"/>
          </a:xfrm>
          <a:prstGeom prst="rect">
            <a:avLst/>
          </a:prstGeom>
          <a:solidFill>
            <a:srgbClr val="F2F5FA"/>
          </a:solidFill>
          <a:ln/>
        </p:spPr>
      </p:sp>
      <p:sp>
        <p:nvSpPr>
          <p:cNvPr id="10" name="Text 8"/>
          <p:cNvSpPr txBox="1"/>
          <p:nvPr/>
        </p:nvSpPr>
        <p:spPr>
          <a:xfrm>
            <a:off x="685800" y="2651760"/>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Qualified tips</a:t>
            </a:r>
            <a:endParaRPr lang="en-US" sz="1400" dirty="0"/>
          </a:p>
        </p:txBody>
      </p:sp>
      <p:sp>
        <p:nvSpPr>
          <p:cNvPr id="11" name="Text 9"/>
          <p:cNvSpPr txBox="1"/>
          <p:nvPr/>
        </p:nvSpPr>
        <p:spPr>
          <a:xfrm>
            <a:off x="4306824" y="2651760"/>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$25,000</a:t>
            </a:r>
            <a:endParaRPr lang="en-US" sz="1400" dirty="0"/>
          </a:p>
        </p:txBody>
      </p:sp>
      <p:sp>
        <p:nvSpPr>
          <p:cNvPr id="12" name="Text 10"/>
          <p:cNvSpPr txBox="1"/>
          <p:nvPr/>
        </p:nvSpPr>
        <p:spPr>
          <a:xfrm>
            <a:off x="7598664" y="2651760"/>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$150,000 · $300,000 joint</a:t>
            </a:r>
            <a:endParaRPr lang="en-US" sz="1400" dirty="0"/>
          </a:p>
        </p:txBody>
      </p:sp>
      <p:sp>
        <p:nvSpPr>
          <p:cNvPr id="13" name="Text 11"/>
          <p:cNvSpPr txBox="1"/>
          <p:nvPr/>
        </p:nvSpPr>
        <p:spPr>
          <a:xfrm>
            <a:off x="685800" y="3072384"/>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Qualified overtime</a:t>
            </a:r>
            <a:endParaRPr lang="en-US" sz="1400" dirty="0"/>
          </a:p>
        </p:txBody>
      </p:sp>
      <p:sp>
        <p:nvSpPr>
          <p:cNvPr id="14" name="Text 12"/>
          <p:cNvSpPr txBox="1"/>
          <p:nvPr/>
        </p:nvSpPr>
        <p:spPr>
          <a:xfrm>
            <a:off x="4306824" y="3072384"/>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$12,500 · $25,000 joint</a:t>
            </a:r>
            <a:endParaRPr lang="en-US" sz="1400" dirty="0"/>
          </a:p>
        </p:txBody>
      </p:sp>
      <p:sp>
        <p:nvSpPr>
          <p:cNvPr id="15" name="Text 13"/>
          <p:cNvSpPr txBox="1"/>
          <p:nvPr/>
        </p:nvSpPr>
        <p:spPr>
          <a:xfrm>
            <a:off x="7598664" y="3072384"/>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$150,000 · $300,000 joint</a:t>
            </a:r>
            <a:endParaRPr lang="en-US" sz="1400" dirty="0"/>
          </a:p>
        </p:txBody>
      </p:sp>
      <p:sp>
        <p:nvSpPr>
          <p:cNvPr id="16" name="Shape 14"/>
          <p:cNvSpPr/>
          <p:nvPr/>
        </p:nvSpPr>
        <p:spPr>
          <a:xfrm>
            <a:off x="685800" y="3493008"/>
            <a:ext cx="10817352" cy="420624"/>
          </a:xfrm>
          <a:prstGeom prst="rect">
            <a:avLst/>
          </a:prstGeom>
          <a:solidFill>
            <a:srgbClr val="F2F5FA"/>
          </a:solidFill>
          <a:ln/>
        </p:spPr>
      </p:sp>
      <p:sp>
        <p:nvSpPr>
          <p:cNvPr id="17" name="Text 15"/>
          <p:cNvSpPr txBox="1"/>
          <p:nvPr/>
        </p:nvSpPr>
        <p:spPr>
          <a:xfrm>
            <a:off x="685800" y="3493008"/>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Senior deduction (65+)</a:t>
            </a:r>
            <a:endParaRPr lang="en-US" sz="1400" dirty="0"/>
          </a:p>
        </p:txBody>
      </p:sp>
      <p:sp>
        <p:nvSpPr>
          <p:cNvPr id="18" name="Text 16"/>
          <p:cNvSpPr txBox="1"/>
          <p:nvPr/>
        </p:nvSpPr>
        <p:spPr>
          <a:xfrm>
            <a:off x="4306824" y="3493008"/>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$6,000 · $12,000 both</a:t>
            </a:r>
            <a:endParaRPr lang="en-US" sz="1400" dirty="0"/>
          </a:p>
        </p:txBody>
      </p:sp>
      <p:sp>
        <p:nvSpPr>
          <p:cNvPr id="19" name="Text 17"/>
          <p:cNvSpPr txBox="1"/>
          <p:nvPr/>
        </p:nvSpPr>
        <p:spPr>
          <a:xfrm>
            <a:off x="7598664" y="3493008"/>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$75,000 · $150,000 joint</a:t>
            </a:r>
            <a:endParaRPr lang="en-US" sz="1400" dirty="0"/>
          </a:p>
        </p:txBody>
      </p:sp>
      <p:sp>
        <p:nvSpPr>
          <p:cNvPr id="20" name="Text 18"/>
          <p:cNvSpPr txBox="1"/>
          <p:nvPr/>
        </p:nvSpPr>
        <p:spPr>
          <a:xfrm>
            <a:off x="685800" y="3913632"/>
            <a:ext cx="332841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Car loan interest</a:t>
            </a:r>
            <a:endParaRPr lang="en-US" sz="1400" dirty="0"/>
          </a:p>
        </p:txBody>
      </p:sp>
      <p:sp>
        <p:nvSpPr>
          <p:cNvPr id="21" name="Text 19"/>
          <p:cNvSpPr txBox="1"/>
          <p:nvPr/>
        </p:nvSpPr>
        <p:spPr>
          <a:xfrm>
            <a:off x="4306824" y="3913632"/>
            <a:ext cx="299923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Check current cap</a:t>
            </a:r>
            <a:endParaRPr lang="en-US" sz="1400" dirty="0"/>
          </a:p>
        </p:txBody>
      </p:sp>
      <p:sp>
        <p:nvSpPr>
          <p:cNvPr id="22" name="Text 20"/>
          <p:cNvSpPr txBox="1"/>
          <p:nvPr/>
        </p:nvSpPr>
        <p:spPr>
          <a:xfrm>
            <a:off x="7598664" y="3913632"/>
            <a:ext cx="3758184"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685800" y="4800600"/>
            <a:ext cx="10820095" cy="1125982"/>
          </a:xfrm>
          <a:prstGeom prst="roundRect">
            <a:avLst>
              <a:gd name="adj" fmla="val 9745"/>
            </a:avLst>
          </a:prstGeom>
          <a:solidFill>
            <a:srgbClr val="D6F5E7"/>
          </a:solidFill>
          <a:ln/>
        </p:spPr>
      </p:sp>
      <p:sp>
        <p:nvSpPr>
          <p:cNvPr id="24" name="Text 22"/>
          <p:cNvSpPr txBox="1"/>
          <p:nvPr/>
        </p:nvSpPr>
        <p:spPr>
          <a:xfrm>
            <a:off x="960120" y="4946904"/>
            <a:ext cx="10271455" cy="219456"/>
          </a:xfrm>
          <a:prstGeom prst="rect">
            <a:avLst/>
          </a:prstGeom>
          <a:noFill/>
          <a:ln/>
        </p:spPr>
        <p:txBody>
          <a:bodyPr wrap="square" lIns="0" tIns="0" rIns="0" bIns="0" rtlCol="0" anchor="ctr"/>
          <a:lstStyle/>
          <a:p>
            <a:pPr indent="0" marL="0">
              <a:buNone/>
            </a:pPr>
            <a:r>
              <a:rPr lang="en-US" sz="1100" b="1" spc="140" kern="0" dirty="0">
                <a:solidFill>
                  <a:srgbClr val="07684A"/>
                </a:solidFill>
                <a:latin typeface="Calibri" pitchFamily="34" charset="0"/>
                <a:ea typeface="Calibri" pitchFamily="34" charset="-122"/>
                <a:cs typeface="Calibri" pitchFamily="34" charset="-120"/>
              </a:rPr>
              <a:t>FOUR THINGS TO REMEMBER</a:t>
            </a:r>
            <a:endParaRPr lang="en-US" sz="1100" dirty="0"/>
          </a:p>
        </p:txBody>
      </p:sp>
      <p:sp>
        <p:nvSpPr>
          <p:cNvPr id="25" name="Text 23"/>
          <p:cNvSpPr txBox="1"/>
          <p:nvPr/>
        </p:nvSpPr>
        <p:spPr>
          <a:xfrm>
            <a:off x="960120" y="520293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Tips must have been REPORTED to qualify · Overtime means the premium, not all wages in overtime hours · Married clients must file JOINTLY · Ask EVERY client — people do not volunteer information they do not know is worth money.</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6</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6</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Michigan &amp; Detroit Returns</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A perfect federal return is half a job. Almost every client who walks through our door also needs a Michigan return, and most need a Detroit one.</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8</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6 · MICHIGAN &amp; DETROIT</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Detroit — three forms, one question</a:t>
            </a:r>
            <a:endParaRPr lang="en-US" sz="3000" dirty="0"/>
          </a:p>
        </p:txBody>
      </p:sp>
      <p:sp>
        <p:nvSpPr>
          <p:cNvPr id="4" name="Text 2"/>
          <p:cNvSpPr txBox="1"/>
          <p:nvPr/>
        </p:nvSpPr>
        <p:spPr>
          <a:xfrm>
            <a:off x="685800" y="1609344"/>
            <a:ext cx="10820095" cy="365760"/>
          </a:xfrm>
          <a:prstGeom prst="rect">
            <a:avLst/>
          </a:prstGeom>
          <a:noFill/>
          <a:ln/>
        </p:spPr>
        <p:txBody>
          <a:bodyPr wrap="square" lIns="0" tIns="0" rIns="0" bIns="0" rtlCol="0" anchor="ctr"/>
          <a:lstStyle/>
          <a:p>
            <a:pPr indent="0" marL="0">
              <a:buNone/>
            </a:pPr>
            <a:r>
              <a:rPr lang="en-US" sz="1650" dirty="0">
                <a:solidFill>
                  <a:srgbClr val="5B6577"/>
                </a:solidFill>
                <a:latin typeface="Calibri" pitchFamily="34" charset="0"/>
                <a:ea typeface="Calibri" pitchFamily="34" charset="-122"/>
                <a:cs typeface="Calibri" pitchFamily="34" charset="-120"/>
              </a:rPr>
              <a:t>The question is: where did they live?</a:t>
            </a:r>
            <a:endParaRPr lang="en-US" sz="1650" dirty="0"/>
          </a:p>
        </p:txBody>
      </p:sp>
      <p:sp>
        <p:nvSpPr>
          <p:cNvPr id="5" name="Shape 3"/>
          <p:cNvSpPr/>
          <p:nvPr/>
        </p:nvSpPr>
        <p:spPr>
          <a:xfrm>
            <a:off x="685800" y="2240280"/>
            <a:ext cx="3301898" cy="2286000"/>
          </a:xfrm>
          <a:prstGeom prst="roundRect">
            <a:avLst>
              <a:gd name="adj" fmla="val 4800"/>
            </a:avLst>
          </a:prstGeom>
          <a:solidFill>
            <a:srgbClr val="F2F5FA"/>
          </a:solidFill>
          <a:ln/>
          <a:effectLst>
            <a:outerShdw sx="100000" sy="100000" kx="0" ky="0" algn="bl" rotWithShape="0" blurRad="177800" dist="50800" dir="5400000">
              <a:srgbClr val="081840">
                <a:alpha val="10000"/>
              </a:srgbClr>
            </a:outerShdw>
          </a:effectLst>
        </p:spPr>
      </p:sp>
      <p:sp>
        <p:nvSpPr>
          <p:cNvPr id="6" name="Text 4"/>
          <p:cNvSpPr txBox="1"/>
          <p:nvPr/>
        </p:nvSpPr>
        <p:spPr>
          <a:xfrm>
            <a:off x="1005840" y="2468880"/>
            <a:ext cx="2661818" cy="201168"/>
          </a:xfrm>
          <a:prstGeom prst="rect">
            <a:avLst/>
          </a:prstGeom>
          <a:noFill/>
          <a:ln/>
        </p:spPr>
        <p:txBody>
          <a:bodyPr wrap="square" lIns="0" tIns="0" rIns="0" bIns="0" rtlCol="0" anchor="ctr"/>
          <a:lstStyle/>
          <a:p>
            <a:pPr indent="0" marL="0">
              <a:buNone/>
            </a:pPr>
            <a:r>
              <a:rPr lang="en-US" sz="1050" b="1" spc="140" kern="0" dirty="0">
                <a:solidFill>
                  <a:srgbClr val="9A7020"/>
                </a:solidFill>
                <a:latin typeface="Calibri" pitchFamily="34" charset="0"/>
                <a:ea typeface="Calibri" pitchFamily="34" charset="-122"/>
                <a:cs typeface="Calibri" pitchFamily="34" charset="-120"/>
              </a:rPr>
              <a:t>FORM</a:t>
            </a:r>
            <a:endParaRPr lang="en-US" sz="1050" dirty="0"/>
          </a:p>
        </p:txBody>
      </p:sp>
      <p:sp>
        <p:nvSpPr>
          <p:cNvPr id="7" name="Text 5"/>
          <p:cNvSpPr txBox="1"/>
          <p:nvPr/>
        </p:nvSpPr>
        <p:spPr>
          <a:xfrm>
            <a:off x="1005840" y="2688336"/>
            <a:ext cx="2661818" cy="548640"/>
          </a:xfrm>
          <a:prstGeom prst="rect">
            <a:avLst/>
          </a:prstGeom>
          <a:noFill/>
          <a:ln/>
        </p:spPr>
        <p:txBody>
          <a:bodyPr wrap="square" lIns="0" tIns="0" rIns="0" bIns="0" rtlCol="0" anchor="ctr"/>
          <a:lstStyle/>
          <a:p>
            <a:pPr indent="0" marL="0">
              <a:buNone/>
            </a:pPr>
            <a:r>
              <a:rPr lang="en-US" sz="3800" b="1" dirty="0">
                <a:solidFill>
                  <a:srgbClr val="081840"/>
                </a:solidFill>
                <a:latin typeface="Arial" pitchFamily="34" charset="0"/>
                <a:ea typeface="Arial" pitchFamily="34" charset="-122"/>
                <a:cs typeface="Arial" pitchFamily="34" charset="-120"/>
              </a:rPr>
              <a:t>5118</a:t>
            </a:r>
            <a:endParaRPr lang="en-US" sz="3800" dirty="0"/>
          </a:p>
        </p:txBody>
      </p:sp>
      <p:sp>
        <p:nvSpPr>
          <p:cNvPr id="8" name="Text 6"/>
          <p:cNvSpPr txBox="1"/>
          <p:nvPr/>
        </p:nvSpPr>
        <p:spPr>
          <a:xfrm>
            <a:off x="1005840" y="3291840"/>
            <a:ext cx="2661818" cy="292608"/>
          </a:xfrm>
          <a:prstGeom prst="rect">
            <a:avLst/>
          </a:prstGeom>
          <a:noFill/>
          <a:ln/>
        </p:spPr>
        <p:txBody>
          <a:bodyPr wrap="square" lIns="0" tIns="0" rIns="0" bIns="0" rtlCol="0" anchor="ctr"/>
          <a:lstStyle/>
          <a:p>
            <a:pPr indent="0" marL="0">
              <a:buNone/>
            </a:pPr>
            <a:r>
              <a:rPr lang="en-US" sz="1600" b="1" dirty="0">
                <a:solidFill>
                  <a:srgbClr val="9A7020"/>
                </a:solidFill>
                <a:latin typeface="Arial" pitchFamily="34" charset="0"/>
                <a:ea typeface="Arial" pitchFamily="34" charset="-122"/>
                <a:cs typeface="Arial" pitchFamily="34" charset="-120"/>
              </a:rPr>
              <a:t>Resident</a:t>
            </a:r>
            <a:endParaRPr lang="en-US" sz="1600" dirty="0"/>
          </a:p>
        </p:txBody>
      </p:sp>
      <p:sp>
        <p:nvSpPr>
          <p:cNvPr id="9" name="Text 7"/>
          <p:cNvSpPr txBox="1"/>
          <p:nvPr/>
        </p:nvSpPr>
        <p:spPr>
          <a:xfrm>
            <a:off x="1005840" y="3639312"/>
            <a:ext cx="2661818" cy="82296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Lived in Detroit all year. All income taxed, resident rate.</a:t>
            </a:r>
            <a:endParaRPr lang="en-US" sz="1350" dirty="0"/>
          </a:p>
        </p:txBody>
      </p:sp>
      <p:sp>
        <p:nvSpPr>
          <p:cNvPr id="10" name="Shape 8"/>
          <p:cNvSpPr/>
          <p:nvPr/>
        </p:nvSpPr>
        <p:spPr>
          <a:xfrm>
            <a:off x="4444898" y="2240280"/>
            <a:ext cx="3301898" cy="2286000"/>
          </a:xfrm>
          <a:prstGeom prst="roundRect">
            <a:avLst>
              <a:gd name="adj" fmla="val 4800"/>
            </a:avLst>
          </a:prstGeom>
          <a:solidFill>
            <a:srgbClr val="F2F5FA"/>
          </a:solidFill>
          <a:ln/>
          <a:effectLst>
            <a:outerShdw sx="100000" sy="100000" kx="0" ky="0" algn="bl" rotWithShape="0" blurRad="177800" dist="50800" dir="5400000">
              <a:srgbClr val="081840">
                <a:alpha val="10000"/>
              </a:srgbClr>
            </a:outerShdw>
          </a:effectLst>
        </p:spPr>
      </p:sp>
      <p:sp>
        <p:nvSpPr>
          <p:cNvPr id="11" name="Text 9"/>
          <p:cNvSpPr txBox="1"/>
          <p:nvPr/>
        </p:nvSpPr>
        <p:spPr>
          <a:xfrm>
            <a:off x="4764938" y="2468880"/>
            <a:ext cx="2661818" cy="201168"/>
          </a:xfrm>
          <a:prstGeom prst="rect">
            <a:avLst/>
          </a:prstGeom>
          <a:noFill/>
          <a:ln/>
        </p:spPr>
        <p:txBody>
          <a:bodyPr wrap="square" lIns="0" tIns="0" rIns="0" bIns="0" rtlCol="0" anchor="ctr"/>
          <a:lstStyle/>
          <a:p>
            <a:pPr indent="0" marL="0">
              <a:buNone/>
            </a:pPr>
            <a:r>
              <a:rPr lang="en-US" sz="1050" b="1" spc="140" kern="0" dirty="0">
                <a:solidFill>
                  <a:srgbClr val="9A7020"/>
                </a:solidFill>
                <a:latin typeface="Calibri" pitchFamily="34" charset="0"/>
                <a:ea typeface="Calibri" pitchFamily="34" charset="-122"/>
                <a:cs typeface="Calibri" pitchFamily="34" charset="-120"/>
              </a:rPr>
              <a:t>FORM</a:t>
            </a:r>
            <a:endParaRPr lang="en-US" sz="1050" dirty="0"/>
          </a:p>
        </p:txBody>
      </p:sp>
      <p:sp>
        <p:nvSpPr>
          <p:cNvPr id="12" name="Text 10"/>
          <p:cNvSpPr txBox="1"/>
          <p:nvPr/>
        </p:nvSpPr>
        <p:spPr>
          <a:xfrm>
            <a:off x="4764938" y="2688336"/>
            <a:ext cx="2661818" cy="548640"/>
          </a:xfrm>
          <a:prstGeom prst="rect">
            <a:avLst/>
          </a:prstGeom>
          <a:noFill/>
          <a:ln/>
        </p:spPr>
        <p:txBody>
          <a:bodyPr wrap="square" lIns="0" tIns="0" rIns="0" bIns="0" rtlCol="0" anchor="ctr"/>
          <a:lstStyle/>
          <a:p>
            <a:pPr indent="0" marL="0">
              <a:buNone/>
            </a:pPr>
            <a:r>
              <a:rPr lang="en-US" sz="3800" b="1" dirty="0">
                <a:solidFill>
                  <a:srgbClr val="081840"/>
                </a:solidFill>
                <a:latin typeface="Arial" pitchFamily="34" charset="0"/>
                <a:ea typeface="Arial" pitchFamily="34" charset="-122"/>
                <a:cs typeface="Arial" pitchFamily="34" charset="-120"/>
              </a:rPr>
              <a:t>5119</a:t>
            </a:r>
            <a:endParaRPr lang="en-US" sz="3800" dirty="0"/>
          </a:p>
        </p:txBody>
      </p:sp>
      <p:sp>
        <p:nvSpPr>
          <p:cNvPr id="13" name="Text 11"/>
          <p:cNvSpPr txBox="1"/>
          <p:nvPr/>
        </p:nvSpPr>
        <p:spPr>
          <a:xfrm>
            <a:off x="4764938" y="3291840"/>
            <a:ext cx="2661818" cy="292608"/>
          </a:xfrm>
          <a:prstGeom prst="rect">
            <a:avLst/>
          </a:prstGeom>
          <a:noFill/>
          <a:ln/>
        </p:spPr>
        <p:txBody>
          <a:bodyPr wrap="square" lIns="0" tIns="0" rIns="0" bIns="0" rtlCol="0" anchor="ctr"/>
          <a:lstStyle/>
          <a:p>
            <a:pPr indent="0" marL="0">
              <a:buNone/>
            </a:pPr>
            <a:r>
              <a:rPr lang="en-US" sz="1600" b="1" dirty="0">
                <a:solidFill>
                  <a:srgbClr val="9A7020"/>
                </a:solidFill>
                <a:latin typeface="Arial" pitchFamily="34" charset="0"/>
                <a:ea typeface="Arial" pitchFamily="34" charset="-122"/>
                <a:cs typeface="Arial" pitchFamily="34" charset="-120"/>
              </a:rPr>
              <a:t>Nonresident</a:t>
            </a:r>
            <a:endParaRPr lang="en-US" sz="1600" dirty="0"/>
          </a:p>
        </p:txBody>
      </p:sp>
      <p:sp>
        <p:nvSpPr>
          <p:cNvPr id="14" name="Text 12"/>
          <p:cNvSpPr txBox="1"/>
          <p:nvPr/>
        </p:nvSpPr>
        <p:spPr>
          <a:xfrm>
            <a:off x="4764938" y="3639312"/>
            <a:ext cx="2661818" cy="82296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Lived outside, worked in Detroit. Only Detroit-earned income, lower rate.</a:t>
            </a:r>
            <a:endParaRPr lang="en-US" sz="1350" dirty="0"/>
          </a:p>
        </p:txBody>
      </p:sp>
      <p:sp>
        <p:nvSpPr>
          <p:cNvPr id="15" name="Shape 13"/>
          <p:cNvSpPr/>
          <p:nvPr/>
        </p:nvSpPr>
        <p:spPr>
          <a:xfrm>
            <a:off x="8203997" y="2240280"/>
            <a:ext cx="3301898" cy="2286000"/>
          </a:xfrm>
          <a:prstGeom prst="roundRect">
            <a:avLst>
              <a:gd name="adj" fmla="val 4800"/>
            </a:avLst>
          </a:prstGeom>
          <a:solidFill>
            <a:srgbClr val="F2F5FA"/>
          </a:solidFill>
          <a:ln/>
          <a:effectLst>
            <a:outerShdw sx="100000" sy="100000" kx="0" ky="0" algn="bl" rotWithShape="0" blurRad="177800" dist="50800" dir="5400000">
              <a:srgbClr val="081840">
                <a:alpha val="10000"/>
              </a:srgbClr>
            </a:outerShdw>
          </a:effectLst>
        </p:spPr>
      </p:sp>
      <p:sp>
        <p:nvSpPr>
          <p:cNvPr id="16" name="Text 14"/>
          <p:cNvSpPr txBox="1"/>
          <p:nvPr/>
        </p:nvSpPr>
        <p:spPr>
          <a:xfrm>
            <a:off x="8524037" y="2468880"/>
            <a:ext cx="2661818" cy="201168"/>
          </a:xfrm>
          <a:prstGeom prst="rect">
            <a:avLst/>
          </a:prstGeom>
          <a:noFill/>
          <a:ln/>
        </p:spPr>
        <p:txBody>
          <a:bodyPr wrap="square" lIns="0" tIns="0" rIns="0" bIns="0" rtlCol="0" anchor="ctr"/>
          <a:lstStyle/>
          <a:p>
            <a:pPr indent="0" marL="0">
              <a:buNone/>
            </a:pPr>
            <a:r>
              <a:rPr lang="en-US" sz="1050" b="1" spc="140" kern="0" dirty="0">
                <a:solidFill>
                  <a:srgbClr val="9A7020"/>
                </a:solidFill>
                <a:latin typeface="Calibri" pitchFamily="34" charset="0"/>
                <a:ea typeface="Calibri" pitchFamily="34" charset="-122"/>
                <a:cs typeface="Calibri" pitchFamily="34" charset="-120"/>
              </a:rPr>
              <a:t>FORM</a:t>
            </a:r>
            <a:endParaRPr lang="en-US" sz="1050" dirty="0"/>
          </a:p>
        </p:txBody>
      </p:sp>
      <p:sp>
        <p:nvSpPr>
          <p:cNvPr id="17" name="Text 15"/>
          <p:cNvSpPr txBox="1"/>
          <p:nvPr/>
        </p:nvSpPr>
        <p:spPr>
          <a:xfrm>
            <a:off x="8524037" y="2688336"/>
            <a:ext cx="2661818" cy="548640"/>
          </a:xfrm>
          <a:prstGeom prst="rect">
            <a:avLst/>
          </a:prstGeom>
          <a:noFill/>
          <a:ln/>
        </p:spPr>
        <p:txBody>
          <a:bodyPr wrap="square" lIns="0" tIns="0" rIns="0" bIns="0" rtlCol="0" anchor="ctr"/>
          <a:lstStyle/>
          <a:p>
            <a:pPr indent="0" marL="0">
              <a:buNone/>
            </a:pPr>
            <a:r>
              <a:rPr lang="en-US" sz="3800" b="1" dirty="0">
                <a:solidFill>
                  <a:srgbClr val="081840"/>
                </a:solidFill>
                <a:latin typeface="Arial" pitchFamily="34" charset="0"/>
                <a:ea typeface="Arial" pitchFamily="34" charset="-122"/>
                <a:cs typeface="Arial" pitchFamily="34" charset="-120"/>
              </a:rPr>
              <a:t>5120</a:t>
            </a:r>
            <a:endParaRPr lang="en-US" sz="3800" dirty="0"/>
          </a:p>
        </p:txBody>
      </p:sp>
      <p:sp>
        <p:nvSpPr>
          <p:cNvPr id="18" name="Text 16"/>
          <p:cNvSpPr txBox="1"/>
          <p:nvPr/>
        </p:nvSpPr>
        <p:spPr>
          <a:xfrm>
            <a:off x="8524037" y="3291840"/>
            <a:ext cx="2661818" cy="292608"/>
          </a:xfrm>
          <a:prstGeom prst="rect">
            <a:avLst/>
          </a:prstGeom>
          <a:noFill/>
          <a:ln/>
        </p:spPr>
        <p:txBody>
          <a:bodyPr wrap="square" lIns="0" tIns="0" rIns="0" bIns="0" rtlCol="0" anchor="ctr"/>
          <a:lstStyle/>
          <a:p>
            <a:pPr indent="0" marL="0">
              <a:buNone/>
            </a:pPr>
            <a:r>
              <a:rPr lang="en-US" sz="1600" b="1" dirty="0">
                <a:solidFill>
                  <a:srgbClr val="9A7020"/>
                </a:solidFill>
                <a:latin typeface="Arial" pitchFamily="34" charset="0"/>
                <a:ea typeface="Arial" pitchFamily="34" charset="-122"/>
                <a:cs typeface="Arial" pitchFamily="34" charset="-120"/>
              </a:rPr>
              <a:t>Part-year</a:t>
            </a:r>
            <a:endParaRPr lang="en-US" sz="1600" dirty="0"/>
          </a:p>
        </p:txBody>
      </p:sp>
      <p:sp>
        <p:nvSpPr>
          <p:cNvPr id="19" name="Text 17"/>
          <p:cNvSpPr txBox="1"/>
          <p:nvPr/>
        </p:nvSpPr>
        <p:spPr>
          <a:xfrm>
            <a:off x="8524037" y="3639312"/>
            <a:ext cx="2661818" cy="822960"/>
          </a:xfrm>
          <a:prstGeom prst="rect">
            <a:avLst/>
          </a:prstGeom>
          <a:noFill/>
          <a:ln/>
        </p:spPr>
        <p:txBody>
          <a:bodyPr wrap="square" lIns="0" tIns="0" rIns="0" bIns="0" rtlCol="0" anchor="t"/>
          <a:lstStyle/>
          <a:p>
            <a:pPr indent="0" marL="0">
              <a:lnSpc>
                <a:spcPct val="120000"/>
              </a:lnSpc>
              <a:buNone/>
            </a:pPr>
            <a:r>
              <a:rPr lang="en-US" sz="1350" dirty="0">
                <a:solidFill>
                  <a:srgbClr val="2B3448"/>
                </a:solidFill>
                <a:latin typeface="Calibri" pitchFamily="34" charset="0"/>
                <a:ea typeface="Calibri" pitchFamily="34" charset="-122"/>
                <a:cs typeface="Calibri" pitchFamily="34" charset="-120"/>
              </a:rPr>
              <a:t>Moved in or out during the year. Split across both periods.</a:t>
            </a:r>
            <a:endParaRPr lang="en-US" sz="1350" dirty="0"/>
          </a:p>
        </p:txBody>
      </p:sp>
      <p:sp>
        <p:nvSpPr>
          <p:cNvPr id="20" name="Shape 18"/>
          <p:cNvSpPr/>
          <p:nvPr/>
        </p:nvSpPr>
        <p:spPr>
          <a:xfrm>
            <a:off x="685800" y="4846320"/>
            <a:ext cx="10820095" cy="1125982"/>
          </a:xfrm>
          <a:prstGeom prst="roundRect">
            <a:avLst>
              <a:gd name="adj" fmla="val 9745"/>
            </a:avLst>
          </a:prstGeom>
          <a:solidFill>
            <a:srgbClr val="FBEEEA"/>
          </a:solidFill>
          <a:ln/>
        </p:spPr>
      </p:sp>
      <p:sp>
        <p:nvSpPr>
          <p:cNvPr id="21" name="Text 19"/>
          <p:cNvSpPr txBox="1"/>
          <p:nvPr/>
        </p:nvSpPr>
        <p:spPr>
          <a:xfrm>
            <a:off x="960120" y="499262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THE TRAP</a:t>
            </a:r>
            <a:endParaRPr lang="en-US" sz="1100" dirty="0"/>
          </a:p>
        </p:txBody>
      </p:sp>
      <p:sp>
        <p:nvSpPr>
          <p:cNvPr id="22" name="Text 20"/>
          <p:cNvSpPr txBox="1"/>
          <p:nvPr/>
        </p:nvSpPr>
        <p:spPr>
          <a:xfrm>
            <a:off x="960120" y="524865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No city tax withheld does NOT mean no city return is due. A Detroit resident whose employer didn't withhold still owes it — and will owe it with interest if nobody notices.</a:t>
            </a:r>
            <a:endParaRPr lang="en-US" sz="14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6 · MICHIGAN &amp; DETROIT</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Homestead Property Tax Credit — do not miss this</a:t>
            </a:r>
            <a:endParaRPr lang="en-US" sz="3000" dirty="0"/>
          </a:p>
        </p:txBody>
      </p:sp>
      <p:sp>
        <p:nvSpPr>
          <p:cNvPr id="4" name="Shape 2"/>
          <p:cNvSpPr/>
          <p:nvPr/>
        </p:nvSpPr>
        <p:spPr>
          <a:xfrm>
            <a:off x="685800" y="1691640"/>
            <a:ext cx="10820095" cy="1554480"/>
          </a:xfrm>
          <a:prstGeom prst="roundRect">
            <a:avLst>
              <a:gd name="adj" fmla="val 7059"/>
            </a:avLst>
          </a:prstGeom>
          <a:solidFill>
            <a:srgbClr val="D6F5E7"/>
          </a:solidFill>
          <a:ln/>
        </p:spPr>
      </p:sp>
      <p:sp>
        <p:nvSpPr>
          <p:cNvPr id="5" name="Text 3"/>
          <p:cNvSpPr txBox="1"/>
          <p:nvPr/>
        </p:nvSpPr>
        <p:spPr>
          <a:xfrm>
            <a:off x="1143000" y="1938528"/>
            <a:ext cx="9905695" cy="457200"/>
          </a:xfrm>
          <a:prstGeom prst="rect">
            <a:avLst/>
          </a:prstGeom>
          <a:noFill/>
          <a:ln/>
        </p:spPr>
        <p:txBody>
          <a:bodyPr wrap="square" lIns="0" tIns="0" rIns="0" bIns="0" rtlCol="0" anchor="ctr"/>
          <a:lstStyle/>
          <a:p>
            <a:pPr indent="0" marL="0">
              <a:buNone/>
            </a:pPr>
            <a:r>
              <a:rPr lang="en-US" sz="3000" b="1" dirty="0">
                <a:solidFill>
                  <a:srgbClr val="081840"/>
                </a:solidFill>
                <a:latin typeface="Arial" pitchFamily="34" charset="0"/>
                <a:ea typeface="Arial" pitchFamily="34" charset="-122"/>
                <a:cs typeface="Arial" pitchFamily="34" charset="-120"/>
              </a:rPr>
              <a:t>Renters qualify too.</a:t>
            </a:r>
            <a:endParaRPr lang="en-US" sz="3000" dirty="0"/>
          </a:p>
        </p:txBody>
      </p:sp>
      <p:sp>
        <p:nvSpPr>
          <p:cNvPr id="6" name="Text 4"/>
          <p:cNvSpPr txBox="1"/>
          <p:nvPr/>
        </p:nvSpPr>
        <p:spPr>
          <a:xfrm>
            <a:off x="1143000" y="2450592"/>
            <a:ext cx="9905695" cy="640080"/>
          </a:xfrm>
          <a:prstGeom prst="rect">
            <a:avLst/>
          </a:prstGeom>
          <a:noFill/>
          <a:ln/>
        </p:spPr>
        <p:txBody>
          <a:bodyPr wrap="square" lIns="0" tIns="0" rIns="0" bIns="0" rtlCol="0" anchor="t"/>
          <a:lstStyle/>
          <a:p>
            <a:pPr indent="0" marL="0">
              <a:buNone/>
            </a:pPr>
            <a:r>
              <a:rPr lang="en-US" sz="1550" dirty="0">
                <a:solidFill>
                  <a:srgbClr val="2B3448"/>
                </a:solidFill>
                <a:latin typeface="Calibri" pitchFamily="34" charset="0"/>
                <a:ea typeface="Calibri" pitchFamily="34" charset="-122"/>
                <a:cs typeface="Calibri" pitchFamily="34" charset="-120"/>
              </a:rPr>
              <a:t>A refundable Michigan credit for residents whose property taxes are high relative to income — and a portion of rent is treated as property tax.</a:t>
            </a:r>
            <a:endParaRPr lang="en-US" sz="1550" dirty="0"/>
          </a:p>
        </p:txBody>
      </p:sp>
      <p:sp>
        <p:nvSpPr>
          <p:cNvPr id="7" name="Text 5"/>
          <p:cNvSpPr txBox="1"/>
          <p:nvPr/>
        </p:nvSpPr>
        <p:spPr>
          <a:xfrm>
            <a:off x="685800" y="3566160"/>
            <a:ext cx="10820095" cy="365760"/>
          </a:xfrm>
          <a:prstGeom prst="rect">
            <a:avLst/>
          </a:prstGeom>
          <a:noFill/>
          <a:ln/>
        </p:spPr>
        <p:txBody>
          <a:bodyPr wrap="square" lIns="0" tIns="0" rIns="0" bIns="0" rtlCol="0" anchor="ctr"/>
          <a:lstStyle/>
          <a:p>
            <a:pPr indent="0" marL="0">
              <a:buNone/>
            </a:pPr>
            <a:r>
              <a:rPr lang="en-US" sz="2000" b="1" dirty="0">
                <a:solidFill>
                  <a:srgbClr val="081840"/>
                </a:solidFill>
                <a:latin typeface="Arial" pitchFamily="34" charset="0"/>
                <a:ea typeface="Arial" pitchFamily="34" charset="-122"/>
                <a:cs typeface="Arial" pitchFamily="34" charset="-120"/>
              </a:rPr>
              <a:t>Put this on every intake sheet</a:t>
            </a:r>
            <a:endParaRPr lang="en-US" sz="2000" dirty="0"/>
          </a:p>
        </p:txBody>
      </p:sp>
      <p:sp>
        <p:nvSpPr>
          <p:cNvPr id="8" name="Shape 6"/>
          <p:cNvSpPr/>
          <p:nvPr/>
        </p:nvSpPr>
        <p:spPr>
          <a:xfrm>
            <a:off x="685800" y="4160520"/>
            <a:ext cx="10820095" cy="914400"/>
          </a:xfrm>
          <a:prstGeom prst="roundRect">
            <a:avLst>
              <a:gd name="adj" fmla="val 12000"/>
            </a:avLst>
          </a:prstGeom>
          <a:solidFill>
            <a:srgbClr val="F2F5FA"/>
          </a:solidFill>
          <a:ln/>
        </p:spPr>
      </p:sp>
      <p:sp>
        <p:nvSpPr>
          <p:cNvPr id="9" name="Text 7"/>
          <p:cNvSpPr txBox="1"/>
          <p:nvPr/>
        </p:nvSpPr>
        <p:spPr>
          <a:xfrm>
            <a:off x="1143000" y="4370832"/>
            <a:ext cx="9905695" cy="457200"/>
          </a:xfrm>
          <a:prstGeom prst="rect">
            <a:avLst/>
          </a:prstGeom>
          <a:noFill/>
          <a:ln/>
        </p:spPr>
        <p:txBody>
          <a:bodyPr wrap="square" lIns="0" tIns="0" rIns="0" bIns="0" rtlCol="0" anchor="ctr"/>
          <a:lstStyle/>
          <a:p>
            <a:pPr indent="0" marL="0">
              <a:buNone/>
            </a:pPr>
            <a:r>
              <a:rPr lang="en-US" sz="2100" i="1" dirty="0">
                <a:solidFill>
                  <a:srgbClr val="081840"/>
                </a:solidFill>
                <a:latin typeface="Calibri" pitchFamily="34" charset="0"/>
                <a:ea typeface="Calibri" pitchFamily="34" charset="-122"/>
                <a:cs typeface="Calibri" pitchFamily="34" charset="-120"/>
              </a:rPr>
              <a:t>“Did you rent or own in 2026, and how much did you pay?”</a:t>
            </a:r>
            <a:endParaRPr lang="en-US" sz="2100" dirty="0"/>
          </a:p>
        </p:txBody>
      </p:sp>
      <p:sp>
        <p:nvSpPr>
          <p:cNvPr id="10" name="Text 8"/>
          <p:cNvSpPr txBox="1"/>
          <p:nvPr/>
        </p:nvSpPr>
        <p:spPr>
          <a:xfrm>
            <a:off x="685800" y="5349240"/>
            <a:ext cx="10820095" cy="457200"/>
          </a:xfrm>
          <a:prstGeom prst="rect">
            <a:avLst/>
          </a:prstGeom>
          <a:noFill/>
          <a:ln/>
        </p:spPr>
        <p:txBody>
          <a:bodyPr wrap="square" lIns="0" tIns="0" rIns="0" bIns="0" rtlCol="0" anchor="ctr"/>
          <a:lstStyle/>
          <a:p>
            <a:pPr indent="0" marL="0">
              <a:buNone/>
            </a:pPr>
            <a:r>
              <a:rPr lang="en-US" sz="1500" dirty="0">
                <a:solidFill>
                  <a:srgbClr val="5B6577"/>
                </a:solidFill>
                <a:latin typeface="Calibri" pitchFamily="34" charset="0"/>
                <a:ea typeface="Calibri" pitchFamily="34" charset="-122"/>
                <a:cs typeface="Calibri" pitchFamily="34" charset="-120"/>
              </a:rPr>
              <a:t>The single most commonly missed item for a Detroit client on a modest income. The client will not raise it. You have to.</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820095" cy="237744"/>
          </a:xfrm>
          <a:prstGeom prst="rect">
            <a:avLst/>
          </a:prstGeom>
          <a:noFill/>
          <a:ln/>
        </p:spPr>
        <p:txBody>
          <a:bodyPr wrap="square" lIns="0" tIns="0" rIns="0" bIns="0" rtlCol="0" anchor="ctr"/>
          <a:lstStyle/>
          <a:p>
            <a:pPr indent="0" marL="0">
              <a:buNone/>
            </a:pPr>
            <a:r>
              <a:rPr lang="en-US" sz="1150" b="1" spc="140" kern="0" dirty="0">
                <a:solidFill>
                  <a:srgbClr val="9A7020"/>
                </a:solidFill>
                <a:latin typeface="Calibri" pitchFamily="34" charset="0"/>
                <a:ea typeface="Calibri" pitchFamily="34" charset="-122"/>
                <a:cs typeface="Calibri" pitchFamily="34" charset="-120"/>
              </a:rPr>
              <a:t>MODULE 6 · SCENARIO · THE MOVER</a:t>
            </a:r>
            <a:endParaRPr lang="en-US" sz="1150" dirty="0"/>
          </a:p>
        </p:txBody>
      </p:sp>
      <p:sp>
        <p:nvSpPr>
          <p:cNvPr id="3" name="Shape 1"/>
          <p:cNvSpPr/>
          <p:nvPr/>
        </p:nvSpPr>
        <p:spPr>
          <a:xfrm>
            <a:off x="685800" y="868680"/>
            <a:ext cx="5181448" cy="5208651"/>
          </a:xfrm>
          <a:prstGeom prst="roundRect">
            <a:avLst>
              <a:gd name="adj" fmla="val 2118"/>
            </a:avLst>
          </a:prstGeom>
          <a:solidFill>
            <a:srgbClr val="F2F5FA"/>
          </a:solidFill>
          <a:ln/>
          <a:effectLst>
            <a:outerShdw sx="100000" sy="100000" kx="0" ky="0" algn="bl" rotWithShape="0" blurRad="177800" dist="50800" dir="5400000">
              <a:srgbClr val="081840">
                <a:alpha val="10000"/>
              </a:srgbClr>
            </a:outerShdw>
          </a:effectLst>
        </p:spPr>
      </p:sp>
      <p:sp>
        <p:nvSpPr>
          <p:cNvPr id="4" name="Text 2"/>
          <p:cNvSpPr txBox="1"/>
          <p:nvPr/>
        </p:nvSpPr>
        <p:spPr>
          <a:xfrm>
            <a:off x="1005840" y="1115568"/>
            <a:ext cx="4541368" cy="274320"/>
          </a:xfrm>
          <a:prstGeom prst="rect">
            <a:avLst/>
          </a:prstGeom>
          <a:noFill/>
          <a:ln/>
        </p:spPr>
        <p:txBody>
          <a:bodyPr wrap="square" lIns="0" tIns="0" rIns="0" bIns="0" rtlCol="0" anchor="ctr"/>
          <a:lstStyle/>
          <a:p>
            <a:pPr indent="0" marL="0">
              <a:buNone/>
            </a:pPr>
            <a:r>
              <a:rPr lang="en-US" sz="1400" b="1" dirty="0">
                <a:solidFill>
                  <a:srgbClr val="5B6577"/>
                </a:solidFill>
                <a:latin typeface="Arial" pitchFamily="34" charset="0"/>
                <a:ea typeface="Arial" pitchFamily="34" charset="-122"/>
                <a:cs typeface="Arial" pitchFamily="34" charset="-120"/>
              </a:rPr>
              <a:t>The situation</a:t>
            </a:r>
            <a:endParaRPr lang="en-US" sz="1400" dirty="0"/>
          </a:p>
        </p:txBody>
      </p:sp>
      <p:sp>
        <p:nvSpPr>
          <p:cNvPr id="5" name="Text 3"/>
          <p:cNvSpPr txBox="1"/>
          <p:nvPr/>
        </p:nvSpPr>
        <p:spPr>
          <a:xfrm>
            <a:off x="1005840" y="1508760"/>
            <a:ext cx="4541368" cy="2898648"/>
          </a:xfrm>
          <a:prstGeom prst="rect">
            <a:avLst/>
          </a:prstGeom>
          <a:noFill/>
          <a:ln/>
        </p:spPr>
        <p:txBody>
          <a:bodyPr wrap="square" lIns="0" tIns="0" rIns="0" bIns="0" rtlCol="0" anchor="t"/>
          <a:lstStyle/>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Andre lived in Detroit until 31 May 2026, then moved to Southfield.</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He worked at the same Detroit employer all year, and his W-2 shows Detroit withholding for the whole twelve months.</a:t>
            </a:r>
            <a:endParaRPr lang="en-US" sz="1600" dirty="0"/>
          </a:p>
          <a:p>
            <a:pPr indent="0" marL="0">
              <a:lnSpc>
                <a:spcPct val="125000"/>
              </a:lnSpc>
              <a:buNone/>
            </a:pPr>
            <a:endParaRPr lang="en-US" sz="1600" dirty="0"/>
          </a:p>
          <a:p>
            <a:pPr indent="0" marL="0">
              <a:lnSpc>
                <a:spcPct val="125000"/>
              </a:lnSpc>
              <a:buNone/>
            </a:pPr>
            <a:r>
              <a:rPr lang="en-US" sz="1600" dirty="0">
                <a:solidFill>
                  <a:srgbClr val="081840"/>
                </a:solidFill>
                <a:latin typeface="Calibri" pitchFamily="34" charset="0"/>
                <a:ea typeface="Calibri" pitchFamily="34" charset="-122"/>
                <a:cs typeface="Calibri" pitchFamily="34" charset="-120"/>
              </a:rPr>
              <a:t>Which form — and what should you be looking for?</a:t>
            </a:r>
            <a:endParaRPr lang="en-US" sz="1600" dirty="0"/>
          </a:p>
        </p:txBody>
      </p:sp>
      <p:sp>
        <p:nvSpPr>
          <p:cNvPr id="6" name="Shape 4"/>
          <p:cNvSpPr/>
          <p:nvPr/>
        </p:nvSpPr>
        <p:spPr>
          <a:xfrm>
            <a:off x="6324448" y="868680"/>
            <a:ext cx="5181448" cy="5208651"/>
          </a:xfrm>
          <a:prstGeom prst="roundRect">
            <a:avLst>
              <a:gd name="adj" fmla="val 2118"/>
            </a:avLst>
          </a:prstGeom>
          <a:solidFill>
            <a:srgbClr val="FFFFFF"/>
          </a:solidFill>
          <a:ln w="12700">
            <a:solidFill>
              <a:srgbClr val="DBE2EE"/>
            </a:solidFill>
            <a:prstDash val="solid"/>
          </a:ln>
          <a:effectLst>
            <a:outerShdw sx="100000" sy="100000" kx="0" ky="0" algn="bl" rotWithShape="0" blurRad="177800" dist="50800" dir="5400000">
              <a:srgbClr val="081840">
                <a:alpha val="10000"/>
              </a:srgbClr>
            </a:outerShdw>
          </a:effectLst>
        </p:spPr>
      </p:sp>
      <p:sp>
        <p:nvSpPr>
          <p:cNvPr id="7" name="Text 5"/>
          <p:cNvSpPr txBox="1"/>
          <p:nvPr/>
        </p:nvSpPr>
        <p:spPr>
          <a:xfrm>
            <a:off x="6644488" y="1115568"/>
            <a:ext cx="4541368" cy="274320"/>
          </a:xfrm>
          <a:prstGeom prst="rect">
            <a:avLst/>
          </a:prstGeom>
          <a:noFill/>
          <a:ln/>
        </p:spPr>
        <p:txBody>
          <a:bodyPr wrap="square" lIns="0" tIns="0" rIns="0" bIns="0" rtlCol="0" anchor="ctr"/>
          <a:lstStyle/>
          <a:p>
            <a:pPr indent="0" marL="0">
              <a:buNone/>
            </a:pPr>
            <a:r>
              <a:rPr lang="en-US" sz="1400" b="1" dirty="0">
                <a:solidFill>
                  <a:srgbClr val="10A878"/>
                </a:solidFill>
                <a:latin typeface="Arial" pitchFamily="34" charset="0"/>
                <a:ea typeface="Arial" pitchFamily="34" charset="-122"/>
                <a:cs typeface="Arial" pitchFamily="34" charset="-120"/>
              </a:rPr>
              <a:t>Answer</a:t>
            </a:r>
            <a:endParaRPr lang="en-US" sz="1400" dirty="0"/>
          </a:p>
        </p:txBody>
      </p:sp>
      <p:sp>
        <p:nvSpPr>
          <p:cNvPr id="8" name="Text 6"/>
          <p:cNvSpPr txBox="1"/>
          <p:nvPr/>
        </p:nvSpPr>
        <p:spPr>
          <a:xfrm>
            <a:off x="6644488" y="1508760"/>
            <a:ext cx="4541368" cy="2898648"/>
          </a:xfrm>
          <a:prstGeom prst="rect">
            <a:avLst/>
          </a:prstGeom>
          <a:noFill/>
          <a:ln/>
        </p:spPr>
        <p:txBody>
          <a:bodyPr wrap="square" lIns="0" tIns="0" rIns="0" bIns="0" rtlCol="0" anchor="t"/>
          <a:lstStyle/>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Form 5120 — part-year resident.</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January to May he was a resident, taxed on everything at the resident rate. June to December he was a non-resident working in Detroit, taxed only on Detroit earnings at the lower rate.</a:t>
            </a:r>
            <a:endParaRPr lang="en-US" sz="1500" dirty="0"/>
          </a:p>
          <a:p>
            <a:pPr indent="0" marL="0">
              <a:lnSpc>
                <a:spcPct val="120000"/>
              </a:lnSpc>
              <a:buNone/>
            </a:pPr>
            <a:endParaRPr lang="en-US" sz="1500" dirty="0"/>
          </a:p>
          <a:p>
            <a:pPr indent="0" marL="0">
              <a:lnSpc>
                <a:spcPct val="120000"/>
              </a:lnSpc>
              <a:buNone/>
            </a:pPr>
            <a:r>
              <a:rPr lang="en-US" sz="1500" dirty="0">
                <a:solidFill>
                  <a:srgbClr val="2B3448"/>
                </a:solidFill>
                <a:latin typeface="Calibri" pitchFamily="34" charset="0"/>
                <a:ea typeface="Calibri" pitchFamily="34" charset="-122"/>
                <a:cs typeface="Calibri" pitchFamily="34" charset="-120"/>
              </a:rPr>
              <a:t>His employer kept withholding at the resident rate all year. So Andre has very likely OVERPAID and is owed a city refund.</a:t>
            </a:r>
            <a:endParaRPr lang="en-US" sz="1500" dirty="0"/>
          </a:p>
        </p:txBody>
      </p:sp>
      <p:sp>
        <p:nvSpPr>
          <p:cNvPr id="9" name="Text 7"/>
          <p:cNvSpPr txBox="1"/>
          <p:nvPr/>
        </p:nvSpPr>
        <p:spPr>
          <a:xfrm>
            <a:off x="6644488" y="4718304"/>
            <a:ext cx="4541368" cy="237744"/>
          </a:xfrm>
          <a:prstGeom prst="rect">
            <a:avLst/>
          </a:prstGeom>
          <a:noFill/>
          <a:ln/>
        </p:spPr>
        <p:txBody>
          <a:bodyPr wrap="square" lIns="0" tIns="0" rIns="0" bIns="0" rtlCol="0" anchor="ctr"/>
          <a:lstStyle/>
          <a:p>
            <a:pPr indent="0" marL="0">
              <a:buNone/>
            </a:pPr>
            <a:r>
              <a:rPr lang="en-US" sz="1050" b="1" spc="140" kern="0" dirty="0">
                <a:solidFill>
                  <a:srgbClr val="A8341C"/>
                </a:solidFill>
                <a:latin typeface="Calibri" pitchFamily="34" charset="0"/>
                <a:ea typeface="Calibri" pitchFamily="34" charset="-122"/>
                <a:cs typeface="Calibri" pitchFamily="34" charset="-120"/>
              </a:rPr>
              <a:t>Common trap</a:t>
            </a:r>
            <a:endParaRPr lang="en-US" sz="1050" dirty="0"/>
          </a:p>
        </p:txBody>
      </p:sp>
      <p:sp>
        <p:nvSpPr>
          <p:cNvPr id="10" name="Text 8"/>
          <p:cNvSpPr txBox="1"/>
          <p:nvPr/>
        </p:nvSpPr>
        <p:spPr>
          <a:xfrm>
            <a:off x="6644488" y="4992624"/>
            <a:ext cx="4541368" cy="718947"/>
          </a:xfrm>
          <a:prstGeom prst="rect">
            <a:avLst/>
          </a:prstGeom>
          <a:noFill/>
          <a:ln/>
        </p:spPr>
        <p:txBody>
          <a:bodyPr wrap="square" lIns="0" tIns="0" rIns="0" bIns="0" rtlCol="0" anchor="t"/>
          <a:lstStyle/>
          <a:p>
            <a:pPr indent="0" marL="0">
              <a:buNone/>
            </a:pPr>
            <a:r>
              <a:rPr lang="en-US" sz="1350" i="1" dirty="0">
                <a:solidFill>
                  <a:srgbClr val="A8341C"/>
                </a:solidFill>
                <a:latin typeface="Calibri" pitchFamily="34" charset="0"/>
                <a:ea typeface="Calibri" pitchFamily="34" charset="-122"/>
                <a:cs typeface="Calibri" pitchFamily="34" charset="-120"/>
              </a:rPr>
              <a:t>Filing 5118 for the whole year because the withholding looks like a full-year resident. Ask when he moved — otherwise he loses money and never knows.</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7</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7</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Software and the Client</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Knowing the law is half of it. The other half is the software, the conversation across the desk, and never promising what you cannot deliver.</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9</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intake interview — ask these every time</a:t>
            </a:r>
            <a:endParaRPr lang="en-US" sz="3000" dirty="0"/>
          </a:p>
        </p:txBody>
      </p:sp>
      <p:sp>
        <p:nvSpPr>
          <p:cNvPr id="4" name="Text 2"/>
          <p:cNvSpPr txBox="1"/>
          <p:nvPr/>
        </p:nvSpPr>
        <p:spPr>
          <a:xfrm>
            <a:off x="685800" y="1691640"/>
            <a:ext cx="7315200" cy="32918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Who lived in your home in 2026, and for how many months?</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Who paid the rent or mortgage and the bills?</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Did anything change — marriage, separation, a birth, a move, a death?</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Any income without a form? Cash work, side jobs, apps?</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Did you rent or own, and how much did you pay?</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Do you get tips or overtime? Are you 65 or over?</a:t>
            </a:r>
            <a:endParaRPr lang="en-US" sz="1600" dirty="0"/>
          </a:p>
          <a:p>
            <a:pPr marL="342900" indent="-342900">
              <a:spcAft>
                <a:spcPts val="900"/>
              </a:spcAft>
              <a:buSzPct val="100000"/>
              <a:buChar char="•"/>
            </a:pPr>
            <a:r>
              <a:rPr lang="en-US" sz="1600" dirty="0">
                <a:solidFill>
                  <a:srgbClr val="2B3448"/>
                </a:solidFill>
                <a:latin typeface="Calibri" pitchFamily="34" charset="0"/>
                <a:ea typeface="Calibri" pitchFamily="34" charset="-122"/>
                <a:cs typeface="Calibri" pitchFamily="34" charset="-120"/>
              </a:rPr>
              <a:t>Did anyone else claim your children last year?</a:t>
            </a:r>
            <a:endParaRPr lang="en-US" sz="1600" dirty="0"/>
          </a:p>
        </p:txBody>
      </p:sp>
      <p:sp>
        <p:nvSpPr>
          <p:cNvPr id="5" name="Shape 3"/>
          <p:cNvSpPr/>
          <p:nvPr/>
        </p:nvSpPr>
        <p:spPr>
          <a:xfrm>
            <a:off x="8321040" y="1691640"/>
            <a:ext cx="3182112" cy="3108960"/>
          </a:xfrm>
          <a:prstGeom prst="roundRect">
            <a:avLst>
              <a:gd name="adj" fmla="val 3529"/>
            </a:avLst>
          </a:prstGeom>
          <a:solidFill>
            <a:srgbClr val="FAF2D6"/>
          </a:solidFill>
          <a:ln/>
        </p:spPr>
      </p:sp>
      <p:sp>
        <p:nvSpPr>
          <p:cNvPr id="6" name="Text 4"/>
          <p:cNvSpPr txBox="1"/>
          <p:nvPr/>
        </p:nvSpPr>
        <p:spPr>
          <a:xfrm>
            <a:off x="8641080" y="2011680"/>
            <a:ext cx="2560320" cy="822960"/>
          </a:xfrm>
          <a:prstGeom prst="rect">
            <a:avLst/>
          </a:prstGeom>
          <a:noFill/>
          <a:ln/>
        </p:spPr>
        <p:txBody>
          <a:bodyPr wrap="square" lIns="0" tIns="0" rIns="0" bIns="0" rtlCol="0" anchor="t"/>
          <a:lstStyle/>
          <a:p>
            <a:pPr indent="0" marL="0">
              <a:lnSpc>
                <a:spcPct val="110000"/>
              </a:lnSpc>
              <a:buNone/>
            </a:pPr>
            <a:r>
              <a:rPr lang="en-US" sz="2300" b="1" dirty="0">
                <a:solidFill>
                  <a:srgbClr val="081840"/>
                </a:solidFill>
                <a:latin typeface="Arial" pitchFamily="34" charset="0"/>
                <a:ea typeface="Arial" pitchFamily="34" charset="-122"/>
                <a:cs typeface="Arial" pitchFamily="34" charset="-120"/>
              </a:rPr>
              <a:t>Seven questions.</a:t>
            </a:r>
            <a:endParaRPr lang="en-US" sz="2300" dirty="0"/>
          </a:p>
          <a:p>
            <a:pPr indent="0" marL="0">
              <a:lnSpc>
                <a:spcPct val="110000"/>
              </a:lnSpc>
              <a:buNone/>
            </a:pPr>
            <a:r>
              <a:rPr lang="en-US" sz="2300" b="1" dirty="0">
                <a:solidFill>
                  <a:srgbClr val="081840"/>
                </a:solidFill>
                <a:latin typeface="Arial" pitchFamily="34" charset="0"/>
                <a:ea typeface="Arial" pitchFamily="34" charset="-122"/>
                <a:cs typeface="Arial" pitchFamily="34" charset="-120"/>
              </a:rPr>
              <a:t>Three minutes.</a:t>
            </a:r>
            <a:endParaRPr lang="en-US" sz="2300" dirty="0"/>
          </a:p>
        </p:txBody>
      </p:sp>
      <p:sp>
        <p:nvSpPr>
          <p:cNvPr id="7" name="Text 5"/>
          <p:cNvSpPr txBox="1"/>
          <p:nvPr/>
        </p:nvSpPr>
        <p:spPr>
          <a:xfrm>
            <a:off x="8641080" y="3063240"/>
            <a:ext cx="2560320" cy="1645920"/>
          </a:xfrm>
          <a:prstGeom prst="rect">
            <a:avLst/>
          </a:prstGeom>
          <a:noFill/>
          <a:ln/>
        </p:spPr>
        <p:txBody>
          <a:bodyPr wrap="square" lIns="0" tIns="0" rIns="0" bIns="0" rtlCol="0" anchor="t"/>
          <a:lstStyle/>
          <a:p>
            <a:pPr indent="0" marL="0">
              <a:lnSpc>
                <a:spcPct val="125000"/>
              </a:lnSpc>
              <a:buNone/>
            </a:pPr>
            <a:r>
              <a:rPr lang="en-US" sz="1400" dirty="0">
                <a:solidFill>
                  <a:srgbClr val="2B3448"/>
                </a:solidFill>
                <a:latin typeface="Calibri" pitchFamily="34" charset="0"/>
                <a:ea typeface="Calibri" pitchFamily="34" charset="-122"/>
                <a:cs typeface="Calibri" pitchFamily="34" charset="-120"/>
              </a:rPr>
              <a:t>They catch nearly everything. Do not just react to whatever paperwork lands on the desk.</a:t>
            </a:r>
            <a:endParaRPr lang="en-US" sz="1400" dirty="0"/>
          </a:p>
        </p:txBody>
      </p:sp>
      <p:sp>
        <p:nvSpPr>
          <p:cNvPr id="8" name="Shape 6"/>
          <p:cNvSpPr/>
          <p:nvPr/>
        </p:nvSpPr>
        <p:spPr>
          <a:xfrm>
            <a:off x="685800" y="5212080"/>
            <a:ext cx="10820095" cy="1125982"/>
          </a:xfrm>
          <a:prstGeom prst="roundRect">
            <a:avLst>
              <a:gd name="adj" fmla="val 9745"/>
            </a:avLst>
          </a:prstGeom>
          <a:solidFill>
            <a:srgbClr val="FBEEEA"/>
          </a:solidFill>
          <a:ln/>
        </p:spPr>
      </p:sp>
      <p:sp>
        <p:nvSpPr>
          <p:cNvPr id="9" name="Text 7"/>
          <p:cNvSpPr txBox="1"/>
          <p:nvPr/>
        </p:nvSpPr>
        <p:spPr>
          <a:xfrm>
            <a:off x="960120" y="535838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NEVER PROMISE A REFUND DATE</a:t>
            </a:r>
            <a:endParaRPr lang="en-US" sz="1100" dirty="0"/>
          </a:p>
        </p:txBody>
      </p:sp>
      <p:sp>
        <p:nvSpPr>
          <p:cNvPr id="10" name="Text 8"/>
          <p:cNvSpPr txBox="1"/>
          <p:nvPr/>
        </p:nvSpPr>
        <p:spPr>
          <a:xfrm>
            <a:off x="960120" y="561441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Say: “The IRS usually issues most refunds within 21 days of accepting the return, and returns with certain credits are held a bit longer.” Promise a date and you own every day it is late — and they will call you, not the IRS.</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7 · SOFTWARE &amp; CLIENTS</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When a return rejects</a:t>
            </a:r>
            <a:endParaRPr lang="en-US" sz="3000" dirty="0"/>
          </a:p>
        </p:txBody>
      </p:sp>
      <p:sp>
        <p:nvSpPr>
          <p:cNvPr id="4" name="Text 2"/>
          <p:cNvSpPr txBox="1"/>
          <p:nvPr/>
        </p:nvSpPr>
        <p:spPr>
          <a:xfrm>
            <a:off x="685800" y="1691640"/>
            <a:ext cx="296265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you'll see</a:t>
            </a:r>
            <a:endParaRPr lang="en-US" sz="1150" dirty="0"/>
          </a:p>
        </p:txBody>
      </p:sp>
      <p:sp>
        <p:nvSpPr>
          <p:cNvPr id="5" name="Text 3"/>
          <p:cNvSpPr txBox="1"/>
          <p:nvPr/>
        </p:nvSpPr>
        <p:spPr>
          <a:xfrm>
            <a:off x="3941064" y="1691640"/>
            <a:ext cx="351129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What it means</a:t>
            </a:r>
            <a:endParaRPr lang="en-US" sz="1150" dirty="0"/>
          </a:p>
        </p:txBody>
      </p:sp>
      <p:sp>
        <p:nvSpPr>
          <p:cNvPr id="6" name="Shape 4"/>
          <p:cNvSpPr/>
          <p:nvPr/>
        </p:nvSpPr>
        <p:spPr>
          <a:xfrm>
            <a:off x="685800" y="1984248"/>
            <a:ext cx="6766560" cy="20117"/>
          </a:xfrm>
          <a:prstGeom prst="rect">
            <a:avLst/>
          </a:prstGeom>
          <a:solidFill>
            <a:srgbClr val="081840"/>
          </a:solidFill>
          <a:ln/>
        </p:spPr>
      </p:sp>
      <p:sp>
        <p:nvSpPr>
          <p:cNvPr id="7" name="Shape 5"/>
          <p:cNvSpPr/>
          <p:nvPr/>
        </p:nvSpPr>
        <p:spPr>
          <a:xfrm>
            <a:off x="685800" y="2057400"/>
            <a:ext cx="6766560" cy="420624"/>
          </a:xfrm>
          <a:prstGeom prst="rect">
            <a:avLst/>
          </a:prstGeom>
          <a:solidFill>
            <a:srgbClr val="F2F5FA"/>
          </a:solidFill>
          <a:ln/>
        </p:spPr>
      </p:sp>
      <p:sp>
        <p:nvSpPr>
          <p:cNvPr id="8" name="Text 6"/>
          <p:cNvSpPr txBox="1"/>
          <p:nvPr/>
        </p:nvSpPr>
        <p:spPr>
          <a:xfrm>
            <a:off x="685800" y="2057400"/>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Name or SSN mismatch</a:t>
            </a:r>
            <a:endParaRPr lang="en-US" sz="1400" dirty="0"/>
          </a:p>
        </p:txBody>
      </p:sp>
      <p:sp>
        <p:nvSpPr>
          <p:cNvPr id="9" name="Text 7"/>
          <p:cNvSpPr txBox="1"/>
          <p:nvPr/>
        </p:nvSpPr>
        <p:spPr>
          <a:xfrm>
            <a:off x="3941064" y="2057400"/>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Usually a typo, sometimes a name change</a:t>
            </a:r>
            <a:endParaRPr lang="en-US" sz="1400" dirty="0"/>
          </a:p>
        </p:txBody>
      </p:sp>
      <p:sp>
        <p:nvSpPr>
          <p:cNvPr id="10" name="Text 8"/>
          <p:cNvSpPr txBox="1"/>
          <p:nvPr/>
        </p:nvSpPr>
        <p:spPr>
          <a:xfrm>
            <a:off x="685800" y="2478024"/>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Dependant already claimed</a:t>
            </a:r>
            <a:endParaRPr lang="en-US" sz="1400" dirty="0"/>
          </a:p>
        </p:txBody>
      </p:sp>
      <p:sp>
        <p:nvSpPr>
          <p:cNvPr id="11" name="Text 9"/>
          <p:cNvSpPr txBox="1"/>
          <p:nvPr/>
        </p:nvSpPr>
        <p:spPr>
          <a:xfrm>
            <a:off x="3941064" y="2478024"/>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Someone else filed first</a:t>
            </a:r>
            <a:endParaRPr lang="en-US" sz="1400" dirty="0"/>
          </a:p>
        </p:txBody>
      </p:sp>
      <p:sp>
        <p:nvSpPr>
          <p:cNvPr id="12" name="Shape 10"/>
          <p:cNvSpPr/>
          <p:nvPr/>
        </p:nvSpPr>
        <p:spPr>
          <a:xfrm>
            <a:off x="685800" y="2898648"/>
            <a:ext cx="6766560" cy="420624"/>
          </a:xfrm>
          <a:prstGeom prst="rect">
            <a:avLst/>
          </a:prstGeom>
          <a:solidFill>
            <a:srgbClr val="F2F5FA"/>
          </a:solidFill>
          <a:ln/>
        </p:spPr>
      </p:sp>
      <p:sp>
        <p:nvSpPr>
          <p:cNvPr id="13" name="Text 11"/>
          <p:cNvSpPr txBox="1"/>
          <p:nvPr/>
        </p:nvSpPr>
        <p:spPr>
          <a:xfrm>
            <a:off x="685800" y="2898648"/>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Missing 1095-A</a:t>
            </a:r>
            <a:endParaRPr lang="en-US" sz="1400" dirty="0"/>
          </a:p>
        </p:txBody>
      </p:sp>
      <p:sp>
        <p:nvSpPr>
          <p:cNvPr id="14" name="Text 12"/>
          <p:cNvSpPr txBox="1"/>
          <p:nvPr/>
        </p:nvSpPr>
        <p:spPr>
          <a:xfrm>
            <a:off x="3941064" y="2898648"/>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Marketplace coverage, form not brought in</a:t>
            </a:r>
            <a:endParaRPr lang="en-US" sz="1400" dirty="0"/>
          </a:p>
        </p:txBody>
      </p:sp>
      <p:sp>
        <p:nvSpPr>
          <p:cNvPr id="15" name="Text 13"/>
          <p:cNvSpPr txBox="1"/>
          <p:nvPr/>
        </p:nvSpPr>
        <p:spPr>
          <a:xfrm>
            <a:off x="685800" y="3319272"/>
            <a:ext cx="2962656" cy="420624"/>
          </a:xfrm>
          <a:prstGeom prst="rect">
            <a:avLst/>
          </a:prstGeom>
          <a:noFill/>
          <a:ln/>
        </p:spPr>
        <p:txBody>
          <a:bodyPr wrap="square" lIns="0" tIns="0" rIns="0" bIns="0" rtlCol="0" anchor="ctr"/>
          <a:lstStyle/>
          <a:p>
            <a:pPr indent="0" marL="0">
              <a:buNone/>
            </a:pPr>
            <a:r>
              <a:rPr lang="en-US" sz="1400" b="1" dirty="0">
                <a:solidFill>
                  <a:srgbClr val="2B3448"/>
                </a:solidFill>
                <a:latin typeface="Calibri" pitchFamily="34" charset="0"/>
                <a:ea typeface="Calibri" pitchFamily="34" charset="-122"/>
                <a:cs typeface="Calibri" pitchFamily="34" charset="-120"/>
              </a:rPr>
              <a:t>Prior-year AGI mismatch</a:t>
            </a:r>
            <a:endParaRPr lang="en-US" sz="1400" dirty="0"/>
          </a:p>
        </p:txBody>
      </p:sp>
      <p:sp>
        <p:nvSpPr>
          <p:cNvPr id="16" name="Text 14"/>
          <p:cNvSpPr txBox="1"/>
          <p:nvPr/>
        </p:nvSpPr>
        <p:spPr>
          <a:xfrm>
            <a:off x="3941064" y="3319272"/>
            <a:ext cx="3364992" cy="420624"/>
          </a:xfrm>
          <a:prstGeom prst="rect">
            <a:avLst/>
          </a:prstGeom>
          <a:noFill/>
          <a:ln/>
        </p:spPr>
        <p:txBody>
          <a:bodyPr wrap="square" lIns="0" tIns="0" rIns="0" bIns="0" rtlCol="0" anchor="ctr"/>
          <a:lstStyle/>
          <a:p>
            <a:pPr indent="0" marL="0">
              <a:buNone/>
            </a:pPr>
            <a:r>
              <a:rPr lang="en-US" sz="1400" dirty="0">
                <a:solidFill>
                  <a:srgbClr val="2B3448"/>
                </a:solidFill>
                <a:latin typeface="Calibri" pitchFamily="34" charset="0"/>
                <a:ea typeface="Calibri" pitchFamily="34" charset="-122"/>
                <a:cs typeface="Calibri" pitchFamily="34" charset="-120"/>
              </a:rPr>
              <a:t>An identity check, not a mistake</a:t>
            </a:r>
            <a:endParaRPr lang="en-US" sz="1400" dirty="0"/>
          </a:p>
        </p:txBody>
      </p:sp>
      <p:sp>
        <p:nvSpPr>
          <p:cNvPr id="17" name="Shape 15"/>
          <p:cNvSpPr/>
          <p:nvPr/>
        </p:nvSpPr>
        <p:spPr>
          <a:xfrm>
            <a:off x="7863840" y="1691640"/>
            <a:ext cx="3639312" cy="4023360"/>
          </a:xfrm>
          <a:prstGeom prst="roundRect">
            <a:avLst>
              <a:gd name="adj" fmla="val 3015"/>
            </a:avLst>
          </a:prstGeom>
          <a:solidFill>
            <a:srgbClr val="081840"/>
          </a:solidFill>
          <a:ln/>
        </p:spPr>
      </p:sp>
      <p:sp>
        <p:nvSpPr>
          <p:cNvPr id="18" name="Text 16"/>
          <p:cNvSpPr txBox="1"/>
          <p:nvPr/>
        </p:nvSpPr>
        <p:spPr>
          <a:xfrm>
            <a:off x="8183880" y="1965960"/>
            <a:ext cx="3017520" cy="640080"/>
          </a:xfrm>
          <a:prstGeom prst="rect">
            <a:avLst/>
          </a:prstGeom>
          <a:noFill/>
          <a:ln/>
        </p:spPr>
        <p:txBody>
          <a:bodyPr wrap="square" lIns="0" tIns="0" rIns="0" bIns="0" rtlCol="0" anchor="t"/>
          <a:lstStyle/>
          <a:p>
            <a:pPr indent="0" marL="0">
              <a:buNone/>
            </a:pPr>
            <a:r>
              <a:rPr lang="en-US" sz="1600" b="1" dirty="0">
                <a:solidFill>
                  <a:srgbClr val="D8B038"/>
                </a:solidFill>
                <a:latin typeface="Arial" pitchFamily="34" charset="0"/>
                <a:ea typeface="Arial" pitchFamily="34" charset="-122"/>
                <a:cs typeface="Arial" pitchFamily="34" charset="-120"/>
              </a:rPr>
              <a:t>The sentence you will need most</a:t>
            </a:r>
            <a:endParaRPr lang="en-US" sz="1600" dirty="0"/>
          </a:p>
        </p:txBody>
      </p:sp>
      <p:sp>
        <p:nvSpPr>
          <p:cNvPr id="19" name="Text 17"/>
          <p:cNvSpPr txBox="1"/>
          <p:nvPr/>
        </p:nvSpPr>
        <p:spPr>
          <a:xfrm>
            <a:off x="8183880" y="2697480"/>
            <a:ext cx="3017520" cy="1005840"/>
          </a:xfrm>
          <a:prstGeom prst="rect">
            <a:avLst/>
          </a:prstGeom>
          <a:noFill/>
          <a:ln/>
        </p:spPr>
        <p:txBody>
          <a:bodyPr wrap="square" lIns="0" tIns="0" rIns="0" bIns="0" rtlCol="0" anchor="t"/>
          <a:lstStyle/>
          <a:p>
            <a:pPr indent="0" marL="0">
              <a:lnSpc>
                <a:spcPct val="125000"/>
              </a:lnSpc>
              <a:buNone/>
            </a:pPr>
            <a:r>
              <a:rPr lang="en-US" sz="1550" i="1" dirty="0">
                <a:solidFill>
                  <a:srgbClr val="FFFFFF"/>
                </a:solidFill>
                <a:latin typeface="Calibri" pitchFamily="34" charset="0"/>
                <a:ea typeface="Calibri" pitchFamily="34" charset="-122"/>
                <a:cs typeface="Calibri" pitchFamily="34" charset="-120"/>
              </a:rPr>
              <a:t>“Someone else has already claimed your daughter on their return.”</a:t>
            </a:r>
            <a:endParaRPr lang="en-US" sz="1550" dirty="0"/>
          </a:p>
        </p:txBody>
      </p:sp>
      <p:sp>
        <p:nvSpPr>
          <p:cNvPr id="20" name="Text 18"/>
          <p:cNvSpPr txBox="1"/>
          <p:nvPr/>
        </p:nvSpPr>
        <p:spPr>
          <a:xfrm>
            <a:off x="8183880" y="3840480"/>
            <a:ext cx="3017520" cy="1737360"/>
          </a:xfrm>
          <a:prstGeom prst="rect">
            <a:avLst/>
          </a:prstGeom>
          <a:noFill/>
          <a:ln/>
        </p:spPr>
        <p:txBody>
          <a:bodyPr wrap="square" lIns="0" tIns="0" rIns="0" bIns="0" rtlCol="0" anchor="t"/>
          <a:lstStyle/>
          <a:p>
            <a:pPr indent="0" marL="0">
              <a:lnSpc>
                <a:spcPct val="120000"/>
              </a:lnSpc>
              <a:buNone/>
            </a:pPr>
            <a:r>
              <a:rPr lang="en-US" sz="1300" dirty="0">
                <a:solidFill>
                  <a:srgbClr val="C3CEE6"/>
                </a:solidFill>
                <a:latin typeface="Calibri" pitchFamily="34" charset="0"/>
                <a:ea typeface="Calibri" pitchFamily="34" charset="-122"/>
                <a:cs typeface="Calibri" pitchFamily="34" charset="-120"/>
              </a:rPr>
              <a:t>Practise saying it calmly. Explain the tie-breaker rules, find out who else may have claimed, and if your client is entitled we file on paper.</a:t>
            </a:r>
            <a:endParaRPr lang="en-US" sz="1300" dirty="0"/>
          </a:p>
          <a:p>
            <a:pPr indent="0" marL="0">
              <a:lnSpc>
                <a:spcPct val="120000"/>
              </a:lnSpc>
              <a:buNone/>
            </a:pPr>
            <a:endParaRPr lang="en-US" sz="1300" dirty="0"/>
          </a:p>
          <a:p>
            <a:pPr indent="0" marL="0">
              <a:lnSpc>
                <a:spcPct val="120000"/>
              </a:lnSpc>
              <a:buNone/>
            </a:pPr>
            <a:r>
              <a:rPr lang="en-US" sz="1300" dirty="0">
                <a:solidFill>
                  <a:srgbClr val="C3CEE6"/>
                </a:solidFill>
                <a:latin typeface="Calibri" pitchFamily="34" charset="0"/>
                <a:ea typeface="Calibri" pitchFamily="34" charset="-122"/>
                <a:cs typeface="Calibri" pitchFamily="34" charset="-120"/>
              </a:rPr>
              <a:t>Don't accuse anyone. Don't guess. Get your trainer if it gets difficult.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81840"/>
        </a:solidFill>
      </p:bgPr>
    </p:bg>
    <p:spTree>
      <p:nvGrpSpPr>
        <p:cNvPr id="1" name=""/>
        <p:cNvGrpSpPr/>
        <p:nvPr/>
      </p:nvGrpSpPr>
      <p:grpSpPr>
        <a:xfrm>
          <a:off x="0" y="0"/>
          <a:ext cx="0" cy="0"/>
          <a:chOff x="0" y="0"/>
          <a:chExt cx="0" cy="0"/>
        </a:xfrm>
      </p:grpSpPr>
      <p:sp>
        <p:nvSpPr>
          <p:cNvPr id="2" name="Shape 0"/>
          <p:cNvSpPr/>
          <p:nvPr/>
        </p:nvSpPr>
        <p:spPr>
          <a:xfrm>
            <a:off x="685800" y="1600200"/>
            <a:ext cx="1371600" cy="1371600"/>
          </a:xfrm>
          <a:prstGeom prst="ellipse">
            <a:avLst/>
          </a:prstGeom>
          <a:solidFill>
            <a:srgbClr val="D8B038"/>
          </a:solidFill>
          <a:ln/>
        </p:spPr>
      </p:sp>
      <p:sp>
        <p:nvSpPr>
          <p:cNvPr id="3" name="Text 1"/>
          <p:cNvSpPr txBox="1"/>
          <p:nvPr/>
        </p:nvSpPr>
        <p:spPr>
          <a:xfrm>
            <a:off x="685800" y="1600200"/>
            <a:ext cx="1371600" cy="1371600"/>
          </a:xfrm>
          <a:prstGeom prst="rect">
            <a:avLst/>
          </a:prstGeom>
          <a:noFill/>
          <a:ln/>
        </p:spPr>
        <p:txBody>
          <a:bodyPr wrap="square" lIns="0" tIns="0" rIns="0" bIns="0" rtlCol="0" anchor="ctr"/>
          <a:lstStyle/>
          <a:p>
            <a:pPr algn="ctr" indent="0" marL="0">
              <a:buNone/>
            </a:pPr>
            <a:r>
              <a:rPr lang="en-US" sz="6000" b="1" dirty="0">
                <a:solidFill>
                  <a:srgbClr val="081840"/>
                </a:solidFill>
                <a:latin typeface="Arial" pitchFamily="34" charset="0"/>
                <a:ea typeface="Arial" pitchFamily="34" charset="-122"/>
                <a:cs typeface="Arial" pitchFamily="34" charset="-120"/>
              </a:rPr>
              <a:t>8</a:t>
            </a:r>
            <a:endParaRPr lang="en-US" sz="6000" dirty="0"/>
          </a:p>
        </p:txBody>
      </p:sp>
      <p:sp>
        <p:nvSpPr>
          <p:cNvPr id="4" name="Text 2"/>
          <p:cNvSpPr txBox="1"/>
          <p:nvPr/>
        </p:nvSpPr>
        <p:spPr>
          <a:xfrm>
            <a:off x="2606040" y="1645920"/>
            <a:ext cx="8899855" cy="274320"/>
          </a:xfrm>
          <a:prstGeom prst="rect">
            <a:avLst/>
          </a:prstGeom>
          <a:noFill/>
          <a:ln/>
        </p:spPr>
        <p:txBody>
          <a:bodyPr wrap="square" lIns="0" tIns="0" rIns="0" bIns="0" rtlCol="0" anchor="ctr"/>
          <a:lstStyle/>
          <a:p>
            <a:pPr indent="0" marL="0">
              <a:buNone/>
            </a:pPr>
            <a:r>
              <a:rPr lang="en-US" sz="1250" b="1" spc="200" kern="0" dirty="0">
                <a:solidFill>
                  <a:srgbClr val="D8B038"/>
                </a:solidFill>
                <a:latin typeface="Calibri" pitchFamily="34" charset="0"/>
                <a:ea typeface="Calibri" pitchFamily="34" charset="-122"/>
                <a:cs typeface="Calibri" pitchFamily="34" charset="-120"/>
              </a:rPr>
              <a:t>MODULE 8</a:t>
            </a:r>
            <a:endParaRPr lang="en-US" sz="1250" dirty="0"/>
          </a:p>
        </p:txBody>
      </p:sp>
      <p:sp>
        <p:nvSpPr>
          <p:cNvPr id="5" name="Text 3"/>
          <p:cNvSpPr txBox="1"/>
          <p:nvPr/>
        </p:nvSpPr>
        <p:spPr>
          <a:xfrm>
            <a:off x="2606040" y="1975104"/>
            <a:ext cx="8442655" cy="658368"/>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Practice Lab</a:t>
            </a:r>
            <a:endParaRPr lang="en-US" sz="3800" dirty="0"/>
          </a:p>
        </p:txBody>
      </p:sp>
      <p:sp>
        <p:nvSpPr>
          <p:cNvPr id="6" name="Text 4"/>
          <p:cNvSpPr txBox="1"/>
          <p:nvPr/>
        </p:nvSpPr>
        <p:spPr>
          <a:xfrm>
            <a:off x="2606040" y="2944368"/>
            <a:ext cx="7711135" cy="822960"/>
          </a:xfrm>
          <a:prstGeom prst="rect">
            <a:avLst/>
          </a:prstGeom>
          <a:noFill/>
          <a:ln/>
        </p:spPr>
        <p:txBody>
          <a:bodyPr wrap="square" lIns="0" tIns="0" rIns="0" bIns="0" rtlCol="0" anchor="t"/>
          <a:lstStyle/>
          <a:p>
            <a:pPr indent="0" marL="0">
              <a:buNone/>
            </a:pPr>
            <a:r>
              <a:rPr lang="en-US" sz="1550" dirty="0">
                <a:solidFill>
                  <a:srgbClr val="AAB6CE"/>
                </a:solidFill>
                <a:latin typeface="Calibri" pitchFamily="34" charset="0"/>
                <a:ea typeface="Calibri" pitchFamily="34" charset="-122"/>
                <a:cs typeface="Calibri" pitchFamily="34" charset="-120"/>
              </a:rPr>
              <a:t>Four complete returns, built from messy piles of paper, the way they actually arrive. Then the final.</a:t>
            </a:r>
            <a:endParaRPr lang="en-US" sz="1550" dirty="0"/>
          </a:p>
        </p:txBody>
      </p:sp>
      <p:sp>
        <p:nvSpPr>
          <p:cNvPr id="7" name="Text 5"/>
          <p:cNvSpPr txBox="1"/>
          <p:nvPr/>
        </p:nvSpPr>
        <p:spPr>
          <a:xfrm>
            <a:off x="2606040" y="3931920"/>
            <a:ext cx="8899855" cy="274320"/>
          </a:xfrm>
          <a:prstGeom prst="rect">
            <a:avLst/>
          </a:prstGeom>
          <a:noFill/>
          <a:ln/>
        </p:spPr>
        <p:txBody>
          <a:bodyPr wrap="square" lIns="0" tIns="0" rIns="0" bIns="0" rtlCol="0" anchor="ctr"/>
          <a:lstStyle/>
          <a:p>
            <a:pPr indent="0" marL="0">
              <a:buNone/>
            </a:pPr>
            <a:r>
              <a:rPr lang="en-US" sz="1200" b="1" spc="120" kern="0" dirty="0">
                <a:solidFill>
                  <a:srgbClr val="8798B8"/>
                </a:solidFill>
                <a:latin typeface="Calibri" pitchFamily="34" charset="0"/>
                <a:ea typeface="Calibri" pitchFamily="34" charset="-122"/>
                <a:cs typeface="Calibri" pitchFamily="34" charset="-120"/>
              </a:rPr>
              <a:t>WEEK 10</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19456"/>
          </a:xfrm>
          <a:prstGeom prst="rect">
            <a:avLst/>
          </a:prstGeom>
          <a:noFill/>
          <a:ln/>
        </p:spPr>
        <p:txBody>
          <a:bodyPr wrap="square" lIns="0" tIns="0" rIns="0" bIns="0" rtlCol="0" anchor="ctr"/>
          <a:lstStyle/>
          <a:p>
            <a:pPr indent="0" marL="0">
              <a:buNone/>
            </a:pPr>
            <a:r>
              <a:rPr lang="en-US" sz="1100" b="1" spc="140" kern="0" dirty="0">
                <a:solidFill>
                  <a:srgbClr val="9A7020"/>
                </a:solidFill>
                <a:latin typeface="Calibri" pitchFamily="34" charset="0"/>
                <a:ea typeface="Calibri" pitchFamily="34" charset="-122"/>
                <a:cs typeface="Calibri" pitchFamily="34" charset="-120"/>
              </a:rPr>
              <a:t>MODULE 8 · PRACTICE LAB</a:t>
            </a:r>
            <a:endParaRPr lang="en-US" sz="1100" dirty="0"/>
          </a:p>
        </p:txBody>
      </p:sp>
      <p:sp>
        <p:nvSpPr>
          <p:cNvPr id="3" name="Text 1"/>
          <p:cNvSpPr txBox="1"/>
          <p:nvPr/>
        </p:nvSpPr>
        <p:spPr>
          <a:xfrm>
            <a:off x="685800" y="694944"/>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Four full returns</a:t>
            </a:r>
            <a:endParaRPr lang="en-US" sz="3000" dirty="0"/>
          </a:p>
        </p:txBody>
      </p:sp>
      <p:sp>
        <p:nvSpPr>
          <p:cNvPr id="4" name="Shape 2"/>
          <p:cNvSpPr/>
          <p:nvPr/>
        </p:nvSpPr>
        <p:spPr>
          <a:xfrm>
            <a:off x="685800" y="1737360"/>
            <a:ext cx="2430704" cy="301752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5" name="Text 3"/>
          <p:cNvSpPr txBox="1"/>
          <p:nvPr/>
        </p:nvSpPr>
        <p:spPr>
          <a:xfrm>
            <a:off x="960120" y="2011680"/>
            <a:ext cx="1882064" cy="365760"/>
          </a:xfrm>
          <a:prstGeom prst="rect">
            <a:avLst/>
          </a:prstGeom>
          <a:noFill/>
          <a:ln/>
        </p:spPr>
        <p:txBody>
          <a:bodyPr wrap="square" lIns="0" tIns="0" rIns="0" bIns="0" rtlCol="0" anchor="ctr"/>
          <a:lstStyle/>
          <a:p>
            <a:pPr indent="0" marL="0">
              <a:buNone/>
            </a:pPr>
            <a:r>
              <a:rPr lang="en-US" sz="2000" b="1" dirty="0">
                <a:solidFill>
                  <a:srgbClr val="9A7020"/>
                </a:solidFill>
                <a:latin typeface="Arial" pitchFamily="34" charset="0"/>
                <a:ea typeface="Arial" pitchFamily="34" charset="-122"/>
                <a:cs typeface="Arial" pitchFamily="34" charset="-120"/>
              </a:rPr>
              <a:t>Lab 1</a:t>
            </a:r>
            <a:endParaRPr lang="en-US" sz="2000" dirty="0"/>
          </a:p>
        </p:txBody>
      </p:sp>
      <p:sp>
        <p:nvSpPr>
          <p:cNvPr id="6" name="Text 4"/>
          <p:cNvSpPr txBox="1"/>
          <p:nvPr/>
        </p:nvSpPr>
        <p:spPr>
          <a:xfrm>
            <a:off x="960120" y="2487168"/>
            <a:ext cx="1882064" cy="2011680"/>
          </a:xfrm>
          <a:prstGeom prst="rect">
            <a:avLst/>
          </a:prstGeom>
          <a:noFill/>
          <a:ln/>
        </p:spPr>
        <p:txBody>
          <a:bodyPr wrap="square" lIns="0" tIns="0" rIns="0" bIns="0" rtlCol="0" anchor="t"/>
          <a:lstStyle/>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Single parent, two children, one W-2 plus rideshare. Detroit resident, renting. Federal, state, city, EITC, CTC, Homestead.</a:t>
            </a:r>
            <a:endParaRPr lang="en-US" sz="1350" dirty="0"/>
          </a:p>
        </p:txBody>
      </p:sp>
      <p:sp>
        <p:nvSpPr>
          <p:cNvPr id="7" name="Shape 5"/>
          <p:cNvSpPr/>
          <p:nvPr/>
        </p:nvSpPr>
        <p:spPr>
          <a:xfrm>
            <a:off x="3482264" y="1737360"/>
            <a:ext cx="2430704" cy="301752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8" name="Text 6"/>
          <p:cNvSpPr txBox="1"/>
          <p:nvPr/>
        </p:nvSpPr>
        <p:spPr>
          <a:xfrm>
            <a:off x="3756584" y="2011680"/>
            <a:ext cx="1882064" cy="365760"/>
          </a:xfrm>
          <a:prstGeom prst="rect">
            <a:avLst/>
          </a:prstGeom>
          <a:noFill/>
          <a:ln/>
        </p:spPr>
        <p:txBody>
          <a:bodyPr wrap="square" lIns="0" tIns="0" rIns="0" bIns="0" rtlCol="0" anchor="ctr"/>
          <a:lstStyle/>
          <a:p>
            <a:pPr indent="0" marL="0">
              <a:buNone/>
            </a:pPr>
            <a:r>
              <a:rPr lang="en-US" sz="2000" b="1" dirty="0">
                <a:solidFill>
                  <a:srgbClr val="9A7020"/>
                </a:solidFill>
                <a:latin typeface="Arial" pitchFamily="34" charset="0"/>
                <a:ea typeface="Arial" pitchFamily="34" charset="-122"/>
                <a:cs typeface="Arial" pitchFamily="34" charset="-120"/>
              </a:rPr>
              <a:t>Lab 2</a:t>
            </a:r>
            <a:endParaRPr lang="en-US" sz="2000" dirty="0"/>
          </a:p>
        </p:txBody>
      </p:sp>
      <p:sp>
        <p:nvSpPr>
          <p:cNvPr id="9" name="Text 7"/>
          <p:cNvSpPr txBox="1"/>
          <p:nvPr/>
        </p:nvSpPr>
        <p:spPr>
          <a:xfrm>
            <a:off x="3756584" y="2487168"/>
            <a:ext cx="1882064" cy="2011680"/>
          </a:xfrm>
          <a:prstGeom prst="rect">
            <a:avLst/>
          </a:prstGeom>
          <a:noFill/>
          <a:ln/>
        </p:spPr>
        <p:txBody>
          <a:bodyPr wrap="square" lIns="0" tIns="0" rIns="0" bIns="0" rtlCol="0" anchor="t"/>
          <a:lstStyle/>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Separated client whose spouse left in October, one child, disputed status. The right answer is MFS — and you have to say so.</a:t>
            </a:r>
            <a:endParaRPr lang="en-US" sz="1350" dirty="0"/>
          </a:p>
        </p:txBody>
      </p:sp>
      <p:sp>
        <p:nvSpPr>
          <p:cNvPr id="10" name="Shape 8"/>
          <p:cNvSpPr/>
          <p:nvPr/>
        </p:nvSpPr>
        <p:spPr>
          <a:xfrm>
            <a:off x="6278728" y="1737360"/>
            <a:ext cx="2430704" cy="301752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11" name="Text 9"/>
          <p:cNvSpPr txBox="1"/>
          <p:nvPr/>
        </p:nvSpPr>
        <p:spPr>
          <a:xfrm>
            <a:off x="6553048" y="2011680"/>
            <a:ext cx="1882064" cy="365760"/>
          </a:xfrm>
          <a:prstGeom prst="rect">
            <a:avLst/>
          </a:prstGeom>
          <a:noFill/>
          <a:ln/>
        </p:spPr>
        <p:txBody>
          <a:bodyPr wrap="square" lIns="0" tIns="0" rIns="0" bIns="0" rtlCol="0" anchor="ctr"/>
          <a:lstStyle/>
          <a:p>
            <a:pPr indent="0" marL="0">
              <a:buNone/>
            </a:pPr>
            <a:r>
              <a:rPr lang="en-US" sz="2000" b="1" dirty="0">
                <a:solidFill>
                  <a:srgbClr val="9A7020"/>
                </a:solidFill>
                <a:latin typeface="Arial" pitchFamily="34" charset="0"/>
                <a:ea typeface="Arial" pitchFamily="34" charset="-122"/>
                <a:cs typeface="Arial" pitchFamily="34" charset="-120"/>
              </a:rPr>
              <a:t>Lab 3</a:t>
            </a:r>
            <a:endParaRPr lang="en-US" sz="2000" dirty="0"/>
          </a:p>
        </p:txBody>
      </p:sp>
      <p:sp>
        <p:nvSpPr>
          <p:cNvPr id="12" name="Text 10"/>
          <p:cNvSpPr txBox="1"/>
          <p:nvPr/>
        </p:nvSpPr>
        <p:spPr>
          <a:xfrm>
            <a:off x="6553048" y="2487168"/>
            <a:ext cx="1882064" cy="2011680"/>
          </a:xfrm>
          <a:prstGeom prst="rect">
            <a:avLst/>
          </a:prstGeom>
          <a:noFill/>
          <a:ln/>
        </p:spPr>
        <p:txBody>
          <a:bodyPr wrap="square" lIns="0" tIns="0" rIns="0" bIns="0" rtlCol="0" anchor="t"/>
          <a:lstStyle/>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Retired veteran, 68. VA disability, military retirement, Social Security and a part-time tipped job. Schedule 1-A applies.</a:t>
            </a:r>
            <a:endParaRPr lang="en-US" sz="1350" dirty="0"/>
          </a:p>
        </p:txBody>
      </p:sp>
      <p:sp>
        <p:nvSpPr>
          <p:cNvPr id="13" name="Shape 11"/>
          <p:cNvSpPr/>
          <p:nvPr/>
        </p:nvSpPr>
        <p:spPr>
          <a:xfrm>
            <a:off x="9075191" y="1737360"/>
            <a:ext cx="2430704" cy="3017520"/>
          </a:xfrm>
          <a:prstGeom prst="roundRect">
            <a:avLst>
              <a:gd name="adj" fmla="val 4514"/>
            </a:avLst>
          </a:prstGeom>
          <a:solidFill>
            <a:srgbClr val="F2F5FA"/>
          </a:solidFill>
          <a:ln/>
          <a:effectLst>
            <a:outerShdw sx="100000" sy="100000" kx="0" ky="0" algn="bl" rotWithShape="0" blurRad="177800" dist="50800" dir="5400000">
              <a:srgbClr val="081840">
                <a:alpha val="10000"/>
              </a:srgbClr>
            </a:outerShdw>
          </a:effectLst>
        </p:spPr>
      </p:sp>
      <p:sp>
        <p:nvSpPr>
          <p:cNvPr id="14" name="Text 12"/>
          <p:cNvSpPr txBox="1"/>
          <p:nvPr/>
        </p:nvSpPr>
        <p:spPr>
          <a:xfrm>
            <a:off x="9349511" y="2011680"/>
            <a:ext cx="1882064" cy="365760"/>
          </a:xfrm>
          <a:prstGeom prst="rect">
            <a:avLst/>
          </a:prstGeom>
          <a:noFill/>
          <a:ln/>
        </p:spPr>
        <p:txBody>
          <a:bodyPr wrap="square" lIns="0" tIns="0" rIns="0" bIns="0" rtlCol="0" anchor="ctr"/>
          <a:lstStyle/>
          <a:p>
            <a:pPr indent="0" marL="0">
              <a:buNone/>
            </a:pPr>
            <a:r>
              <a:rPr lang="en-US" sz="2000" b="1" dirty="0">
                <a:solidFill>
                  <a:srgbClr val="9A7020"/>
                </a:solidFill>
                <a:latin typeface="Arial" pitchFamily="34" charset="0"/>
                <a:ea typeface="Arial" pitchFamily="34" charset="-122"/>
                <a:cs typeface="Arial" pitchFamily="34" charset="-120"/>
              </a:rPr>
              <a:t>Lab 4</a:t>
            </a:r>
            <a:endParaRPr lang="en-US" sz="2000" dirty="0"/>
          </a:p>
        </p:txBody>
      </p:sp>
      <p:sp>
        <p:nvSpPr>
          <p:cNvPr id="15" name="Text 13"/>
          <p:cNvSpPr txBox="1"/>
          <p:nvPr/>
        </p:nvSpPr>
        <p:spPr>
          <a:xfrm>
            <a:off x="9349511" y="2487168"/>
            <a:ext cx="1882064" cy="2011680"/>
          </a:xfrm>
          <a:prstGeom prst="rect">
            <a:avLst/>
          </a:prstGeom>
          <a:noFill/>
          <a:ln/>
        </p:spPr>
        <p:txBody>
          <a:bodyPr wrap="square" lIns="0" tIns="0" rIns="0" bIns="0" rtlCol="0" anchor="t"/>
          <a:lstStyle/>
          <a:p>
            <a:pPr indent="0" marL="0">
              <a:lnSpc>
                <a:spcPct val="125000"/>
              </a:lnSpc>
              <a:buNone/>
            </a:pPr>
            <a:r>
              <a:rPr lang="en-US" sz="1350" dirty="0">
                <a:solidFill>
                  <a:srgbClr val="2B3448"/>
                </a:solidFill>
                <a:latin typeface="Calibri" pitchFamily="34" charset="0"/>
                <a:ea typeface="Calibri" pitchFamily="34" charset="-122"/>
                <a:cs typeface="Calibri" pitchFamily="34" charset="-120"/>
              </a:rPr>
              <a:t>Grandparent raising two grandchildren, moved out of Detroit in July, small cash cleaning income with partial records.</a:t>
            </a:r>
            <a:endParaRPr lang="en-US" sz="1350" dirty="0"/>
          </a:p>
        </p:txBody>
      </p:sp>
      <p:sp>
        <p:nvSpPr>
          <p:cNvPr id="16" name="Shape 14"/>
          <p:cNvSpPr/>
          <p:nvPr/>
        </p:nvSpPr>
        <p:spPr>
          <a:xfrm>
            <a:off x="685800" y="5120640"/>
            <a:ext cx="10820095" cy="1125982"/>
          </a:xfrm>
          <a:prstGeom prst="roundRect">
            <a:avLst>
              <a:gd name="adj" fmla="val 9745"/>
            </a:avLst>
          </a:prstGeom>
          <a:solidFill>
            <a:srgbClr val="D6F5E7"/>
          </a:solidFill>
          <a:ln/>
        </p:spPr>
      </p:sp>
      <p:sp>
        <p:nvSpPr>
          <p:cNvPr id="17" name="Text 15"/>
          <p:cNvSpPr txBox="1"/>
          <p:nvPr/>
        </p:nvSpPr>
        <p:spPr>
          <a:xfrm>
            <a:off x="960120" y="5266944"/>
            <a:ext cx="10271455" cy="219456"/>
          </a:xfrm>
          <a:prstGeom prst="rect">
            <a:avLst/>
          </a:prstGeom>
          <a:noFill/>
          <a:ln/>
        </p:spPr>
        <p:txBody>
          <a:bodyPr wrap="square" lIns="0" tIns="0" rIns="0" bIns="0" rtlCol="0" anchor="ctr"/>
          <a:lstStyle/>
          <a:p>
            <a:pPr indent="0" marL="0">
              <a:buNone/>
            </a:pPr>
            <a:r>
              <a:rPr lang="en-US" sz="1100" b="1" spc="140" kern="0" dirty="0">
                <a:solidFill>
                  <a:srgbClr val="07684A"/>
                </a:solidFill>
                <a:latin typeface="Calibri" pitchFamily="34" charset="0"/>
                <a:ea typeface="Calibri" pitchFamily="34" charset="-122"/>
                <a:cs typeface="Calibri" pitchFamily="34" charset="-120"/>
              </a:rPr>
              <a:t>YOUR FIRST FIFTEEN RETURNS</a:t>
            </a:r>
            <a:endParaRPr lang="en-US" sz="1100" dirty="0"/>
          </a:p>
        </p:txBody>
      </p:sp>
      <p:sp>
        <p:nvSpPr>
          <p:cNvPr id="18" name="Text 16"/>
          <p:cNvSpPr txBox="1"/>
          <p:nvPr/>
        </p:nvSpPr>
        <p:spPr>
          <a:xfrm>
            <a:off x="960120" y="5522976"/>
            <a:ext cx="10271455" cy="485902"/>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Every new preparer's first fifteen returns are reviewed before they are transmitted, and review continues until two batches in a row come back clean. This is support, not suspicion — everyone here went through it.</a:t>
            </a:r>
            <a:endParaRPr lang="en-US" sz="14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820095" cy="822960"/>
          </a:xfrm>
          <a:prstGeom prst="rect">
            <a:avLst/>
          </a:prstGeom>
          <a:noFill/>
          <a:ln/>
        </p:spPr>
        <p:txBody>
          <a:bodyPr wrap="square" lIns="0" tIns="0" rIns="0" bIns="0" rtlCol="0" anchor="t"/>
          <a:lstStyle/>
          <a:p>
            <a:pPr indent="0" marL="0">
              <a:buNone/>
            </a:pPr>
            <a:r>
              <a:rPr lang="en-US" sz="3000" b="1" dirty="0">
                <a:solidFill>
                  <a:srgbClr val="081840"/>
                </a:solidFill>
                <a:latin typeface="Arial" pitchFamily="34" charset="0"/>
                <a:ea typeface="Arial" pitchFamily="34" charset="-122"/>
                <a:cs typeface="Arial" pitchFamily="34" charset="-120"/>
              </a:rPr>
              <a:t>The final exam</a:t>
            </a:r>
            <a:endParaRPr lang="en-US" sz="3000" dirty="0"/>
          </a:p>
        </p:txBody>
      </p:sp>
      <p:sp>
        <p:nvSpPr>
          <p:cNvPr id="3" name="Text 1"/>
          <p:cNvSpPr txBox="1"/>
          <p:nvPr/>
        </p:nvSpPr>
        <p:spPr>
          <a:xfrm>
            <a:off x="685800" y="1371600"/>
            <a:ext cx="10820095" cy="365760"/>
          </a:xfrm>
          <a:prstGeom prst="rect">
            <a:avLst/>
          </a:prstGeom>
          <a:noFill/>
          <a:ln/>
        </p:spPr>
        <p:txBody>
          <a:bodyPr wrap="square" lIns="0" tIns="0" rIns="0" bIns="0" rtlCol="0" anchor="ctr"/>
          <a:lstStyle/>
          <a:p>
            <a:pPr indent="0" marL="0">
              <a:buNone/>
            </a:pPr>
            <a:r>
              <a:rPr lang="en-US" sz="1600" dirty="0">
                <a:solidFill>
                  <a:srgbClr val="5B6577"/>
                </a:solidFill>
                <a:latin typeface="Calibri" pitchFamily="34" charset="0"/>
                <a:ea typeface="Calibri" pitchFamily="34" charset="-122"/>
                <a:cs typeface="Calibri" pitchFamily="34" charset="-120"/>
              </a:rPr>
              <a:t>14–18 December · two hours · open-book for figures, not for judgement</a:t>
            </a:r>
            <a:endParaRPr lang="en-US" sz="1600" dirty="0"/>
          </a:p>
        </p:txBody>
      </p:sp>
      <p:sp>
        <p:nvSpPr>
          <p:cNvPr id="4" name="Text 2"/>
          <p:cNvSpPr txBox="1"/>
          <p:nvPr/>
        </p:nvSpPr>
        <p:spPr>
          <a:xfrm>
            <a:off x="685800" y="1920240"/>
            <a:ext cx="95097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Part</a:t>
            </a:r>
            <a:endParaRPr lang="en-US" sz="1150" dirty="0"/>
          </a:p>
        </p:txBody>
      </p:sp>
      <p:sp>
        <p:nvSpPr>
          <p:cNvPr id="5" name="Text 3"/>
          <p:cNvSpPr txBox="1"/>
          <p:nvPr/>
        </p:nvSpPr>
        <p:spPr>
          <a:xfrm>
            <a:off x="1929384" y="1920240"/>
            <a:ext cx="60716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Covers</a:t>
            </a:r>
            <a:endParaRPr lang="en-US" sz="1150" dirty="0"/>
          </a:p>
        </p:txBody>
      </p:sp>
      <p:sp>
        <p:nvSpPr>
          <p:cNvPr id="6" name="Text 4"/>
          <p:cNvSpPr txBox="1"/>
          <p:nvPr/>
        </p:nvSpPr>
        <p:spPr>
          <a:xfrm>
            <a:off x="8147304" y="1920240"/>
            <a:ext cx="1499616"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Weight</a:t>
            </a:r>
            <a:endParaRPr lang="en-US" sz="1150" dirty="0"/>
          </a:p>
        </p:txBody>
      </p:sp>
      <p:sp>
        <p:nvSpPr>
          <p:cNvPr id="7" name="Text 5"/>
          <p:cNvSpPr txBox="1"/>
          <p:nvPr/>
        </p:nvSpPr>
        <p:spPr>
          <a:xfrm>
            <a:off x="9793224" y="1920240"/>
            <a:ext cx="1709928" cy="274320"/>
          </a:xfrm>
          <a:prstGeom prst="rect">
            <a:avLst/>
          </a:prstGeom>
          <a:noFill/>
          <a:ln/>
        </p:spPr>
        <p:txBody>
          <a:bodyPr wrap="square" lIns="0" tIns="0" rIns="0" bIns="0" rtlCol="0" anchor="b"/>
          <a:lstStyle/>
          <a:p>
            <a:pPr indent="0" marL="0">
              <a:buNone/>
            </a:pPr>
            <a:r>
              <a:rPr lang="en-US" sz="1150" b="1" spc="60" kern="0" dirty="0">
                <a:solidFill>
                  <a:srgbClr val="5B6577"/>
                </a:solidFill>
                <a:latin typeface="Calibri" pitchFamily="34" charset="0"/>
                <a:ea typeface="Calibri" pitchFamily="34" charset="-122"/>
                <a:cs typeface="Calibri" pitchFamily="34" charset="-120"/>
              </a:rPr>
              <a:t>You need</a:t>
            </a:r>
            <a:endParaRPr lang="en-US" sz="1150" dirty="0"/>
          </a:p>
        </p:txBody>
      </p:sp>
      <p:sp>
        <p:nvSpPr>
          <p:cNvPr id="8" name="Shape 6"/>
          <p:cNvSpPr/>
          <p:nvPr/>
        </p:nvSpPr>
        <p:spPr>
          <a:xfrm>
            <a:off x="685800" y="2212848"/>
            <a:ext cx="10817352" cy="20117"/>
          </a:xfrm>
          <a:prstGeom prst="rect">
            <a:avLst/>
          </a:prstGeom>
          <a:solidFill>
            <a:srgbClr val="081840"/>
          </a:solidFill>
          <a:ln/>
        </p:spPr>
      </p:sp>
      <p:sp>
        <p:nvSpPr>
          <p:cNvPr id="9" name="Shape 7"/>
          <p:cNvSpPr/>
          <p:nvPr/>
        </p:nvSpPr>
        <p:spPr>
          <a:xfrm>
            <a:off x="685800" y="2286000"/>
            <a:ext cx="10817352" cy="420624"/>
          </a:xfrm>
          <a:prstGeom prst="rect">
            <a:avLst/>
          </a:prstGeom>
          <a:solidFill>
            <a:srgbClr val="F2F5FA"/>
          </a:solidFill>
          <a:ln/>
        </p:spPr>
      </p:sp>
      <p:sp>
        <p:nvSpPr>
          <p:cNvPr id="10" name="Text 8"/>
          <p:cNvSpPr txBox="1"/>
          <p:nvPr/>
        </p:nvSpPr>
        <p:spPr>
          <a:xfrm>
            <a:off x="685800" y="2286000"/>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A</a:t>
            </a:r>
            <a:endParaRPr lang="en-US" sz="1450" dirty="0"/>
          </a:p>
        </p:txBody>
      </p:sp>
      <p:sp>
        <p:nvSpPr>
          <p:cNvPr id="11" name="Text 9"/>
          <p:cNvSpPr txBox="1"/>
          <p:nvPr/>
        </p:nvSpPr>
        <p:spPr>
          <a:xfrm>
            <a:off x="1929384" y="2286000"/>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Filing status — six fact patterns</a:t>
            </a:r>
            <a:endParaRPr lang="en-US" sz="1450" dirty="0"/>
          </a:p>
        </p:txBody>
      </p:sp>
      <p:sp>
        <p:nvSpPr>
          <p:cNvPr id="12" name="Text 10"/>
          <p:cNvSpPr txBox="1"/>
          <p:nvPr/>
        </p:nvSpPr>
        <p:spPr>
          <a:xfrm>
            <a:off x="8147304" y="2286000"/>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30%</a:t>
            </a:r>
            <a:endParaRPr lang="en-US" sz="1450" dirty="0"/>
          </a:p>
        </p:txBody>
      </p:sp>
      <p:sp>
        <p:nvSpPr>
          <p:cNvPr id="13" name="Text 11"/>
          <p:cNvSpPr txBox="1"/>
          <p:nvPr/>
        </p:nvSpPr>
        <p:spPr>
          <a:xfrm>
            <a:off x="9793224" y="2286000"/>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80%</a:t>
            </a:r>
            <a:endParaRPr lang="en-US" sz="1450" dirty="0"/>
          </a:p>
        </p:txBody>
      </p:sp>
      <p:sp>
        <p:nvSpPr>
          <p:cNvPr id="14" name="Text 12"/>
          <p:cNvSpPr txBox="1"/>
          <p:nvPr/>
        </p:nvSpPr>
        <p:spPr>
          <a:xfrm>
            <a:off x="685800" y="2706624"/>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B</a:t>
            </a:r>
            <a:endParaRPr lang="en-US" sz="1450" dirty="0"/>
          </a:p>
        </p:txBody>
      </p:sp>
      <p:sp>
        <p:nvSpPr>
          <p:cNvPr id="15" name="Text 13"/>
          <p:cNvSpPr txBox="1"/>
          <p:nvPr/>
        </p:nvSpPr>
        <p:spPr>
          <a:xfrm>
            <a:off x="1929384" y="2706624"/>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EITC eligibility — six fact patterns</a:t>
            </a:r>
            <a:endParaRPr lang="en-US" sz="1450" dirty="0"/>
          </a:p>
        </p:txBody>
      </p:sp>
      <p:sp>
        <p:nvSpPr>
          <p:cNvPr id="16" name="Text 14"/>
          <p:cNvSpPr txBox="1"/>
          <p:nvPr/>
        </p:nvSpPr>
        <p:spPr>
          <a:xfrm>
            <a:off x="8147304" y="2706624"/>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30%</a:t>
            </a:r>
            <a:endParaRPr lang="en-US" sz="1450" dirty="0"/>
          </a:p>
        </p:txBody>
      </p:sp>
      <p:sp>
        <p:nvSpPr>
          <p:cNvPr id="17" name="Text 15"/>
          <p:cNvSpPr txBox="1"/>
          <p:nvPr/>
        </p:nvSpPr>
        <p:spPr>
          <a:xfrm>
            <a:off x="9793224" y="2706624"/>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80%</a:t>
            </a:r>
            <a:endParaRPr lang="en-US" sz="1450" dirty="0"/>
          </a:p>
        </p:txBody>
      </p:sp>
      <p:sp>
        <p:nvSpPr>
          <p:cNvPr id="18" name="Shape 16"/>
          <p:cNvSpPr/>
          <p:nvPr/>
        </p:nvSpPr>
        <p:spPr>
          <a:xfrm>
            <a:off x="685800" y="3127248"/>
            <a:ext cx="10817352" cy="420624"/>
          </a:xfrm>
          <a:prstGeom prst="rect">
            <a:avLst/>
          </a:prstGeom>
          <a:solidFill>
            <a:srgbClr val="F2F5FA"/>
          </a:solidFill>
          <a:ln/>
        </p:spPr>
      </p:sp>
      <p:sp>
        <p:nvSpPr>
          <p:cNvPr id="19" name="Text 17"/>
          <p:cNvSpPr txBox="1"/>
          <p:nvPr/>
        </p:nvSpPr>
        <p:spPr>
          <a:xfrm>
            <a:off x="685800" y="3127248"/>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C</a:t>
            </a:r>
            <a:endParaRPr lang="en-US" sz="1450" dirty="0"/>
          </a:p>
        </p:txBody>
      </p:sp>
      <p:sp>
        <p:nvSpPr>
          <p:cNvPr id="20" name="Text 18"/>
          <p:cNvSpPr txBox="1"/>
          <p:nvPr/>
        </p:nvSpPr>
        <p:spPr>
          <a:xfrm>
            <a:off x="1929384" y="3127248"/>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One complete return — federal, Michigan, Detroit</a:t>
            </a:r>
            <a:endParaRPr lang="en-US" sz="1450" dirty="0"/>
          </a:p>
        </p:txBody>
      </p:sp>
      <p:sp>
        <p:nvSpPr>
          <p:cNvPr id="21" name="Text 19"/>
          <p:cNvSpPr txBox="1"/>
          <p:nvPr/>
        </p:nvSpPr>
        <p:spPr>
          <a:xfrm>
            <a:off x="8147304" y="3127248"/>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25%</a:t>
            </a:r>
            <a:endParaRPr lang="en-US" sz="1450" dirty="0"/>
          </a:p>
        </p:txBody>
      </p:sp>
      <p:sp>
        <p:nvSpPr>
          <p:cNvPr id="22" name="Text 20"/>
          <p:cNvSpPr txBox="1"/>
          <p:nvPr/>
        </p:nvSpPr>
        <p:spPr>
          <a:xfrm>
            <a:off x="9793224" y="3127248"/>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70%</a:t>
            </a:r>
            <a:endParaRPr lang="en-US" sz="1450" dirty="0"/>
          </a:p>
        </p:txBody>
      </p:sp>
      <p:sp>
        <p:nvSpPr>
          <p:cNvPr id="23" name="Text 21"/>
          <p:cNvSpPr txBox="1"/>
          <p:nvPr/>
        </p:nvSpPr>
        <p:spPr>
          <a:xfrm>
            <a:off x="685800" y="3547872"/>
            <a:ext cx="950976" cy="420624"/>
          </a:xfrm>
          <a:prstGeom prst="rect">
            <a:avLst/>
          </a:prstGeom>
          <a:noFill/>
          <a:ln/>
        </p:spPr>
        <p:txBody>
          <a:bodyPr wrap="square" lIns="0" tIns="0" rIns="0" bIns="0" rtlCol="0" anchor="ctr"/>
          <a:lstStyle/>
          <a:p>
            <a:pPr indent="0" marL="0">
              <a:buNone/>
            </a:pPr>
            <a:r>
              <a:rPr lang="en-US" sz="1450" b="1" dirty="0">
                <a:solidFill>
                  <a:srgbClr val="2B3448"/>
                </a:solidFill>
                <a:latin typeface="Calibri" pitchFamily="34" charset="0"/>
                <a:ea typeface="Calibri" pitchFamily="34" charset="-122"/>
                <a:cs typeface="Calibri" pitchFamily="34" charset="-120"/>
              </a:rPr>
              <a:t>D</a:t>
            </a:r>
            <a:endParaRPr lang="en-US" sz="1450" dirty="0"/>
          </a:p>
        </p:txBody>
      </p:sp>
      <p:sp>
        <p:nvSpPr>
          <p:cNvPr id="24" name="Text 22"/>
          <p:cNvSpPr txBox="1"/>
          <p:nvPr/>
        </p:nvSpPr>
        <p:spPr>
          <a:xfrm>
            <a:off x="1929384" y="3547872"/>
            <a:ext cx="5925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Ethics and due diligence</a:t>
            </a:r>
            <a:endParaRPr lang="en-US" sz="1450" dirty="0"/>
          </a:p>
        </p:txBody>
      </p:sp>
      <p:sp>
        <p:nvSpPr>
          <p:cNvPr id="25" name="Text 23"/>
          <p:cNvSpPr txBox="1"/>
          <p:nvPr/>
        </p:nvSpPr>
        <p:spPr>
          <a:xfrm>
            <a:off x="8147304" y="3547872"/>
            <a:ext cx="1353312"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15%</a:t>
            </a:r>
            <a:endParaRPr lang="en-US" sz="1450" dirty="0"/>
          </a:p>
        </p:txBody>
      </p:sp>
      <p:sp>
        <p:nvSpPr>
          <p:cNvPr id="26" name="Text 24"/>
          <p:cNvSpPr txBox="1"/>
          <p:nvPr/>
        </p:nvSpPr>
        <p:spPr>
          <a:xfrm>
            <a:off x="9793224" y="3547872"/>
            <a:ext cx="1563624" cy="420624"/>
          </a:xfrm>
          <a:prstGeom prst="rect">
            <a:avLst/>
          </a:prstGeom>
          <a:noFill/>
          <a:ln/>
        </p:spPr>
        <p:txBody>
          <a:bodyPr wrap="square" lIns="0" tIns="0" rIns="0" bIns="0" rtlCol="0" anchor="ctr"/>
          <a:lstStyle/>
          <a:p>
            <a:pPr indent="0" marL="0">
              <a:buNone/>
            </a:pPr>
            <a:r>
              <a:rPr lang="en-US" sz="1450" dirty="0">
                <a:solidFill>
                  <a:srgbClr val="2B3448"/>
                </a:solidFill>
                <a:latin typeface="Calibri" pitchFamily="34" charset="0"/>
                <a:ea typeface="Calibri" pitchFamily="34" charset="-122"/>
                <a:cs typeface="Calibri" pitchFamily="34" charset="-120"/>
              </a:rPr>
              <a:t>70%</a:t>
            </a:r>
            <a:endParaRPr lang="en-US" sz="1450" dirty="0"/>
          </a:p>
        </p:txBody>
      </p:sp>
      <p:sp>
        <p:nvSpPr>
          <p:cNvPr id="27" name="Shape 25"/>
          <p:cNvSpPr/>
          <p:nvPr/>
        </p:nvSpPr>
        <p:spPr>
          <a:xfrm>
            <a:off x="685800" y="4343400"/>
            <a:ext cx="10820095" cy="1371600"/>
          </a:xfrm>
          <a:prstGeom prst="roundRect">
            <a:avLst>
              <a:gd name="adj" fmla="val 8000"/>
            </a:avLst>
          </a:prstGeom>
          <a:solidFill>
            <a:srgbClr val="FBEEEA"/>
          </a:solidFill>
          <a:ln/>
        </p:spPr>
      </p:sp>
      <p:sp>
        <p:nvSpPr>
          <p:cNvPr id="28" name="Text 26"/>
          <p:cNvSpPr txBox="1"/>
          <p:nvPr/>
        </p:nvSpPr>
        <p:spPr>
          <a:xfrm>
            <a:off x="960120" y="4489704"/>
            <a:ext cx="10271455" cy="219456"/>
          </a:xfrm>
          <a:prstGeom prst="rect">
            <a:avLst/>
          </a:prstGeom>
          <a:noFill/>
          <a:ln/>
        </p:spPr>
        <p:txBody>
          <a:bodyPr wrap="square" lIns="0" tIns="0" rIns="0" bIns="0" rtlCol="0" anchor="ctr"/>
          <a:lstStyle/>
          <a:p>
            <a:pPr indent="0" marL="0">
              <a:buNone/>
            </a:pPr>
            <a:r>
              <a:rPr lang="en-US" sz="1100" b="1" spc="140" kern="0" dirty="0">
                <a:solidFill>
                  <a:srgbClr val="A8341C"/>
                </a:solidFill>
                <a:latin typeface="Calibri" pitchFamily="34" charset="0"/>
                <a:ea typeface="Calibri" pitchFamily="34" charset="-122"/>
                <a:cs typeface="Calibri" pitchFamily="34" charset="-120"/>
              </a:rPr>
              <a:t>WHY PARTS A AND B NEED MORE</a:t>
            </a:r>
            <a:endParaRPr lang="en-US" sz="1100" dirty="0"/>
          </a:p>
        </p:txBody>
      </p:sp>
      <p:sp>
        <p:nvSpPr>
          <p:cNvPr id="29" name="Text 27"/>
          <p:cNvSpPr txBox="1"/>
          <p:nvPr/>
        </p:nvSpPr>
        <p:spPr>
          <a:xfrm>
            <a:off x="960120" y="4745736"/>
            <a:ext cx="10271455" cy="731520"/>
          </a:xfrm>
          <a:prstGeom prst="rect">
            <a:avLst/>
          </a:prstGeom>
          <a:noFill/>
          <a:ln/>
        </p:spPr>
        <p:txBody>
          <a:bodyPr wrap="square" lIns="0" tIns="0" rIns="0" bIns="0" rtlCol="0" anchor="t"/>
          <a:lstStyle/>
          <a:p>
            <a:pPr indent="0" marL="0">
              <a:buNone/>
            </a:pPr>
            <a:r>
              <a:rPr lang="en-US" sz="1450" dirty="0">
                <a:solidFill>
                  <a:srgbClr val="2B3448"/>
                </a:solidFill>
                <a:latin typeface="Calibri" pitchFamily="34" charset="0"/>
                <a:ea typeface="Calibri" pitchFamily="34" charset="-122"/>
                <a:cs typeface="Calibri" pitchFamily="34" charset="-120"/>
              </a:rPr>
              <a:t>Filing status and the EITC are where the penalties are, where the audits happen, and where the firm's licence is on the line. Being right seven times out of ten is not enough there. An overall pass with A or B below 80% is a FAIL — one retake, seven days later, different fact patterns.</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8184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822960"/>
            <a:ext cx="2377440" cy="310896"/>
          </a:xfrm>
          <a:prstGeom prst="rect">
            <a:avLst/>
          </a:prstGeom>
        </p:spPr>
      </p:pic>
      <p:sp>
        <p:nvSpPr>
          <p:cNvPr id="3" name="Text 0"/>
          <p:cNvSpPr txBox="1"/>
          <p:nvPr/>
        </p:nvSpPr>
        <p:spPr>
          <a:xfrm>
            <a:off x="685800" y="1828800"/>
            <a:ext cx="7498080" cy="1645920"/>
          </a:xfrm>
          <a:prstGeom prst="rect">
            <a:avLst/>
          </a:prstGeom>
          <a:noFill/>
          <a:ln/>
        </p:spPr>
        <p:txBody>
          <a:bodyPr wrap="square" lIns="0" tIns="0" rIns="0" bIns="0" rtlCol="0" anchor="t"/>
          <a:lstStyle/>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You are not expected</a:t>
            </a:r>
            <a:endParaRPr lang="en-US" sz="4000" dirty="0"/>
          </a:p>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to work it out alone.</a:t>
            </a:r>
            <a:endParaRPr lang="en-US" sz="4000" dirty="0"/>
          </a:p>
        </p:txBody>
      </p:sp>
      <p:sp>
        <p:nvSpPr>
          <p:cNvPr id="4" name="Text 1"/>
          <p:cNvSpPr txBox="1"/>
          <p:nvPr/>
        </p:nvSpPr>
        <p:spPr>
          <a:xfrm>
            <a:off x="685800" y="3657600"/>
            <a:ext cx="6949440" cy="1188720"/>
          </a:xfrm>
          <a:prstGeom prst="rect">
            <a:avLst/>
          </a:prstGeom>
          <a:noFill/>
          <a:ln/>
        </p:spPr>
        <p:txBody>
          <a:bodyPr wrap="square" lIns="0" tIns="0" rIns="0" bIns="0" rtlCol="0" anchor="t"/>
          <a:lstStyle/>
          <a:p>
            <a:pPr indent="0" marL="0">
              <a:lnSpc>
                <a:spcPct val="130000"/>
              </a:lnSpc>
              <a:buNone/>
            </a:pPr>
            <a:r>
              <a:rPr lang="en-US" sz="1700" dirty="0">
                <a:solidFill>
                  <a:srgbClr val="AAB6CE"/>
                </a:solidFill>
                <a:latin typeface="Calibri" pitchFamily="34" charset="0"/>
                <a:ea typeface="Calibri" pitchFamily="34" charset="-122"/>
                <a:cs typeface="Calibri" pitchFamily="34" charset="-120"/>
              </a:rPr>
              <a:t>Ask in the group channel. Ask your trainer. Escalate anything you are unsure about — that is the correct professional response, and nobody here will treat it as a mark against you.</a:t>
            </a:r>
            <a:endParaRPr lang="en-US" sz="1700" dirty="0"/>
          </a:p>
        </p:txBody>
      </p:sp>
      <p:sp>
        <p:nvSpPr>
          <p:cNvPr id="5" name="Text 2"/>
          <p:cNvSpPr txBox="1"/>
          <p:nvPr/>
        </p:nvSpPr>
        <p:spPr>
          <a:xfrm>
            <a:off x="685800" y="5806440"/>
            <a:ext cx="10820095" cy="274320"/>
          </a:xfrm>
          <a:prstGeom prst="rect">
            <a:avLst/>
          </a:prstGeom>
          <a:noFill/>
          <a:ln/>
        </p:spPr>
        <p:txBody>
          <a:bodyPr wrap="square" lIns="0" tIns="0" rIns="0" bIns="0" rtlCol="0" anchor="ctr"/>
          <a:lstStyle/>
          <a:p>
            <a:pPr indent="0" marL="0">
              <a:buNone/>
            </a:pPr>
            <a:r>
              <a:rPr lang="en-US" sz="1200" b="1" spc="100" kern="0" dirty="0">
                <a:solidFill>
                  <a:srgbClr val="8798B8"/>
                </a:solidFill>
                <a:latin typeface="Calibri" pitchFamily="34" charset="0"/>
                <a:ea typeface="Calibri" pitchFamily="34" charset="-122"/>
                <a:cs typeface="Calibri" pitchFamily="34" charset="-120"/>
              </a:rPr>
              <a:t>Carter Cole &amp; Associates LLC, DBA Smart Tax IQ · 313-771-4400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Smart Tax 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Preparer Academy — Teaching Slides</dc:title>
  <dc:subject>PptxGenJS Presentation</dc:subject>
  <dc:creator>Carter Cole &amp; Associates LLC</dc:creator>
  <cp:lastModifiedBy>Carter Cole &amp; Associates LLC</cp:lastModifiedBy>
  <cp:revision>1</cp:revision>
  <dcterms:created xsi:type="dcterms:W3CDTF">2026-09-18T22:35:16Z</dcterms:created>
  <dcterms:modified xsi:type="dcterms:W3CDTF">2026-09-18T22:35:16Z</dcterms:modified>
</cp:coreProperties>
</file>